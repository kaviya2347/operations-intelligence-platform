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41" r:id="rId2"/>
    <p:sldId id="342" r:id="rId3"/>
    <p:sldId id="343" r:id="rId9"/>
    <p:sldId id="344" r:id="rId10"/>
    <p:sldId id="345" r:id="rId11"/>
    <p:sldId id="346" r:id="rId12"/>
    <p:sldId id="347" r:id="rId13"/>
    <p:sldId id="348" r:id="rId14"/>
    <p:sldId id="349" r:id="rId15"/>
    <p:sldId id="350" r:id="rId16"/>
    <p:sldId id="351" r:id="rId17"/>
    <p:sldId id="352" r:id="rId18"/>
    <p:sldId id="353" r:id="rId19"/>
    <p:sldId id="354" r:id="rId20"/>
    <p:sldId id="355" r:id="rId21"/>
    <p:sldId id="356" r:id="rId22"/>
    <p:sldId id="357" r:id="rId23"/>
    <p:sldId id="358" r:id="rId24"/>
    <p:sldId id="359"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 Id="rId8" Type="http://schemas.openxmlformats.org/officeDocument/2006/relationships/notesMaster" Target="notesMasters/notesMaster1.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1C1E2B"/>
                </a:solidFill>
                <a:latin typeface="Book Antiqua"/>
              </a:rPr>
              <a:t>Billing queue: breaches by half-hour (top 10)</a:t>
            </a:r>
          </a:p>
        </c:rich>
      </c:tx>
      <c:layout/>
      <c:overlay val="0"/>
    </c:title>
    <c:autoTitleDeleted val="0"/>
    <c:plotArea>
      <c:barChart>
        <c:barDir val="col"/>
        <c:grouping val="clustered"/>
        <c:ser>
          <c:idx val="0"/>
          <c:order val="0"/>
          <c:tx>
            <c:strRef>
              <c:f>Sheet1!$B$1</c:f>
              <c:strCache>
                <c:ptCount val="1"/>
                <c:pt idx="0">
                  <c:v>Breaches</c:v>
                </c:pt>
              </c:strCache>
            </c:strRef>
          </c:tx>
          <c:dPt>
            <c:idx val="0"/>
            <c:spPr>
              <a:solidFill>
                <a:srgbClr val="3333CC"/>
              </a:solidFill>
            </c:spPr>
          </c:dPt>
          <c:dPt>
            <c:idx val="1"/>
            <c:spPr>
              <a:solidFill>
                <a:srgbClr val="3333CC"/>
              </a:solidFill>
            </c:spPr>
          </c:dPt>
          <c:dPt>
            <c:idx val="2"/>
            <c:spPr>
              <a:solidFill>
                <a:srgbClr val="3333CC"/>
              </a:solidFill>
            </c:spPr>
          </c:dPt>
          <c:dPt>
            <c:idx val="3"/>
            <c:spPr>
              <a:solidFill>
                <a:srgbClr val="3333CC"/>
              </a:solidFill>
            </c:spPr>
          </c:dPt>
          <c:dPt>
            <c:idx val="4"/>
            <c:spPr>
              <a:solidFill>
                <a:srgbClr val="B8BBC8"/>
              </a:solidFill>
            </c:spPr>
          </c:dPt>
          <c:dPt>
            <c:idx val="5"/>
            <c:spPr>
              <a:solidFill>
                <a:srgbClr val="B8BBC8"/>
              </a:solidFill>
            </c:spPr>
          </c:dPt>
          <c:dPt>
            <c:idx val="6"/>
            <c:spPr>
              <a:solidFill>
                <a:srgbClr val="B8BBC8"/>
              </a:solidFill>
            </c:spPr>
          </c:dPt>
          <c:dPt>
            <c:idx val="7"/>
            <c:spPr>
              <a:solidFill>
                <a:srgbClr val="B8BBC8"/>
              </a:solidFill>
            </c:spPr>
          </c:dPt>
          <c:dPt>
            <c:idx val="8"/>
            <c:spPr>
              <a:solidFill>
                <a:srgbClr val="B8BBC8"/>
              </a:solidFill>
            </c:spPr>
          </c:dPt>
          <c:dPt>
            <c:idx val="9"/>
            <c:spPr>
              <a:solidFill>
                <a:srgbClr val="B8BBC8"/>
              </a:solidFill>
            </c:spPr>
          </c:dPt>
          <c:cat>
            <c:strRef>
              <c:f>Sheet1!$A$2:$A$11</c:f>
              <c:strCache>
                <c:ptCount val="10"/>
                <c:pt idx="0">
                  <c:v>10:00</c:v>
                </c:pt>
                <c:pt idx="1">
                  <c:v>11:30</c:v>
                </c:pt>
                <c:pt idx="2">
                  <c:v>11:00</c:v>
                </c:pt>
                <c:pt idx="3">
                  <c:v>10:30</c:v>
                </c:pt>
                <c:pt idx="4">
                  <c:v>18:30</c:v>
                </c:pt>
                <c:pt idx="5">
                  <c:v>19:00</c:v>
                </c:pt>
                <c:pt idx="6">
                  <c:v>18:00</c:v>
                </c:pt>
                <c:pt idx="7">
                  <c:v>17:30</c:v>
                </c:pt>
                <c:pt idx="8">
                  <c:v>20:00</c:v>
                </c:pt>
                <c:pt idx="9">
                  <c:v>13:00</c:v>
                </c:pt>
              </c:strCache>
            </c:strRef>
          </c:cat>
          <c:val>
            <c:numRef>
              <c:f>Sheet1!$B$2:$B$11</c:f>
              <c:numCache>
                <c:formatCode>General</c:formatCode>
                <c:ptCount val="10"/>
                <c:pt idx="0">
                  <c:v>40</c:v>
                </c:pt>
                <c:pt idx="1">
                  <c:v>33</c:v>
                </c:pt>
                <c:pt idx="2">
                  <c:v>32</c:v>
                </c:pt>
                <c:pt idx="3">
                  <c:v>32</c:v>
                </c:pt>
                <c:pt idx="4">
                  <c:v>19</c:v>
                </c:pt>
                <c:pt idx="5">
                  <c:v>19</c:v>
                </c:pt>
                <c:pt idx="6">
                  <c:v>18</c:v>
                </c:pt>
                <c:pt idx="7">
                  <c:v>14</c:v>
                </c:pt>
                <c:pt idx="8">
                  <c:v>14</c:v>
                </c:pt>
                <c:pt idx="9">
                  <c:v>11</c:v>
                </c:pt>
              </c:numCache>
            </c:numRef>
          </c:val>
        </c:ser>
        <c:dLbls>
          <c:txPr>
            <a:bodyPr/>
            <a:lstStyle/>
            <a:p>
              <a:pPr>
                <a:defRPr sz="1100">
                  <a:solidFill>
                    <a:srgbClr val="1C1E2B"/>
                  </a:solidFill>
                  <a:latin typeface="Book Antiqua"/>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5D7EE"/>
            </a:solidFill>
          </a:ln>
        </c:spPr>
        <c:txPr>
          <a:bodyPr/>
          <a:lstStyle/>
          <a:p>
            <a:pPr>
              <a:defRPr sz="1100">
                <a:latin typeface="Book Antiqua"/>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1C1E2B"/>
                </a:solidFill>
                <a:latin typeface="Book Antiqua"/>
              </a:rPr>
              <a:t>Mean MAPE, nine queues, 11 to 31 May (lower is better)</a:t>
            </a:r>
          </a:p>
        </c:rich>
      </c:tx>
      <c:layout/>
      <c:overlay val="0"/>
    </c:title>
    <c:autoTitleDeleted val="0"/>
    <c:plotArea>
      <c:barChart>
        <c:barDir val="bar"/>
        <c:grouping val="clustered"/>
        <c:ser>
          <c:idx val="0"/>
          <c:order val="0"/>
          <c:tx>
            <c:strRef>
              <c:f>Sheet1!$B$1</c:f>
              <c:strCache>
                <c:ptCount val="1"/>
                <c:pt idx="0">
                  <c:v>Mean MAPE (%)</c:v>
                </c:pt>
              </c:strCache>
            </c:strRef>
          </c:tx>
          <c:dPt>
            <c:idx val="0"/>
            <c:spPr>
              <a:solidFill>
                <a:srgbClr val="B8BBC8"/>
              </a:solidFill>
            </c:spPr>
          </c:dPt>
          <c:dPt>
            <c:idx val="1"/>
            <c:spPr>
              <a:solidFill>
                <a:srgbClr val="B8BBC8"/>
              </a:solidFill>
            </c:spPr>
          </c:dPt>
          <c:dPt>
            <c:idx val="2"/>
            <c:spPr>
              <a:solidFill>
                <a:srgbClr val="B8BBC8"/>
              </a:solidFill>
            </c:spPr>
          </c:dPt>
          <c:dPt>
            <c:idx val="3"/>
            <c:spPr>
              <a:solidFill>
                <a:srgbClr val="B8BBC8"/>
              </a:solidFill>
            </c:spPr>
          </c:dPt>
          <c:dPt>
            <c:idx val="4"/>
            <c:spPr>
              <a:solidFill>
                <a:srgbClr val="3333CC"/>
              </a:solidFill>
            </c:spPr>
          </c:dPt>
          <c:cat>
            <c:strRef>
              <c:f>Sheet1!$A$2:$A$6</c:f>
              <c:strCache>
                <c:ptCount val="5"/>
                <c:pt idx="0">
                  <c:v>Moving average (baseline)</c:v>
                </c:pt>
                <c:pt idx="1">
                  <c:v>Seasonal naive</c:v>
                </c:pt>
                <c:pt idx="2">
                  <c:v>Linear regression</c:v>
                </c:pt>
                <c:pt idx="3">
                  <c:v>Gradient boosting</c:v>
                </c:pt>
                <c:pt idx="4">
                  <c:v>Random forest</c:v>
                </c:pt>
              </c:strCache>
            </c:strRef>
          </c:cat>
          <c:val>
            <c:numRef>
              <c:f>Sheet1!$B$2:$B$6</c:f>
              <c:numCache>
                <c:formatCode>General</c:formatCode>
                <c:ptCount val="5"/>
                <c:pt idx="0">
                  <c:v>19.5</c:v>
                </c:pt>
                <c:pt idx="1">
                  <c:v>12.8</c:v>
                </c:pt>
                <c:pt idx="2">
                  <c:v>15.0</c:v>
                </c:pt>
                <c:pt idx="3">
                  <c:v>13.6</c:v>
                </c:pt>
                <c:pt idx="4">
                  <c:v>9.3</c:v>
                </c:pt>
              </c:numCache>
            </c:numRef>
          </c:val>
        </c:ser>
        <c:dLbls>
          <c:numFmt formatCode="0.0&quot;%&quot;" sourceLinked="0"/>
          <c:txPr>
            <a:bodyPr/>
            <a:lstStyle/>
            <a:p>
              <a:pPr>
                <a:defRPr sz="1200">
                  <a:latin typeface="Book Antiqua"/>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delete val="0"/>
        <c:axPos val="l"/>
        <c:majorTickMark val="out"/>
        <c:minorTickMark val="none"/>
        <c:tickLblPos val="nextTo"/>
        <c:spPr>
          <a:ln>
            <a:solidFill>
              <a:srgbClr val="D5D7EE"/>
            </a:solidFill>
          </a:ln>
        </c:spPr>
        <c:txPr>
          <a:bodyPr/>
          <a:lstStyle/>
          <a:p>
            <a:pPr>
              <a:defRPr sz="1200">
                <a:latin typeface="Book Antiqua"/>
              </a:defRPr>
            </a:pPr>
          </a:p>
        </c:txPr>
        <c:crossAx val="-2113994440"/>
        <c:crosses val="autoZero"/>
        <c:auto val="1"/>
        <c:lblAlgn val="ctr"/>
        <c:lblOffset val="100"/>
        <c:noMultiLvlLbl val="0"/>
      </c:catAx>
      <c:valAx>
        <c:axId val="-2113994440"/>
        <c:scaling>
          <c:max val="2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I'm Sharan K. I did my industry internship as a Data and AI intern at BPO Integra India in Chennai, from 15 May to 30 June 2026: 47 days, on two assignments.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talk follows the department's outline: introduction, aims, the company, the certificate, skills, then the two projects, and a short conclusion.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was a Data and AI intern for 47 days. For the first two weeks I worked on the input stage of a floor-plan-to-3D interior platform under a project guide. From 1 June I moved to the Operations Intelligence Platform under a mentor. The timeline is taken straight from my daily log.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aim was to apply data and AI to real operational problems and hand over working components. The objectives were understanding the system, learning the domain, building skills, following professional practice and delivering. The motivation: in the floor-plan work an input error cannot be fixed later; in operations, data from six systems rarely agrees and daily averages hide the half-hour failures that clients penalise.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BPO Integra is a business process outsourcing company and a NASSCOM member, registered in Coimbatore with a delivery centre in Chennai. It runs voice, chat, email and back-office services for clients in telecom, insurance, retail and banking. I was in the Data and AI team, which builds analytics and AI tools for these operations.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my internship completion letter. It confirms the period, 15 May to 30 June 2026, my intern ID, and the work: SQL processing, analysis, dashboards, predictive analytics, root-cause analysis and the RAG recommendation module. I have the original with me.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Technically I learnt SQL to the level of window functions and execution plans, data processing in pandas, Power BI modelling and DAX, statistics for root-cause analysis, forecasting with proper validation, computer vision and OCR, and retrieval-augmented generation. Professionally I learnt to work under approvals, get reviews before changes and hand work over properly.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team's platform turns a 2D plan into an editable 3D interior. The central rule is geometry preservation: once walls, doors, windows and dimensions are read, later stages may only change materials, furniture, colours, lighting or a selected region. My scope was the first three stages, shown in blue.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catalogued the samples into clean, moderate and poor quality, built the OpenCV pre-processing, then measured an OCR baseline before changing anything. The failures fell into rotated text, small fonts and text touching lines, so I cropped text patches, upscaled them and rotated vertical text. A regex parser normalises every notation to millimetres and flags ambiguous ones, and a validation script checks units, ranges and scale before values enter the JSON.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platform exists because operations data comes from six systems, the same metric is calculated differently, and daily averages hide interval failures. The architecture runs from sources through staging, cleaning, the warehouse and analytics to reporting. The company's data is confidential, so everything I show from here is my reconstruction on synthetic data, using the methods I worked 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moved from aggregation to joins, window functions and optimisation. The lesson I keep is the join trap: joining to a one-to-many table silently multiplies rows. On the right is the optimisation: the same query, but the filter no longer wraps the column in a function, so the plan changes from SCAN to SEARCH, 242 ms to 33 ms on the reconstruction.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profiled the masked extract, then built reusable cleaning steps: de-duplication on a business key, mapping dictionaries for queue names, median imputation for skewed hold times. Extreme handle times were mostly unclosed sessions, so only those were capped, after approval. Reconciling against the source report exposed a rule that dropped answered calls without an agent ID; after the fix every queue-day matches.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the reporting team I wrote each metric with its numerator, denominator and exclusions. Service level did not match the month-end figure until short abandons were excluded. In Power BI I helped build the star schema and date table, wrote DAX measures and built the queue performance page; one measure was wrong under a slicer, and I fixed it. Every measure was checked against SQL.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queue kept missing its SLA. I segmented breaches by half-hour and built the Pareto: four morning half-hours stand out. We tested staffing, volume and handle time; breaches concentrated where scheduled staff lagged forecast volume. In my reconstruction the breach rule is statistical, Mann-Whitney tests the causes and Shapley values over Erlang C attribute them: staffing explains 75% of hotspot breaches, and about four more heads take the queue from 82.4 to 85 percent.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built the feature set and used a chronological split, because a random split lets lag features see the future. Every model had to beat a seven-day moving average. On the reconstruction random forest cuts mean error from 19.5 to 9.3 percent and wins on eight of nine queues. The sale week is missed by every model, which is the next improvement: a promotions calendar.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recommendation module answers operational questions from the company's own SOPs and past RCAs. I prepared the documents, generated embeddings into the vector store, compared chunk sizes and ran citation tests. In my reconstruction, keyword and semantic retrieval are fused and the model may answer only from cited passages: on 32 test questions the right document is always in the top three.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show the work without company data, I rebuilt the platform end to end on synthetic data. It has 13 pages, role-based access with row-level security, a SQL lab, the copilot, a Power BI export and 40 automated tests. If time allows I'll demo the command center, root cause, the copilot and the client view.</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challenge was solved the same way: measure first, find the biggest cause, fix it, measure again. The three learnings I'll keep: data work is mostly verification, metric definitions are business decisions, and the grain of the data decides what you can see.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I delivered the floor-plan input stage, supported the platform's data, reporting and analytics work, and rebuilt the platform end to end to show the methods. Next steps would be promotions in the forecast, interval-level forecasting and a production deployment. Thank you, I'm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657831-676F-1031-4CC6-30AF30B118A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082EED2-2404-58AC-D036-0223D09CA91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FF3248B-8595-FF04-4ACF-1F5BA4809D78}"/>
              </a:ext>
            </a:extLst>
          </p:cNvPr>
          <p:cNvSpPr>
            <a:spLocks noGrp="1"/>
          </p:cNvSpPr>
          <p:nvPr>
            <p:ph type="dt" sz="half" idx="10"/>
          </p:nvPr>
        </p:nvSpPr>
        <p:spPr/>
        <p:txBody>
          <a:bodyPr/>
          <a:lstStyle/>
          <a:p>
            <a:fld id="{7147BF0B-9D81-444C-BE11-73E88CF9210E}" type="datetimeFigureOut">
              <a:rPr lang="en-IN" smtClean="0"/>
              <a:t>10-10-2026</a:t>
            </a:fld>
            <a:endParaRPr lang="en-IN"/>
          </a:p>
        </p:txBody>
      </p:sp>
      <p:sp>
        <p:nvSpPr>
          <p:cNvPr id="5" name="Footer Placeholder 4">
            <a:extLst>
              <a:ext uri="{FF2B5EF4-FFF2-40B4-BE49-F238E27FC236}">
                <a16:creationId xmlns:a16="http://schemas.microsoft.com/office/drawing/2014/main" id="{37D70336-C884-FDCF-9238-7F038CC099C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E789067-0BC6-00C0-C7D5-6C2DAB4C44CC}"/>
              </a:ext>
            </a:extLst>
          </p:cNvPr>
          <p:cNvSpPr>
            <a:spLocks noGrp="1"/>
          </p:cNvSpPr>
          <p:nvPr>
            <p:ph type="sldNum" sz="quarter" idx="12"/>
          </p:nvPr>
        </p:nvSpPr>
        <p:spPr/>
        <p:txBody>
          <a:bodyPr/>
          <a:lstStyle/>
          <a:p>
            <a:fld id="{50E8CBD4-AA4E-49FF-9C6B-17B5A3B1969C}" type="slidenum">
              <a:rPr lang="en-IN" smtClean="0"/>
              <a:t>‹#›</a:t>
            </a:fld>
            <a:endParaRPr lang="en-IN"/>
          </a:p>
        </p:txBody>
      </p:sp>
    </p:spTree>
    <p:extLst>
      <p:ext uri="{BB962C8B-B14F-4D97-AF65-F5344CB8AC3E}">
        <p14:creationId xmlns:p14="http://schemas.microsoft.com/office/powerpoint/2010/main" val="25045464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1EF01-7517-1FE4-6B9C-66A35395C68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8E70612-9848-3780-59F3-F44581C5C02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13B9DFA-F968-13D7-31B9-70C6FFDE921A}"/>
              </a:ext>
            </a:extLst>
          </p:cNvPr>
          <p:cNvSpPr>
            <a:spLocks noGrp="1"/>
          </p:cNvSpPr>
          <p:nvPr>
            <p:ph type="dt" sz="half" idx="10"/>
          </p:nvPr>
        </p:nvSpPr>
        <p:spPr/>
        <p:txBody>
          <a:bodyPr/>
          <a:lstStyle/>
          <a:p>
            <a:fld id="{7147BF0B-9D81-444C-BE11-73E88CF9210E}" type="datetimeFigureOut">
              <a:rPr lang="en-IN" smtClean="0"/>
              <a:t>10-10-2026</a:t>
            </a:fld>
            <a:endParaRPr lang="en-IN"/>
          </a:p>
        </p:txBody>
      </p:sp>
      <p:sp>
        <p:nvSpPr>
          <p:cNvPr id="5" name="Footer Placeholder 4">
            <a:extLst>
              <a:ext uri="{FF2B5EF4-FFF2-40B4-BE49-F238E27FC236}">
                <a16:creationId xmlns:a16="http://schemas.microsoft.com/office/drawing/2014/main" id="{38D1DF2F-1725-B1A4-6620-E527A3210FC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4C7F559-292F-635C-82F9-5F13EB63B6EC}"/>
              </a:ext>
            </a:extLst>
          </p:cNvPr>
          <p:cNvSpPr>
            <a:spLocks noGrp="1"/>
          </p:cNvSpPr>
          <p:nvPr>
            <p:ph type="sldNum" sz="quarter" idx="12"/>
          </p:nvPr>
        </p:nvSpPr>
        <p:spPr/>
        <p:txBody>
          <a:bodyPr/>
          <a:lstStyle/>
          <a:p>
            <a:fld id="{50E8CBD4-AA4E-49FF-9C6B-17B5A3B1969C}" type="slidenum">
              <a:rPr lang="en-IN" smtClean="0"/>
              <a:t>‹#›</a:t>
            </a:fld>
            <a:endParaRPr lang="en-IN"/>
          </a:p>
        </p:txBody>
      </p:sp>
    </p:spTree>
    <p:extLst>
      <p:ext uri="{BB962C8B-B14F-4D97-AF65-F5344CB8AC3E}">
        <p14:creationId xmlns:p14="http://schemas.microsoft.com/office/powerpoint/2010/main" val="4108628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18B9F-C81D-0171-CD97-D6738938A84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11CBE7B-2796-F023-FFF3-9FBBF305673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50295D6-CB8A-F1B1-D395-37E05765ED79}"/>
              </a:ext>
            </a:extLst>
          </p:cNvPr>
          <p:cNvSpPr>
            <a:spLocks noGrp="1"/>
          </p:cNvSpPr>
          <p:nvPr>
            <p:ph type="dt" sz="half" idx="10"/>
          </p:nvPr>
        </p:nvSpPr>
        <p:spPr/>
        <p:txBody>
          <a:bodyPr/>
          <a:lstStyle/>
          <a:p>
            <a:fld id="{7147BF0B-9D81-444C-BE11-73E88CF9210E}" type="datetimeFigureOut">
              <a:rPr lang="en-IN" smtClean="0"/>
              <a:t>10-10-2026</a:t>
            </a:fld>
            <a:endParaRPr lang="en-IN"/>
          </a:p>
        </p:txBody>
      </p:sp>
      <p:sp>
        <p:nvSpPr>
          <p:cNvPr id="5" name="Footer Placeholder 4">
            <a:extLst>
              <a:ext uri="{FF2B5EF4-FFF2-40B4-BE49-F238E27FC236}">
                <a16:creationId xmlns:a16="http://schemas.microsoft.com/office/drawing/2014/main" id="{7F4BD953-2AE7-0BF7-51C2-D4688FC7143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3098A9F-4243-ADB8-3ADF-4850437BF065}"/>
              </a:ext>
            </a:extLst>
          </p:cNvPr>
          <p:cNvSpPr>
            <a:spLocks noGrp="1"/>
          </p:cNvSpPr>
          <p:nvPr>
            <p:ph type="sldNum" sz="quarter" idx="12"/>
          </p:nvPr>
        </p:nvSpPr>
        <p:spPr/>
        <p:txBody>
          <a:bodyPr/>
          <a:lstStyle/>
          <a:p>
            <a:fld id="{50E8CBD4-AA4E-49FF-9C6B-17B5A3B1969C}" type="slidenum">
              <a:rPr lang="en-IN" smtClean="0"/>
              <a:t>‹#›</a:t>
            </a:fld>
            <a:endParaRPr lang="en-IN"/>
          </a:p>
        </p:txBody>
      </p:sp>
    </p:spTree>
    <p:extLst>
      <p:ext uri="{BB962C8B-B14F-4D97-AF65-F5344CB8AC3E}">
        <p14:creationId xmlns:p14="http://schemas.microsoft.com/office/powerpoint/2010/main" val="10564518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3DF1A-3301-D5EE-B325-12E40EC75DC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3C58512-9F2F-F76E-BAA5-B8AEAF840D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3979E6F-7677-7D8E-6A97-6DE736447E9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36144F3-2ECB-D4B2-E23C-89738C02EF6B}"/>
              </a:ext>
            </a:extLst>
          </p:cNvPr>
          <p:cNvSpPr>
            <a:spLocks noGrp="1"/>
          </p:cNvSpPr>
          <p:nvPr>
            <p:ph type="dt" sz="half" idx="10"/>
          </p:nvPr>
        </p:nvSpPr>
        <p:spPr/>
        <p:txBody>
          <a:bodyPr/>
          <a:lstStyle/>
          <a:p>
            <a:fld id="{7147BF0B-9D81-444C-BE11-73E88CF9210E}" type="datetimeFigureOut">
              <a:rPr lang="en-IN" smtClean="0"/>
              <a:t>10-10-2026</a:t>
            </a:fld>
            <a:endParaRPr lang="en-IN"/>
          </a:p>
        </p:txBody>
      </p:sp>
      <p:sp>
        <p:nvSpPr>
          <p:cNvPr id="6" name="Footer Placeholder 5">
            <a:extLst>
              <a:ext uri="{FF2B5EF4-FFF2-40B4-BE49-F238E27FC236}">
                <a16:creationId xmlns:a16="http://schemas.microsoft.com/office/drawing/2014/main" id="{31081157-1525-CADB-B0CA-48DFA0256A8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61BB30A-937C-E84F-E34C-880E69E47A30}"/>
              </a:ext>
            </a:extLst>
          </p:cNvPr>
          <p:cNvSpPr>
            <a:spLocks noGrp="1"/>
          </p:cNvSpPr>
          <p:nvPr>
            <p:ph type="sldNum" sz="quarter" idx="12"/>
          </p:nvPr>
        </p:nvSpPr>
        <p:spPr/>
        <p:txBody>
          <a:bodyPr/>
          <a:lstStyle/>
          <a:p>
            <a:fld id="{50E8CBD4-AA4E-49FF-9C6B-17B5A3B1969C}" type="slidenum">
              <a:rPr lang="en-IN" smtClean="0"/>
              <a:t>‹#›</a:t>
            </a:fld>
            <a:endParaRPr lang="en-IN"/>
          </a:p>
        </p:txBody>
      </p:sp>
    </p:spTree>
    <p:extLst>
      <p:ext uri="{BB962C8B-B14F-4D97-AF65-F5344CB8AC3E}">
        <p14:creationId xmlns:p14="http://schemas.microsoft.com/office/powerpoint/2010/main" val="27003023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ACE6DF-B827-C360-BF3B-236DCBBA64E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01C5DC3-043E-F2EA-D72E-55C369A14D0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6DD6A4E-9037-CC90-87B2-BD73D6DC9C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D41C5B8-C989-A54D-EE03-D62774F07AD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07F2A2D-D4FC-2E61-AE60-EDB74F331C0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56F96AF-589B-FDE3-CE3A-FD795946A301}"/>
              </a:ext>
            </a:extLst>
          </p:cNvPr>
          <p:cNvSpPr>
            <a:spLocks noGrp="1"/>
          </p:cNvSpPr>
          <p:nvPr>
            <p:ph type="dt" sz="half" idx="10"/>
          </p:nvPr>
        </p:nvSpPr>
        <p:spPr/>
        <p:txBody>
          <a:bodyPr/>
          <a:lstStyle/>
          <a:p>
            <a:fld id="{7147BF0B-9D81-444C-BE11-73E88CF9210E}" type="datetimeFigureOut">
              <a:rPr lang="en-IN" smtClean="0"/>
              <a:t>10-10-2026</a:t>
            </a:fld>
            <a:endParaRPr lang="en-IN"/>
          </a:p>
        </p:txBody>
      </p:sp>
      <p:sp>
        <p:nvSpPr>
          <p:cNvPr id="8" name="Footer Placeholder 7">
            <a:extLst>
              <a:ext uri="{FF2B5EF4-FFF2-40B4-BE49-F238E27FC236}">
                <a16:creationId xmlns:a16="http://schemas.microsoft.com/office/drawing/2014/main" id="{DA9AD1C4-8381-8148-CF9E-0BC2D3F031A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DFBEFEF-90E1-B088-8849-44F166FDF4EA}"/>
              </a:ext>
            </a:extLst>
          </p:cNvPr>
          <p:cNvSpPr>
            <a:spLocks noGrp="1"/>
          </p:cNvSpPr>
          <p:nvPr>
            <p:ph type="sldNum" sz="quarter" idx="12"/>
          </p:nvPr>
        </p:nvSpPr>
        <p:spPr/>
        <p:txBody>
          <a:bodyPr/>
          <a:lstStyle/>
          <a:p>
            <a:fld id="{50E8CBD4-AA4E-49FF-9C6B-17B5A3B1969C}" type="slidenum">
              <a:rPr lang="en-IN" smtClean="0"/>
              <a:t>‹#›</a:t>
            </a:fld>
            <a:endParaRPr lang="en-IN"/>
          </a:p>
        </p:txBody>
      </p:sp>
    </p:spTree>
    <p:extLst>
      <p:ext uri="{BB962C8B-B14F-4D97-AF65-F5344CB8AC3E}">
        <p14:creationId xmlns:p14="http://schemas.microsoft.com/office/powerpoint/2010/main" val="10453550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97C89-C047-F71B-5516-7E53361DCF1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46E1AFD-1E67-FF09-A285-701901F1B55D}"/>
              </a:ext>
            </a:extLst>
          </p:cNvPr>
          <p:cNvSpPr>
            <a:spLocks noGrp="1"/>
          </p:cNvSpPr>
          <p:nvPr>
            <p:ph type="dt" sz="half" idx="10"/>
          </p:nvPr>
        </p:nvSpPr>
        <p:spPr/>
        <p:txBody>
          <a:bodyPr/>
          <a:lstStyle/>
          <a:p>
            <a:fld id="{7147BF0B-9D81-444C-BE11-73E88CF9210E}" type="datetimeFigureOut">
              <a:rPr lang="en-IN" smtClean="0"/>
              <a:t>10-10-2026</a:t>
            </a:fld>
            <a:endParaRPr lang="en-IN"/>
          </a:p>
        </p:txBody>
      </p:sp>
      <p:sp>
        <p:nvSpPr>
          <p:cNvPr id="4" name="Footer Placeholder 3">
            <a:extLst>
              <a:ext uri="{FF2B5EF4-FFF2-40B4-BE49-F238E27FC236}">
                <a16:creationId xmlns:a16="http://schemas.microsoft.com/office/drawing/2014/main" id="{169E247B-BA08-DDFD-B5EE-3AEBE795BE6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34372B7-A327-356D-0F3E-F280BE7E0CD6}"/>
              </a:ext>
            </a:extLst>
          </p:cNvPr>
          <p:cNvSpPr>
            <a:spLocks noGrp="1"/>
          </p:cNvSpPr>
          <p:nvPr>
            <p:ph type="sldNum" sz="quarter" idx="12"/>
          </p:nvPr>
        </p:nvSpPr>
        <p:spPr/>
        <p:txBody>
          <a:bodyPr/>
          <a:lstStyle/>
          <a:p>
            <a:fld id="{50E8CBD4-AA4E-49FF-9C6B-17B5A3B1969C}" type="slidenum">
              <a:rPr lang="en-IN" smtClean="0"/>
              <a:t>‹#›</a:t>
            </a:fld>
            <a:endParaRPr lang="en-IN"/>
          </a:p>
        </p:txBody>
      </p:sp>
    </p:spTree>
    <p:extLst>
      <p:ext uri="{BB962C8B-B14F-4D97-AF65-F5344CB8AC3E}">
        <p14:creationId xmlns:p14="http://schemas.microsoft.com/office/powerpoint/2010/main" val="42860282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14E0B8C-8DB1-6AAA-A331-EB3C7358B83E}"/>
              </a:ext>
            </a:extLst>
          </p:cNvPr>
          <p:cNvSpPr>
            <a:spLocks noGrp="1"/>
          </p:cNvSpPr>
          <p:nvPr>
            <p:ph type="dt" sz="half" idx="10"/>
          </p:nvPr>
        </p:nvSpPr>
        <p:spPr/>
        <p:txBody>
          <a:bodyPr/>
          <a:lstStyle/>
          <a:p>
            <a:fld id="{7147BF0B-9D81-444C-BE11-73E88CF9210E}" type="datetimeFigureOut">
              <a:rPr lang="en-IN" smtClean="0"/>
              <a:t>10-10-2026</a:t>
            </a:fld>
            <a:endParaRPr lang="en-IN"/>
          </a:p>
        </p:txBody>
      </p:sp>
      <p:sp>
        <p:nvSpPr>
          <p:cNvPr id="3" name="Footer Placeholder 2">
            <a:extLst>
              <a:ext uri="{FF2B5EF4-FFF2-40B4-BE49-F238E27FC236}">
                <a16:creationId xmlns:a16="http://schemas.microsoft.com/office/drawing/2014/main" id="{90B7F468-805F-8CB6-8E5A-7B1F521FC08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1ED809B-26AB-3B41-E72B-028611DC357C}"/>
              </a:ext>
            </a:extLst>
          </p:cNvPr>
          <p:cNvSpPr>
            <a:spLocks noGrp="1"/>
          </p:cNvSpPr>
          <p:nvPr>
            <p:ph type="sldNum" sz="quarter" idx="12"/>
          </p:nvPr>
        </p:nvSpPr>
        <p:spPr/>
        <p:txBody>
          <a:bodyPr/>
          <a:lstStyle/>
          <a:p>
            <a:fld id="{50E8CBD4-AA4E-49FF-9C6B-17B5A3B1969C}" type="slidenum">
              <a:rPr lang="en-IN" smtClean="0"/>
              <a:t>‹#›</a:t>
            </a:fld>
            <a:endParaRPr lang="en-IN"/>
          </a:p>
        </p:txBody>
      </p:sp>
    </p:spTree>
    <p:extLst>
      <p:ext uri="{BB962C8B-B14F-4D97-AF65-F5344CB8AC3E}">
        <p14:creationId xmlns:p14="http://schemas.microsoft.com/office/powerpoint/2010/main" val="3195414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F4D0F-BD9E-B626-0803-5EFDBDC485E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1AED7B7-0C08-81EB-B87C-295F27C1C23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ED58A9C-57EC-8A98-D043-048C6FC561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372D0E1-57C0-CE93-AF3F-347876740AEE}"/>
              </a:ext>
            </a:extLst>
          </p:cNvPr>
          <p:cNvSpPr>
            <a:spLocks noGrp="1"/>
          </p:cNvSpPr>
          <p:nvPr>
            <p:ph type="dt" sz="half" idx="10"/>
          </p:nvPr>
        </p:nvSpPr>
        <p:spPr/>
        <p:txBody>
          <a:bodyPr/>
          <a:lstStyle/>
          <a:p>
            <a:fld id="{7147BF0B-9D81-444C-BE11-73E88CF9210E}" type="datetimeFigureOut">
              <a:rPr lang="en-IN" smtClean="0"/>
              <a:t>10-10-2026</a:t>
            </a:fld>
            <a:endParaRPr lang="en-IN"/>
          </a:p>
        </p:txBody>
      </p:sp>
      <p:sp>
        <p:nvSpPr>
          <p:cNvPr id="6" name="Footer Placeholder 5">
            <a:extLst>
              <a:ext uri="{FF2B5EF4-FFF2-40B4-BE49-F238E27FC236}">
                <a16:creationId xmlns:a16="http://schemas.microsoft.com/office/drawing/2014/main" id="{407A4E53-ED53-7DD2-99E6-651A24D23C7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5FC79BF-D8AF-25B9-1905-B10E573251A2}"/>
              </a:ext>
            </a:extLst>
          </p:cNvPr>
          <p:cNvSpPr>
            <a:spLocks noGrp="1"/>
          </p:cNvSpPr>
          <p:nvPr>
            <p:ph type="sldNum" sz="quarter" idx="12"/>
          </p:nvPr>
        </p:nvSpPr>
        <p:spPr/>
        <p:txBody>
          <a:bodyPr/>
          <a:lstStyle/>
          <a:p>
            <a:fld id="{50E8CBD4-AA4E-49FF-9C6B-17B5A3B1969C}" type="slidenum">
              <a:rPr lang="en-IN" smtClean="0"/>
              <a:t>‹#›</a:t>
            </a:fld>
            <a:endParaRPr lang="en-IN"/>
          </a:p>
        </p:txBody>
      </p:sp>
    </p:spTree>
    <p:extLst>
      <p:ext uri="{BB962C8B-B14F-4D97-AF65-F5344CB8AC3E}">
        <p14:creationId xmlns:p14="http://schemas.microsoft.com/office/powerpoint/2010/main" val="11000798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5E6E4-F279-EDC2-8543-AEF823C4C0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93EAAD3-5C1A-A122-FB3A-28CD54963DB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FD66F95-C7FF-9A15-82FA-5939A53064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30BACB-E459-16B7-EFF7-50E4C54873C7}"/>
              </a:ext>
            </a:extLst>
          </p:cNvPr>
          <p:cNvSpPr>
            <a:spLocks noGrp="1"/>
          </p:cNvSpPr>
          <p:nvPr>
            <p:ph type="dt" sz="half" idx="10"/>
          </p:nvPr>
        </p:nvSpPr>
        <p:spPr/>
        <p:txBody>
          <a:bodyPr/>
          <a:lstStyle/>
          <a:p>
            <a:fld id="{7147BF0B-9D81-444C-BE11-73E88CF9210E}" type="datetimeFigureOut">
              <a:rPr lang="en-IN" smtClean="0"/>
              <a:t>10-10-2026</a:t>
            </a:fld>
            <a:endParaRPr lang="en-IN"/>
          </a:p>
        </p:txBody>
      </p:sp>
      <p:sp>
        <p:nvSpPr>
          <p:cNvPr id="6" name="Footer Placeholder 5">
            <a:extLst>
              <a:ext uri="{FF2B5EF4-FFF2-40B4-BE49-F238E27FC236}">
                <a16:creationId xmlns:a16="http://schemas.microsoft.com/office/drawing/2014/main" id="{E2C8CC43-D8A1-8D87-8253-FB00F5334ED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A7E93CE-1A54-DC9F-73C9-15FE699C90F1}"/>
              </a:ext>
            </a:extLst>
          </p:cNvPr>
          <p:cNvSpPr>
            <a:spLocks noGrp="1"/>
          </p:cNvSpPr>
          <p:nvPr>
            <p:ph type="sldNum" sz="quarter" idx="12"/>
          </p:nvPr>
        </p:nvSpPr>
        <p:spPr/>
        <p:txBody>
          <a:bodyPr/>
          <a:lstStyle/>
          <a:p>
            <a:fld id="{50E8CBD4-AA4E-49FF-9C6B-17B5A3B1969C}" type="slidenum">
              <a:rPr lang="en-IN" smtClean="0"/>
              <a:t>‹#›</a:t>
            </a:fld>
            <a:endParaRPr lang="en-IN"/>
          </a:p>
        </p:txBody>
      </p:sp>
    </p:spTree>
    <p:extLst>
      <p:ext uri="{BB962C8B-B14F-4D97-AF65-F5344CB8AC3E}">
        <p14:creationId xmlns:p14="http://schemas.microsoft.com/office/powerpoint/2010/main" val="1874494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D4FAAD-D36D-C220-7D53-70EA1A37B7D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C7EF6EC-1131-07B9-D319-66BC54299FE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FE0579D-E23A-97EC-052C-3A85D00439E7}"/>
              </a:ext>
            </a:extLst>
          </p:cNvPr>
          <p:cNvSpPr>
            <a:spLocks noGrp="1"/>
          </p:cNvSpPr>
          <p:nvPr>
            <p:ph type="dt" sz="half" idx="10"/>
          </p:nvPr>
        </p:nvSpPr>
        <p:spPr/>
        <p:txBody>
          <a:bodyPr/>
          <a:lstStyle/>
          <a:p>
            <a:fld id="{7147BF0B-9D81-444C-BE11-73E88CF9210E}" type="datetimeFigureOut">
              <a:rPr lang="en-IN" smtClean="0"/>
              <a:t>10-10-2026</a:t>
            </a:fld>
            <a:endParaRPr lang="en-IN"/>
          </a:p>
        </p:txBody>
      </p:sp>
      <p:sp>
        <p:nvSpPr>
          <p:cNvPr id="5" name="Footer Placeholder 4">
            <a:extLst>
              <a:ext uri="{FF2B5EF4-FFF2-40B4-BE49-F238E27FC236}">
                <a16:creationId xmlns:a16="http://schemas.microsoft.com/office/drawing/2014/main" id="{20DCCB7F-EF53-3A83-D8B6-7160A8C7ACD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5B687BD-C0FC-A2F1-97D5-DB0A052A2A86}"/>
              </a:ext>
            </a:extLst>
          </p:cNvPr>
          <p:cNvSpPr>
            <a:spLocks noGrp="1"/>
          </p:cNvSpPr>
          <p:nvPr>
            <p:ph type="sldNum" sz="quarter" idx="12"/>
          </p:nvPr>
        </p:nvSpPr>
        <p:spPr/>
        <p:txBody>
          <a:bodyPr/>
          <a:lstStyle/>
          <a:p>
            <a:fld id="{50E8CBD4-AA4E-49FF-9C6B-17B5A3B1969C}" type="slidenum">
              <a:rPr lang="en-IN" smtClean="0"/>
              <a:t>‹#›</a:t>
            </a:fld>
            <a:endParaRPr lang="en-IN"/>
          </a:p>
        </p:txBody>
      </p:sp>
    </p:spTree>
    <p:extLst>
      <p:ext uri="{BB962C8B-B14F-4D97-AF65-F5344CB8AC3E}">
        <p14:creationId xmlns:p14="http://schemas.microsoft.com/office/powerpoint/2010/main" val="13310221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82C0C96-84C9-F544-50C7-665CE74CBC6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BE03D50-8985-59A4-164B-F3AF84D051D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0FAEF0B-D8CD-A336-6ADB-67F73F44C62F}"/>
              </a:ext>
            </a:extLst>
          </p:cNvPr>
          <p:cNvSpPr>
            <a:spLocks noGrp="1"/>
          </p:cNvSpPr>
          <p:nvPr>
            <p:ph type="dt" sz="half" idx="10"/>
          </p:nvPr>
        </p:nvSpPr>
        <p:spPr/>
        <p:txBody>
          <a:bodyPr/>
          <a:lstStyle/>
          <a:p>
            <a:fld id="{7147BF0B-9D81-444C-BE11-73E88CF9210E}" type="datetimeFigureOut">
              <a:rPr lang="en-IN" smtClean="0"/>
              <a:t>10-10-2026</a:t>
            </a:fld>
            <a:endParaRPr lang="en-IN"/>
          </a:p>
        </p:txBody>
      </p:sp>
      <p:sp>
        <p:nvSpPr>
          <p:cNvPr id="5" name="Footer Placeholder 4">
            <a:extLst>
              <a:ext uri="{FF2B5EF4-FFF2-40B4-BE49-F238E27FC236}">
                <a16:creationId xmlns:a16="http://schemas.microsoft.com/office/drawing/2014/main" id="{8B7FB148-9B1B-8538-3E6A-FD42DBD44D3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BE7D101-6A8F-4755-1E45-3C0A79E17EE6}"/>
              </a:ext>
            </a:extLst>
          </p:cNvPr>
          <p:cNvSpPr>
            <a:spLocks noGrp="1"/>
          </p:cNvSpPr>
          <p:nvPr>
            <p:ph type="sldNum" sz="quarter" idx="12"/>
          </p:nvPr>
        </p:nvSpPr>
        <p:spPr/>
        <p:txBody>
          <a:bodyPr/>
          <a:lstStyle/>
          <a:p>
            <a:fld id="{50E8CBD4-AA4E-49FF-9C6B-17B5A3B1969C}" type="slidenum">
              <a:rPr lang="en-IN" smtClean="0"/>
              <a:t>‹#›</a:t>
            </a:fld>
            <a:endParaRPr lang="en-IN"/>
          </a:p>
        </p:txBody>
      </p:sp>
    </p:spTree>
    <p:extLst>
      <p:ext uri="{BB962C8B-B14F-4D97-AF65-F5344CB8AC3E}">
        <p14:creationId xmlns:p14="http://schemas.microsoft.com/office/powerpoint/2010/main" val="106188530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C36FFF-7ED0-DEB3-FD9F-C2654A3A4F4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A034566-2A65-5513-0404-5DC85295FB2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A9132A3-D2BD-6698-F557-700B4C94347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147BF0B-9D81-444C-BE11-73E88CF9210E}" type="datetimeFigureOut">
              <a:rPr lang="en-IN" smtClean="0"/>
              <a:t>10-10-2026</a:t>
            </a:fld>
            <a:endParaRPr lang="en-IN"/>
          </a:p>
        </p:txBody>
      </p:sp>
      <p:sp>
        <p:nvSpPr>
          <p:cNvPr id="5" name="Footer Placeholder 4">
            <a:extLst>
              <a:ext uri="{FF2B5EF4-FFF2-40B4-BE49-F238E27FC236}">
                <a16:creationId xmlns:a16="http://schemas.microsoft.com/office/drawing/2014/main" id="{D512A656-6E68-934E-51E5-1F3DBC5E2C3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27E779CE-E275-1230-F763-240B9E57A9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0E8CBD4-AA4E-49FF-9C6B-17B5A3B1969C}" type="slidenum">
              <a:rPr lang="en-IN" smtClean="0"/>
              <a:t>‹#›</a:t>
            </a:fld>
            <a:endParaRPr lang="en-IN"/>
          </a:p>
        </p:txBody>
      </p:sp>
    </p:spTree>
    <p:extLst>
      <p:ext uri="{BB962C8B-B14F-4D97-AF65-F5344CB8AC3E}">
        <p14:creationId xmlns:p14="http://schemas.microsoft.com/office/powerpoint/2010/main" val="16769209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484811" y="1556627"/>
            <a:ext cx="9727139" cy="5164848"/>
          </a:xfrm>
        </p:spPr>
        <p:txBody>
          <a:bodyPr>
            <a:normAutofit fontScale="92500" lnSpcReduction="20000"/>
          </a:bodyPr>
          <a:lstStyle/>
          <a:p>
            <a:r>
              <a:rPr lang="en-US" sz="2200" b="1" dirty="0">
                <a:effectLst/>
                <a:latin typeface="Book Antiqua" panose="02040602050305030304" pitchFamily="18" charset="0"/>
                <a:ea typeface="Calibri" panose="020F0502020204030204" pitchFamily="34" charset="0"/>
                <a:cs typeface="Times New Roman" panose="02020603050405020304" pitchFamily="18" charset="0"/>
              </a:rPr>
              <a:t>BCSE399J (Summer Industrial Internship)/ </a:t>
            </a:r>
          </a:p>
          <a:p>
            <a:r>
              <a:rPr lang="en-US" sz="2200" b="1" dirty="0">
                <a:effectLst/>
                <a:latin typeface="Book Antiqua" panose="02040602050305030304" pitchFamily="18" charset="0"/>
                <a:ea typeface="Calibri" panose="020F0502020204030204" pitchFamily="34" charset="0"/>
                <a:cs typeface="Times New Roman" panose="02020603050405020304" pitchFamily="18" charset="0"/>
              </a:rPr>
              <a:t>CBS1902/CSE1902/ CSI3903 (Industrial Internship)</a:t>
            </a:r>
          </a:p>
          <a:p>
            <a:r>
              <a:rPr lang="en-US" sz="2200" b="1" dirty="0">
                <a:solidFill>
                  <a:schemeClr val="tx1"/>
                </a:solidFill>
                <a:latin typeface="Book Antiqua" panose="02040602050305030304" pitchFamily="18" charset="0"/>
                <a:cs typeface="Times New Roman" panose="02020603050405020304" pitchFamily="18" charset="0"/>
              </a:rPr>
              <a:t>FALL  SEMESTER 2026-27</a:t>
            </a:r>
            <a:endParaRPr lang="en-IN" sz="2200" b="1" dirty="0">
              <a:solidFill>
                <a:schemeClr val="tx1"/>
              </a:solidFill>
              <a:latin typeface="Book Antiqua" panose="02040602050305030304" pitchFamily="18" charset="0"/>
              <a:cs typeface="Times New Roman" panose="02020603050405020304" pitchFamily="18" charset="0"/>
            </a:endParaRPr>
          </a:p>
          <a:p>
            <a:endParaRPr lang="en-IN" sz="1400" b="1" dirty="0">
              <a:solidFill>
                <a:schemeClr val="tx1"/>
              </a:solidFill>
              <a:latin typeface="Book Antiqua" panose="02040602050305030304" pitchFamily="18" charset="0"/>
              <a:cs typeface="Times New Roman" panose="02020603050405020304" pitchFamily="18" charset="0"/>
            </a:endParaRPr>
          </a:p>
          <a:p>
            <a:pPr algn="l"/>
            <a:r>
              <a:rPr lang="en-IN" sz="2600" b="1" dirty="0">
                <a:solidFill>
                  <a:schemeClr val="tx1"/>
                </a:solidFill>
                <a:latin typeface="Book Antiqua" panose="02040602050305030304" pitchFamily="18" charset="0"/>
                <a:cs typeface="Times New Roman" panose="02020603050405020304" pitchFamily="18" charset="0"/>
              </a:rPr>
              <a:t>Type of Intern: Industry offline</a:t>
            </a:r>
            <a:r>
              <a:rPr lang="en-IN" sz="2600" b="1" dirty="0">
                <a:latin typeface="Book Antiqua" panose="02040602050305030304" pitchFamily="18" charset="0"/>
                <a:cs typeface="Times New Roman" panose="02020603050405020304" pitchFamily="18" charset="0"/>
              </a:rPr>
              <a:t/>
            </a:r>
            <a:r>
              <a:rPr lang="en-IN" sz="2600" b="1" dirty="0">
                <a:solidFill>
                  <a:schemeClr val="tx1"/>
                </a:solidFill>
                <a:latin typeface="Book Antiqua" panose="02040602050305030304" pitchFamily="18" charset="0"/>
                <a:cs typeface="Times New Roman" panose="02020603050405020304" pitchFamily="18" charset="0"/>
              </a:rPr>
              <a:t/>
            </a:r>
          </a:p>
          <a:p>
            <a:pPr algn="l"/>
            <a:r>
              <a:rPr lang="en-IN" sz="2600" b="1" dirty="0">
                <a:solidFill>
                  <a:schemeClr val="tx1"/>
                </a:solidFill>
                <a:latin typeface="Book Antiqua" panose="02040602050305030304" pitchFamily="18" charset="0"/>
                <a:cs typeface="Times New Roman" panose="02020603050405020304" pitchFamily="18" charset="0"/>
              </a:rPr>
              <a:t>Title of Intern: </a:t>
            </a:r>
            <a:r>
              <a:rPr lang="en-IN" sz="2600" dirty="0">
                <a:solidFill>
                  <a:schemeClr val="tx1"/>
                </a:solidFill>
                <a:latin typeface="Book Antiqua" panose="02040602050305030304" pitchFamily="18" charset="0"/>
                <a:cs typeface="Times New Roman" panose="02020603050405020304" pitchFamily="18" charset="0"/>
              </a:rPr>
              <a:t>Data &amp; AI Intern</a:t>
            </a:r>
          </a:p>
          <a:p>
            <a:pPr algn="l"/>
            <a:r>
              <a:rPr lang="en-IN" sz="2600" i="1" dirty="0">
                <a:solidFill>
                  <a:schemeClr val="tx1"/>
                </a:solidFill>
                <a:latin typeface="Book Antiqua" panose="02040602050305030304" pitchFamily="18" charset="0"/>
                <a:cs typeface="Times New Roman" panose="02020603050405020304" pitchFamily="18" charset="0"/>
              </a:rPr>
              <a:t>Internship completed at : BPO Integra India Private Limited, Chennai</a:t>
            </a:r>
          </a:p>
          <a:p>
            <a:pPr algn="l"/>
            <a:r>
              <a:rPr lang="en-IN" sz="2000" i="1" dirty="0">
                <a:solidFill>
                  <a:schemeClr val="tx1"/>
                </a:solidFill>
                <a:latin typeface="Book Antiqua" panose="02040602050305030304" pitchFamily="18" charset="0"/>
                <a:cs typeface="Times New Roman" panose="02020603050405020304" pitchFamily="18" charset="0"/>
              </a:rPr>
              <a:t>Registered office: 428/3, 1st Floor, Kanapathy Towers, Sathy Road, Ganapathy, Coimbatore 641006,</a:t>
            </a:r>
          </a:p>
          <a:p>
            <a:pPr algn="l"/>
            <a:r>
              <a:rPr lang="en-IN" sz="2000" i="1" dirty="0">
                <a:solidFill>
                  <a:schemeClr val="tx1"/>
                </a:solidFill>
                <a:latin typeface="Book Antiqua" panose="02040602050305030304" pitchFamily="18" charset="0"/>
                <a:cs typeface="Times New Roman" panose="02020603050405020304" pitchFamily="18" charset="0"/>
              </a:rPr>
              <a:t>Tamil Nadu, India · Phone +91 422 4328555</a:t>
            </a:r>
          </a:p>
          <a:p>
            <a:pPr algn="l"/>
            <a:r>
              <a:rPr lang="en-IN" sz="1900" b="1" dirty="0">
                <a:solidFill>
                  <a:schemeClr val="tx1"/>
                </a:solidFill>
                <a:latin typeface="Book Antiqua" panose="02040602050305030304" pitchFamily="18" charset="0"/>
                <a:cs typeface="Times New Roman" panose="02020603050405020304" pitchFamily="18" charset="0"/>
              </a:rPr>
              <a:t>Duration : 47 days : 15 May 2026 to 30 June 2026</a:t>
            </a:r>
          </a:p>
          <a:p>
            <a:pPr algn="l"/>
            <a:r>
              <a:rPr lang="en-IN" sz="2200" dirty="0">
                <a:solidFill>
                  <a:schemeClr val="tx1"/>
                </a:solidFill>
                <a:latin typeface="Book Antiqua" panose="02040602050305030304" pitchFamily="18" charset="0"/>
                <a:cs typeface="Times New Roman" panose="02020603050405020304" pitchFamily="18" charset="0"/>
              </a:rPr>
              <a:t>Date of Presentation: 16-10-2026</a:t>
            </a:r>
          </a:p>
          <a:p>
            <a:endParaRPr lang="en-IN" sz="700" i="1" dirty="0">
              <a:solidFill>
                <a:schemeClr val="tx1"/>
              </a:solidFill>
              <a:latin typeface="Book Antiqua" panose="02040602050305030304" pitchFamily="18" charset="0"/>
              <a:cs typeface="Times New Roman" panose="02020603050405020304" pitchFamily="18" charset="0"/>
            </a:endParaRPr>
          </a:p>
          <a:p>
            <a:r>
              <a:rPr lang="en-IN" sz="2100" i="1" dirty="0">
                <a:solidFill>
                  <a:schemeClr val="tx1"/>
                </a:solidFill>
                <a:latin typeface="Book Antiqua" panose="02040602050305030304" pitchFamily="18" charset="0"/>
                <a:cs typeface="Times New Roman" panose="02020603050405020304" pitchFamily="18" charset="0"/>
              </a:rPr>
              <a:t>by </a:t>
            </a:r>
          </a:p>
          <a:p>
            <a:endParaRPr lang="en-IN" sz="900" b="1" dirty="0">
              <a:solidFill>
                <a:schemeClr val="tx1"/>
              </a:solidFill>
              <a:latin typeface="Book Antiqua" panose="02040602050305030304" pitchFamily="18" charset="0"/>
              <a:cs typeface="Times New Roman" panose="02020603050405020304" pitchFamily="18" charset="0"/>
            </a:endParaRPr>
          </a:p>
          <a:p>
            <a:r>
              <a:rPr lang="en-IN" sz="1400" b="1" dirty="0">
                <a:latin typeface="Book Antiqua" panose="02040602050305030304" pitchFamily="18" charset="0"/>
                <a:cs typeface="Times New Roman" panose="02020603050405020304" pitchFamily="18" charset="0"/>
              </a:rPr>
              <a:t>SHARAN K</a:t>
            </a:r>
            <a:endParaRPr lang="en-IN" sz="1400" b="1" dirty="0">
              <a:solidFill>
                <a:schemeClr val="tx1"/>
              </a:solidFill>
              <a:latin typeface="Book Antiqua" panose="02040602050305030304" pitchFamily="18" charset="0"/>
              <a:cs typeface="Times New Roman" panose="02020603050405020304" pitchFamily="18" charset="0"/>
            </a:endParaRPr>
          </a:p>
          <a:p>
            <a:r>
              <a:rPr lang="en-IN" sz="1400" b="1" dirty="0">
                <a:latin typeface="Book Antiqua" panose="02040602050305030304" pitchFamily="18" charset="0"/>
                <a:cs typeface="Times New Roman" panose="02020603050405020304" pitchFamily="18" charset="0"/>
              </a:rPr>
              <a:t>23BDS1153</a:t>
            </a:r>
            <a:endParaRPr lang="en-IN" sz="1400" b="1" dirty="0">
              <a:solidFill>
                <a:schemeClr val="tx1"/>
              </a:solidFill>
              <a:latin typeface="Book Antiqua" panose="02040602050305030304" pitchFamily="18" charset="0"/>
              <a:cs typeface="Times New Roman" panose="02020603050405020304" pitchFamily="18" charset="0"/>
            </a:endParaRPr>
          </a:p>
          <a:p>
            <a:endParaRPr lang="en-IN" sz="1400" b="1" dirty="0">
              <a:solidFill>
                <a:schemeClr val="tx1"/>
              </a:solidFill>
              <a:latin typeface="Book Antiqua" panose="02040602050305030304" pitchFamily="18" charset="0"/>
              <a:cs typeface="Times New Roman" panose="02020603050405020304" pitchFamily="18" charset="0"/>
            </a:endParaRPr>
          </a:p>
          <a:p>
            <a:endParaRPr lang="en-IN" sz="1100" dirty="0">
              <a:solidFill>
                <a:schemeClr val="tx1"/>
              </a:solidFill>
              <a:latin typeface="Book Antiqua" panose="02040602050305030304" pitchFamily="18" charset="0"/>
              <a:cs typeface="Times New Roman" panose="02020603050405020304" pitchFamily="18" charset="0"/>
            </a:endParaRPr>
          </a:p>
          <a:p>
            <a:endParaRPr lang="en-IN" sz="900" dirty="0">
              <a:solidFill>
                <a:schemeClr val="tx1"/>
              </a:solidFill>
              <a:latin typeface="Book Antiqua" panose="02040602050305030304" pitchFamily="18" charset="0"/>
              <a:cs typeface="Times New Roman" panose="02020603050405020304" pitchFamily="18" charset="0"/>
            </a:endParaRPr>
          </a:p>
          <a:p>
            <a:endParaRPr lang="en-IN" sz="900" dirty="0">
              <a:solidFill>
                <a:schemeClr val="tx1"/>
              </a:solidFill>
              <a:latin typeface="Book Antiqua" panose="02040602050305030304" pitchFamily="18" charset="0"/>
              <a:cs typeface="Times New Roman" panose="02020603050405020304" pitchFamily="18" charset="0"/>
            </a:endParaRPr>
          </a:p>
          <a:p>
            <a:endParaRPr lang="en-IN" sz="700" dirty="0">
              <a:solidFill>
                <a:schemeClr val="tx1"/>
              </a:solidFill>
              <a:latin typeface="Book Antiqua" panose="02040602050305030304" pitchFamily="18" charset="0"/>
            </a:endParaRPr>
          </a:p>
        </p:txBody>
      </p:sp>
      <p:sp>
        <p:nvSpPr>
          <p:cNvPr id="5" name="Rectangle 4"/>
          <p:cNvSpPr txBox="1">
            <a:spLocks noChangeArrowheads="1"/>
          </p:cNvSpPr>
          <p:nvPr/>
        </p:nvSpPr>
        <p:spPr>
          <a:xfrm>
            <a:off x="0" y="0"/>
            <a:ext cx="12192000" cy="1447800"/>
          </a:xfrm>
          <a:prstGeom prst="rect">
            <a:avLst/>
          </a:prstGeom>
          <a:solidFill>
            <a:srgbClr val="3333CC"/>
          </a:solidFill>
        </p:spPr>
        <p:txBody>
          <a:bodyPr vert="horz" lIns="91440" tIns="45720" rIns="91440" bIns="45720" rtlCol="0" anchor="ctr">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IN" sz="3200" b="1" dirty="0">
                <a:solidFill>
                  <a:schemeClr val="bg1"/>
                </a:solidFill>
                <a:latin typeface="Book Antiqua" panose="02040602050305030304" pitchFamily="18" charset="0"/>
                <a:cs typeface="Times New Roman" panose="02020603050405020304" pitchFamily="18" charset="0"/>
              </a:rPr>
              <a:t>School of Computer Science and Engineering</a:t>
            </a:r>
          </a:p>
          <a:p>
            <a:pPr algn="l"/>
            <a:r>
              <a:rPr lang="en-IN" sz="3200" b="1" dirty="0">
                <a:solidFill>
                  <a:schemeClr val="bg1"/>
                </a:solidFill>
                <a:latin typeface="Book Antiqua" panose="02040602050305030304" pitchFamily="18" charset="0"/>
                <a:cs typeface="Times New Roman" panose="02020603050405020304" pitchFamily="18" charset="0"/>
              </a:rPr>
              <a:t>            Internship Review - Presentation</a:t>
            </a:r>
            <a:endParaRPr lang="en-US" sz="3600" b="1" dirty="0">
              <a:solidFill>
                <a:prstClr val="white"/>
              </a:solidFill>
              <a:latin typeface="Book Antiqua" panose="02040602050305030304" pitchFamily="18" charset="0"/>
            </a:endParaRPr>
          </a:p>
        </p:txBody>
      </p:sp>
      <p:sp>
        <p:nvSpPr>
          <p:cNvPr id="6" name="Slide Number Placeholder 5"/>
          <p:cNvSpPr>
            <a:spLocks noGrp="1"/>
          </p:cNvSpPr>
          <p:nvPr>
            <p:ph type="sldNum" sz="quarter" idx="12"/>
          </p:nvPr>
        </p:nvSpPr>
        <p:spPr/>
        <p:txBody>
          <a:bodyPr/>
          <a:lstStyle/>
          <a:p>
            <a:fld id="{96107A40-7FD5-436B-B3DD-01066071B37C}" type="slidenum">
              <a:rPr lang="en-IN">
                <a:solidFill>
                  <a:prstClr val="black">
                    <a:tint val="75000"/>
                  </a:prstClr>
                </a:solidFill>
                <a:latin typeface="Calibri"/>
              </a:rPr>
              <a:pPr/>
              <a:t>1</a:t>
            </a:fld>
            <a:endParaRPr lang="en-IN">
              <a:solidFill>
                <a:prstClr val="black">
                  <a:tint val="75000"/>
                </a:prstClr>
              </a:solidFill>
              <a:latin typeface="Calibri"/>
            </a:endParaRPr>
          </a:p>
        </p:txBody>
      </p:sp>
      <p:pic>
        <p:nvPicPr>
          <p:cNvPr id="4" name="Picture 3">
            <a:extLst>
              <a:ext uri="{FF2B5EF4-FFF2-40B4-BE49-F238E27FC236}">
                <a16:creationId xmlns:a16="http://schemas.microsoft.com/office/drawing/2014/main" id="{3DFF6BD9-D3C9-FFA0-7D73-A33D9EBD43D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484822" y="68263"/>
            <a:ext cx="3693357" cy="1254100"/>
          </a:xfrm>
          <a:prstGeom prst="rect">
            <a:avLst/>
          </a:prstGeom>
        </p:spPr>
      </p:pic>
    </p:spTree>
    <p:extLst>
      <p:ext uri="{BB962C8B-B14F-4D97-AF65-F5344CB8AC3E}">
        <p14:creationId xmlns:p14="http://schemas.microsoft.com/office/powerpoint/2010/main" val="24725318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606731"/>
            <a:ext cx="12056011" cy="4749620"/>
          </a:xfrm>
        </p:spPr>
        <p:txBody>
          <a:bodyPr>
            <a:normAutofit/>
          </a:bodyPr>
          <a:lstStyle/>
          <a:p>
            <a:pPr marL="457200" lvl="0" indent="-457200" algn="just">
              <a:buFont typeface="+mj-lt"/>
              <a:buAutoNum type="arabicPeriod"/>
            </a:pPr>
            <a:r>
              <a:rPr lang="en-IN" sz="2400" dirty="0">
                <a:solidFill>
                  <a:srgbClr val="000000"/>
                </a:solidFill>
                <a:effectLst/>
                <a:latin typeface="Book Antiqua" panose="02040602050305030304" pitchFamily="18" charset="0"/>
                <a:ea typeface="Calibri" panose="020F0502020204030204" pitchFamily="34" charset="0"/>
                <a:cs typeface="Times New Roman" panose="02020603050405020304" pitchFamily="18" charset="0"/>
              </a:rPr>
              <a:t>Outline slide</a:t>
            </a:r>
          </a:p>
          <a:p>
            <a:pPr marL="457200" lvl="0" indent="-457200" algn="just">
              <a:buFont typeface="+mj-lt"/>
              <a:buAutoNum type="arabicPeriod"/>
            </a:pPr>
            <a:r>
              <a:rPr lang="en-IN" sz="2400" dirty="0">
                <a:solidFill>
                  <a:srgbClr val="000000"/>
                </a:solidFill>
                <a:effectLst/>
                <a:latin typeface="Book Antiqua" panose="02040602050305030304" pitchFamily="18" charset="0"/>
                <a:ea typeface="Calibri" panose="020F0502020204030204" pitchFamily="34" charset="0"/>
                <a:cs typeface="Times New Roman" panose="02020603050405020304" pitchFamily="18" charset="0"/>
              </a:rPr>
              <a:t>Introduction</a:t>
            </a:r>
          </a:p>
          <a:p>
            <a:pPr marL="457200" lvl="0" indent="-457200" algn="just">
              <a:buFont typeface="+mj-lt"/>
              <a:buAutoNum type="arabicPeriod"/>
            </a:pPr>
            <a:r>
              <a:rPr lang="en-IN" sz="2400" dirty="0">
                <a:solidFill>
                  <a:srgbClr val="000000"/>
                </a:solidFill>
                <a:effectLst/>
                <a:latin typeface="Book Antiqua" panose="02040602050305030304" pitchFamily="18" charset="0"/>
                <a:ea typeface="Calibri" panose="020F0502020204030204" pitchFamily="34" charset="0"/>
                <a:cs typeface="Times New Roman" panose="02020603050405020304" pitchFamily="18" charset="0"/>
              </a:rPr>
              <a:t>Aim, objectives and motivation</a:t>
            </a:r>
          </a:p>
          <a:p>
            <a:pPr marL="457200" lvl="0" indent="-457200" algn="just">
              <a:buFont typeface="+mj-lt"/>
              <a:buAutoNum type="arabicPeriod"/>
            </a:pPr>
            <a:r>
              <a:rPr lang="en-IN" sz="2400" dirty="0">
                <a:solidFill>
                  <a:srgbClr val="000000"/>
                </a:solidFill>
                <a:effectLst/>
                <a:latin typeface="Book Antiqua" panose="02040602050305030304" pitchFamily="18" charset="0"/>
                <a:ea typeface="Calibri" panose="020F0502020204030204" pitchFamily="34" charset="0"/>
                <a:cs typeface="Times New Roman" panose="02020603050405020304" pitchFamily="18" charset="0"/>
              </a:rPr>
              <a:t>About the industry: BPO Integra India Private Limited</a:t>
            </a:r>
          </a:p>
          <a:p>
            <a:pPr marL="457200" lvl="0" indent="-457200" algn="just">
              <a:buFont typeface="+mj-lt"/>
              <a:buAutoNum type="arabicPeriod"/>
            </a:pPr>
            <a:r>
              <a:rPr lang="en-IN" sz="2400" dirty="0">
                <a:solidFill>
                  <a:srgbClr val="000000"/>
                </a:solidFill>
                <a:effectLst/>
                <a:latin typeface="Book Antiqua" panose="02040602050305030304" pitchFamily="18" charset="0"/>
                <a:ea typeface="Calibri" panose="020F0502020204030204" pitchFamily="34" charset="0"/>
                <a:cs typeface="Times New Roman" panose="02020603050405020304" pitchFamily="18" charset="0"/>
              </a:rPr>
              <a:t>Certificate (period of study: 15 May to 30 June 2026)</a:t>
            </a:r>
          </a:p>
          <a:p>
            <a:pPr marL="457200" lvl="0" indent="-457200" algn="just">
              <a:buFont typeface="+mj-lt"/>
              <a:buAutoNum type="arabicPeriod"/>
            </a:pPr>
            <a:r>
              <a:rPr lang="en-IN" sz="2400" dirty="0">
                <a:solidFill>
                  <a:srgbClr val="000000"/>
                </a:solidFill>
                <a:effectLst/>
                <a:latin typeface="Book Antiqua" panose="02040602050305030304" pitchFamily="18" charset="0"/>
                <a:ea typeface="Calibri" panose="020F0502020204030204" pitchFamily="34" charset="0"/>
                <a:cs typeface="Times New Roman" panose="02020603050405020304" pitchFamily="18" charset="0"/>
              </a:rPr>
              <a:t>Skills acquired during the industrial internship</a:t>
            </a:r>
            <a:r>
              <a:rPr lang="en-IN" sz="2400">
                <a:solidFill>
                  <a:srgbClr val="000000"/>
                </a:solidFill>
                <a:effectLst/>
                <a:latin typeface="Book Antiqua" panose="02040602050305030304" pitchFamily="18" charset="0"/>
                <a:ea typeface="Calibri" panose="020F0502020204030204" pitchFamily="34" charset="0"/>
                <a:cs typeface="Times New Roman" panose="02020603050405020304" pitchFamily="18" charset="0"/>
              </a:rPr>
              <a:t/>
            </a:r>
            <a:r>
              <a:rPr lang="en-IN" sz="2400" dirty="0">
                <a:solidFill>
                  <a:srgbClr val="000000"/>
                </a:solidFill>
                <a:effectLst/>
                <a:latin typeface="Book Antiqua" panose="02040602050305030304" pitchFamily="18" charset="0"/>
                <a:ea typeface="Calibri" panose="020F0502020204030204" pitchFamily="34" charset="0"/>
                <a:cs typeface="Times New Roman" panose="02020603050405020304" pitchFamily="18" charset="0"/>
              </a:rPr>
              <a:t/>
            </a:r>
          </a:p>
          <a:p>
            <a:pPr marL="457200" lvl="0" indent="-457200" algn="just">
              <a:buFont typeface="+mj-lt"/>
              <a:buAutoNum type="arabicPeriod"/>
            </a:pPr>
            <a:r>
              <a:rPr lang="en-IN" sz="2400" dirty="0">
                <a:solidFill>
                  <a:srgbClr val="000000"/>
                </a:solidFill>
                <a:effectLst/>
                <a:latin typeface="Book Antiqua" panose="02040602050305030304" pitchFamily="18" charset="0"/>
                <a:ea typeface="Calibri" panose="020F0502020204030204" pitchFamily="34" charset="0"/>
                <a:cs typeface="Times New Roman" panose="02020603050405020304" pitchFamily="18" charset="0"/>
              </a:rPr>
              <a:t>New technologies, frameworks, real-time problems and analysis: Project I (floor-plan input processing) and Project II (Operations Intelligence Platform)</a:t>
            </a:r>
          </a:p>
          <a:p>
            <a:pPr algn="just"/>
            <a:r>
              <a:rPr lang="en-US" sz="2400" dirty="0">
                <a:effectLst/>
                <a:latin typeface="Book Antiqua" panose="02040602050305030304" pitchFamily="18" charset="0"/>
                <a:ea typeface="Calibri" panose="020F0502020204030204" pitchFamily="34" charset="0"/>
                <a:cs typeface="Times New Roman" panose="02020603050405020304" pitchFamily="18" charset="0"/>
              </a:rPr>
              <a:t>Conclusion (brief summary)</a:t>
            </a:r>
            <a:endParaRPr lang="en-IN" sz="4000" dirty="0">
              <a:solidFill>
                <a:schemeClr val="tx1"/>
              </a:solidFill>
              <a:latin typeface="Book Antiqua" panose="02040602050305030304" pitchFamily="18" charset="0"/>
              <a:cs typeface="Times New Roman" panose="02020603050405020304" pitchFamily="18" charset="0"/>
            </a:endParaRPr>
          </a:p>
        </p:txBody>
      </p:sp>
      <p:sp>
        <p:nvSpPr>
          <p:cNvPr id="5" name="Rectangle 4"/>
          <p:cNvSpPr txBox="1">
            <a:spLocks noChangeArrowheads="1"/>
          </p:cNvSpPr>
          <p:nvPr/>
        </p:nvSpPr>
        <p:spPr>
          <a:xfrm>
            <a:off x="0" y="0"/>
            <a:ext cx="12192000" cy="1447800"/>
          </a:xfrm>
          <a:prstGeom prst="rect">
            <a:avLst/>
          </a:prstGeom>
          <a:solidFill>
            <a:srgbClr val="3333CC"/>
          </a:solid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IN" sz="3600" b="1" dirty="0">
                <a:solidFill>
                  <a:schemeClr val="bg1"/>
                </a:solidFill>
                <a:effectLst/>
                <a:latin typeface="Book Antiqua" panose="02040602050305030304" pitchFamily="18" charset="0"/>
                <a:ea typeface="Calibri" panose="020F0502020204030204" pitchFamily="34" charset="0"/>
                <a:cs typeface="Times New Roman" panose="02020603050405020304" pitchFamily="18" charset="0"/>
              </a:rPr>
              <a:t>Contents (Industry)</a:t>
            </a:r>
            <a:endParaRPr lang="en-IN" sz="5300" dirty="0">
              <a:solidFill>
                <a:schemeClr val="bg1"/>
              </a:solidFill>
              <a:latin typeface="Book Antiqua" panose="0204060205030503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96107A40-7FD5-436B-B3DD-01066071B37C}" type="slidenum">
              <a:rPr lang="en-IN">
                <a:solidFill>
                  <a:prstClr val="black">
                    <a:tint val="75000"/>
                  </a:prstClr>
                </a:solidFill>
                <a:latin typeface="Calibri"/>
              </a:rPr>
              <a:pPr/>
              <a:t>2</a:t>
            </a:fld>
            <a:endParaRPr lang="en-IN">
              <a:solidFill>
                <a:prstClr val="black">
                  <a:tint val="75000"/>
                </a:prstClr>
              </a:solidFill>
              <a:latin typeface="Calibri"/>
            </a:endParaRPr>
          </a:p>
        </p:txBody>
      </p:sp>
      <p:sp>
        <p:nvSpPr>
          <p:cNvPr id="14" name="Footer Placeholder 13">
            <a:extLst>
              <a:ext uri="{FF2B5EF4-FFF2-40B4-BE49-F238E27FC236}">
                <a16:creationId xmlns:a16="http://schemas.microsoft.com/office/drawing/2014/main" id="{3F853E6F-A98E-C7D3-91D3-2AF29EC3AD65}"/>
              </a:ext>
            </a:extLst>
          </p:cNvPr>
          <p:cNvSpPr>
            <a:spLocks noGrp="1"/>
          </p:cNvSpPr>
          <p:nvPr>
            <p:ph type="ftr" sz="quarter" idx="11"/>
          </p:nvPr>
        </p:nvSpPr>
        <p:spPr>
          <a:xfrm>
            <a:off x="4038600" y="6356350"/>
            <a:ext cx="5668108" cy="365125"/>
          </a:xfrm>
        </p:spPr>
        <p:txBody>
          <a:bodyPr/>
          <a:lstStyle/>
          <a:p>
            <a:r>
              <a:rPr lang="en-IN" sz="1200" b="1" dirty="0">
                <a:latin typeface="Book Antiqua" panose="02040602050305030304" pitchFamily="18" charset="0"/>
                <a:cs typeface="Times New Roman" panose="02020603050405020304" pitchFamily="18" charset="0"/>
              </a:rPr>
              <a:t>SHARAN K        23BDS1153</a:t>
            </a:r>
            <a:endParaRPr lang="en-IN" sz="1200" b="1" dirty="0">
              <a:solidFill>
                <a:schemeClr val="tx1"/>
              </a:solidFill>
              <a:latin typeface="Book Antiqua" panose="0204060205030503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721566783"/>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Rectangle 4"/>
          <p:cNvSpPr txBox="1">
            <a:spLocks noChangeArrowheads="1"/>
          </p:cNvSpPr>
          <p:nvPr/>
        </p:nvSpPr>
        <p:spPr>
          <a:xfrm>
            <a:off x="0" y="0"/>
            <a:ext cx="12192000" cy="1447800"/>
          </a:xfrm>
          <a:prstGeom prst="rect">
            <a:avLst/>
          </a:prstGeom>
          <a:solidFill>
            <a:srgbClr val="3333CC"/>
          </a:solid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IN" sz="3600" b="1" dirty="0">
                <a:solidFill>
                  <a:schemeClr val="bg1"/>
                </a:solidFill>
                <a:effectLst/>
                <a:latin typeface="Book Antiqua" panose="02040602050305030304" pitchFamily="18" charset="0"/>
                <a:ea typeface="Calibri" panose="020F0502020204030204" pitchFamily="34" charset="0"/>
                <a:cs typeface="Times New Roman" panose="02020603050405020304" pitchFamily="18" charset="0"/>
              </a:rPr>
              <a:t>Introduction</a:t>
            </a:r>
            <a:endParaRPr lang="en-IN" sz="5300" dirty="0">
              <a:solidFill>
                <a:schemeClr val="bg1"/>
              </a:solidFill>
              <a:latin typeface="Book Antiqua" panose="0204060205030503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96107A40-7FD5-436B-B3DD-01066071B37C}" type="slidenum">
              <a:rPr lang="en-IN">
                <a:solidFill>
                  <a:prstClr val="black">
                    <a:tint val="75000"/>
                  </a:prstClr>
                </a:solidFill>
                <a:latin typeface="Calibri"/>
              </a:rPr>
              <a:pPr/>
              <a:t>2</a:t>
            </a:fld>
            <a:endParaRPr lang="en-IN">
              <a:solidFill>
                <a:prstClr val="black">
                  <a:tint val="75000"/>
                </a:prstClr>
              </a:solidFill>
              <a:latin typeface="Calibri"/>
            </a:endParaRPr>
          </a:p>
        </p:txBody>
      </p:sp>
      <p:sp>
        <p:nvSpPr>
          <p:cNvPr id="14" name="Footer Placeholder 13">
            <a:extLst>
              <a:ext uri="{FF2B5EF4-FFF2-40B4-BE49-F238E27FC236}">
                <a16:creationId xmlns:a16="http://schemas.microsoft.com/office/drawing/2014/main" id="{3F853E6F-A98E-C7D3-91D3-2AF29EC3AD65}"/>
              </a:ext>
            </a:extLst>
          </p:cNvPr>
          <p:cNvSpPr>
            <a:spLocks noGrp="1"/>
          </p:cNvSpPr>
          <p:nvPr>
            <p:ph type="ftr" sz="quarter" idx="11"/>
          </p:nvPr>
        </p:nvSpPr>
        <p:spPr>
          <a:xfrm>
            <a:off x="4038600" y="6356350"/>
            <a:ext cx="5668108" cy="365125"/>
          </a:xfrm>
        </p:spPr>
        <p:txBody>
          <a:bodyPr/>
          <a:lstStyle/>
          <a:p>
            <a:r>
              <a:rPr lang="en-IN" sz="1200" b="1" dirty="0">
                <a:latin typeface="Book Antiqua" panose="02040602050305030304" pitchFamily="18" charset="0"/>
                <a:cs typeface="Times New Roman" panose="02020603050405020304" pitchFamily="18" charset="0"/>
              </a:rPr>
              <a:t>SHARAN K        23BDS1153</a:t>
            </a:r>
            <a:endParaRPr lang="en-IN" sz="1200" b="1" dirty="0">
              <a:solidFill>
                <a:schemeClr val="tx1"/>
              </a:solidFill>
              <a:latin typeface="Book Antiqua" panose="02040602050305030304" pitchFamily="18" charset="0"/>
              <a:cs typeface="Times New Roman" panose="02020603050405020304" pitchFamily="18" charset="0"/>
            </a:endParaRPr>
          </a:p>
          <a:p>
            <a:endParaRPr lang="en-US" dirty="0"/>
          </a:p>
        </p:txBody>
      </p:sp>
      <p:sp>
        <p:nvSpPr>
          <p:cNvPr id="15" name="Rounded Rectangle 14"/>
          <p:cNvSpPr/>
          <p:nvPr/>
        </p:nvSpPr>
        <p:spPr>
          <a:xfrm>
            <a:off x="548640" y="1691640"/>
            <a:ext cx="2651760" cy="960120"/>
          </a:xfrm>
          <a:prstGeom prst="roundRect">
            <a:avLst>
              <a:gd name="adj" fmla="val 6000"/>
            </a:avLst>
          </a:prstGeom>
          <a:solidFill>
            <a:srgbClr val="EE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85800" y="1737360"/>
            <a:ext cx="2377440" cy="274320"/>
          </a:xfrm>
          <a:prstGeom prst="rect">
            <a:avLst/>
          </a:prstGeom>
          <a:noFill/>
        </p:spPr>
        <p:txBody>
          <a:bodyPr wrap="square" lIns="36576" rIns="36576" tIns="18288" bIns="18288" anchor="t">
            <a:spAutoFit/>
          </a:bodyPr>
          <a:lstStyle/>
          <a:p>
            <a:pPr algn="l">
              <a:lnSpc>
                <a:spcPct val="100000"/>
              </a:lnSpc>
              <a:spcAft>
                <a:spcPts val="0"/>
              </a:spcAft>
            </a:pPr>
            <a:r>
              <a:rPr sz="1100" b="1" i="0">
                <a:solidFill>
                  <a:srgbClr val="3333CC"/>
                </a:solidFill>
                <a:latin typeface="Book Antiqua"/>
              </a:rPr>
              <a:t>ROLE</a:t>
            </a:r>
          </a:p>
        </p:txBody>
      </p:sp>
      <p:sp>
        <p:nvSpPr>
          <p:cNvPr id="17" name="TextBox 16"/>
          <p:cNvSpPr txBox="1"/>
          <p:nvPr/>
        </p:nvSpPr>
        <p:spPr>
          <a:xfrm>
            <a:off x="685800" y="2011680"/>
            <a:ext cx="2377440" cy="640080"/>
          </a:xfrm>
          <a:prstGeom prst="rect">
            <a:avLst/>
          </a:prstGeom>
          <a:noFill/>
        </p:spPr>
        <p:txBody>
          <a:bodyPr wrap="square" lIns="36576" rIns="36576" tIns="18288" bIns="18288" anchor="t">
            <a:spAutoFit/>
          </a:bodyPr>
          <a:lstStyle/>
          <a:p>
            <a:pPr algn="l">
              <a:lnSpc>
                <a:spcPct val="100000"/>
              </a:lnSpc>
              <a:spcAft>
                <a:spcPts val="0"/>
              </a:spcAft>
            </a:pPr>
            <a:r>
              <a:rPr sz="1400" b="0" i="0">
                <a:solidFill>
                  <a:srgbClr val="1C1E2B"/>
                </a:solidFill>
                <a:latin typeface="Book Antiqua"/>
              </a:rPr>
              <a:t>Data &amp; AI Intern</a:t>
            </a:r>
          </a:p>
          <a:p>
            <a:pPr algn="l">
              <a:lnSpc>
                <a:spcPct val="100000"/>
              </a:lnSpc>
              <a:spcAft>
                <a:spcPts val="0"/>
              </a:spcAft>
            </a:pPr>
            <a:r>
              <a:rPr sz="1400" b="0" i="0">
                <a:solidFill>
                  <a:srgbClr val="1C1E2B"/>
                </a:solidFill>
                <a:latin typeface="Book Antiqua"/>
              </a:rPr>
              <a:t>Intern ID IGS1022</a:t>
            </a:r>
          </a:p>
        </p:txBody>
      </p:sp>
      <p:sp>
        <p:nvSpPr>
          <p:cNvPr id="18" name="Rounded Rectangle 17"/>
          <p:cNvSpPr/>
          <p:nvPr/>
        </p:nvSpPr>
        <p:spPr>
          <a:xfrm>
            <a:off x="3355848" y="1691640"/>
            <a:ext cx="2651760" cy="960120"/>
          </a:xfrm>
          <a:prstGeom prst="roundRect">
            <a:avLst>
              <a:gd name="adj" fmla="val 6000"/>
            </a:avLst>
          </a:prstGeom>
          <a:solidFill>
            <a:srgbClr val="EE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493008" y="1737360"/>
            <a:ext cx="2377440" cy="274320"/>
          </a:xfrm>
          <a:prstGeom prst="rect">
            <a:avLst/>
          </a:prstGeom>
          <a:noFill/>
        </p:spPr>
        <p:txBody>
          <a:bodyPr wrap="square" lIns="36576" rIns="36576" tIns="18288" bIns="18288" anchor="t">
            <a:spAutoFit/>
          </a:bodyPr>
          <a:lstStyle/>
          <a:p>
            <a:pPr algn="l">
              <a:lnSpc>
                <a:spcPct val="100000"/>
              </a:lnSpc>
              <a:spcAft>
                <a:spcPts val="0"/>
              </a:spcAft>
            </a:pPr>
            <a:r>
              <a:rPr sz="1100" b="1" i="0">
                <a:solidFill>
                  <a:srgbClr val="3333CC"/>
                </a:solidFill>
                <a:latin typeface="Book Antiqua"/>
              </a:rPr>
              <a:t>ORGANISATION</a:t>
            </a:r>
          </a:p>
        </p:txBody>
      </p:sp>
      <p:sp>
        <p:nvSpPr>
          <p:cNvPr id="20" name="TextBox 19"/>
          <p:cNvSpPr txBox="1"/>
          <p:nvPr/>
        </p:nvSpPr>
        <p:spPr>
          <a:xfrm>
            <a:off x="3493008" y="2011680"/>
            <a:ext cx="2377440" cy="640080"/>
          </a:xfrm>
          <a:prstGeom prst="rect">
            <a:avLst/>
          </a:prstGeom>
          <a:noFill/>
        </p:spPr>
        <p:txBody>
          <a:bodyPr wrap="square" lIns="36576" rIns="36576" tIns="18288" bIns="18288" anchor="t">
            <a:spAutoFit/>
          </a:bodyPr>
          <a:lstStyle/>
          <a:p>
            <a:pPr algn="l">
              <a:lnSpc>
                <a:spcPct val="100000"/>
              </a:lnSpc>
              <a:spcAft>
                <a:spcPts val="0"/>
              </a:spcAft>
            </a:pPr>
            <a:r>
              <a:rPr sz="1400" b="0" i="0">
                <a:solidFill>
                  <a:srgbClr val="1C1E2B"/>
                </a:solidFill>
                <a:latin typeface="Book Antiqua"/>
              </a:rPr>
              <a:t>BPO Integra India</a:t>
            </a:r>
          </a:p>
          <a:p>
            <a:pPr algn="l">
              <a:lnSpc>
                <a:spcPct val="100000"/>
              </a:lnSpc>
              <a:spcAft>
                <a:spcPts val="0"/>
              </a:spcAft>
            </a:pPr>
            <a:r>
              <a:rPr sz="1400" b="0" i="0">
                <a:solidFill>
                  <a:srgbClr val="1C1E2B"/>
                </a:solidFill>
                <a:latin typeface="Book Antiqua"/>
              </a:rPr>
              <a:t>Private Limited, Chennai</a:t>
            </a:r>
          </a:p>
        </p:txBody>
      </p:sp>
      <p:sp>
        <p:nvSpPr>
          <p:cNvPr id="21" name="Rounded Rectangle 20"/>
          <p:cNvSpPr/>
          <p:nvPr/>
        </p:nvSpPr>
        <p:spPr>
          <a:xfrm>
            <a:off x="6163055" y="1691640"/>
            <a:ext cx="2651760" cy="960120"/>
          </a:xfrm>
          <a:prstGeom prst="roundRect">
            <a:avLst>
              <a:gd name="adj" fmla="val 6000"/>
            </a:avLst>
          </a:prstGeom>
          <a:solidFill>
            <a:srgbClr val="EE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00216" y="1737360"/>
            <a:ext cx="2377440" cy="274320"/>
          </a:xfrm>
          <a:prstGeom prst="rect">
            <a:avLst/>
          </a:prstGeom>
          <a:noFill/>
        </p:spPr>
        <p:txBody>
          <a:bodyPr wrap="square" lIns="36576" rIns="36576" tIns="18288" bIns="18288" anchor="t">
            <a:spAutoFit/>
          </a:bodyPr>
          <a:lstStyle/>
          <a:p>
            <a:pPr algn="l">
              <a:lnSpc>
                <a:spcPct val="100000"/>
              </a:lnSpc>
              <a:spcAft>
                <a:spcPts val="0"/>
              </a:spcAft>
            </a:pPr>
            <a:r>
              <a:rPr sz="1100" b="1" i="0">
                <a:solidFill>
                  <a:srgbClr val="3333CC"/>
                </a:solidFill>
                <a:latin typeface="Book Antiqua"/>
              </a:rPr>
              <a:t>PERIOD</a:t>
            </a:r>
          </a:p>
        </p:txBody>
      </p:sp>
      <p:sp>
        <p:nvSpPr>
          <p:cNvPr id="23" name="TextBox 22"/>
          <p:cNvSpPr txBox="1"/>
          <p:nvPr/>
        </p:nvSpPr>
        <p:spPr>
          <a:xfrm>
            <a:off x="6300216" y="2011680"/>
            <a:ext cx="2377440" cy="640080"/>
          </a:xfrm>
          <a:prstGeom prst="rect">
            <a:avLst/>
          </a:prstGeom>
          <a:noFill/>
        </p:spPr>
        <p:txBody>
          <a:bodyPr wrap="square" lIns="36576" rIns="36576" tIns="18288" bIns="18288" anchor="t">
            <a:spAutoFit/>
          </a:bodyPr>
          <a:lstStyle/>
          <a:p>
            <a:pPr algn="l">
              <a:lnSpc>
                <a:spcPct val="100000"/>
              </a:lnSpc>
              <a:spcAft>
                <a:spcPts val="0"/>
              </a:spcAft>
            </a:pPr>
            <a:r>
              <a:rPr sz="1400" b="0" i="0">
                <a:solidFill>
                  <a:srgbClr val="1C1E2B"/>
                </a:solidFill>
                <a:latin typeface="Book Antiqua"/>
              </a:rPr>
              <a:t>15 May to 30 June 2026</a:t>
            </a:r>
          </a:p>
          <a:p>
            <a:pPr algn="l">
              <a:lnSpc>
                <a:spcPct val="100000"/>
              </a:lnSpc>
              <a:spcAft>
                <a:spcPts val="0"/>
              </a:spcAft>
            </a:pPr>
            <a:r>
              <a:rPr sz="1400" b="0" i="0">
                <a:solidFill>
                  <a:srgbClr val="1C1E2B"/>
                </a:solidFill>
                <a:latin typeface="Book Antiqua"/>
              </a:rPr>
              <a:t>47 days</a:t>
            </a:r>
          </a:p>
        </p:txBody>
      </p:sp>
      <p:sp>
        <p:nvSpPr>
          <p:cNvPr id="24" name="Rounded Rectangle 23"/>
          <p:cNvSpPr/>
          <p:nvPr/>
        </p:nvSpPr>
        <p:spPr>
          <a:xfrm>
            <a:off x="8970263" y="1691640"/>
            <a:ext cx="2651760" cy="960120"/>
          </a:xfrm>
          <a:prstGeom prst="roundRect">
            <a:avLst>
              <a:gd name="adj" fmla="val 6000"/>
            </a:avLst>
          </a:prstGeom>
          <a:solidFill>
            <a:srgbClr val="EE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107424" y="1737360"/>
            <a:ext cx="2377440" cy="274320"/>
          </a:xfrm>
          <a:prstGeom prst="rect">
            <a:avLst/>
          </a:prstGeom>
          <a:noFill/>
        </p:spPr>
        <p:txBody>
          <a:bodyPr wrap="square" lIns="36576" rIns="36576" tIns="18288" bIns="18288" anchor="t">
            <a:spAutoFit/>
          </a:bodyPr>
          <a:lstStyle/>
          <a:p>
            <a:pPr algn="l">
              <a:lnSpc>
                <a:spcPct val="100000"/>
              </a:lnSpc>
              <a:spcAft>
                <a:spcPts val="0"/>
              </a:spcAft>
            </a:pPr>
            <a:r>
              <a:rPr sz="1100" b="1" i="0">
                <a:solidFill>
                  <a:srgbClr val="3333CC"/>
                </a:solidFill>
                <a:latin typeface="Book Antiqua"/>
              </a:rPr>
              <a:t>SUPERVISION</a:t>
            </a:r>
          </a:p>
        </p:txBody>
      </p:sp>
      <p:sp>
        <p:nvSpPr>
          <p:cNvPr id="26" name="TextBox 25"/>
          <p:cNvSpPr txBox="1"/>
          <p:nvPr/>
        </p:nvSpPr>
        <p:spPr>
          <a:xfrm>
            <a:off x="9107424" y="2011680"/>
            <a:ext cx="2377440" cy="640080"/>
          </a:xfrm>
          <a:prstGeom prst="rect">
            <a:avLst/>
          </a:prstGeom>
          <a:noFill/>
        </p:spPr>
        <p:txBody>
          <a:bodyPr wrap="square" lIns="36576" rIns="36576" tIns="18288" bIns="18288" anchor="t">
            <a:spAutoFit/>
          </a:bodyPr>
          <a:lstStyle/>
          <a:p>
            <a:pPr algn="l">
              <a:lnSpc>
                <a:spcPct val="100000"/>
              </a:lnSpc>
              <a:spcAft>
                <a:spcPts val="0"/>
              </a:spcAft>
            </a:pPr>
            <a:r>
              <a:rPr sz="1400" b="0" i="0">
                <a:solidFill>
                  <a:srgbClr val="1C1E2B"/>
                </a:solidFill>
                <a:latin typeface="Book Antiqua"/>
              </a:rPr>
              <a:t>Project guide (Project I)</a:t>
            </a:r>
          </a:p>
          <a:p>
            <a:pPr algn="l">
              <a:lnSpc>
                <a:spcPct val="100000"/>
              </a:lnSpc>
              <a:spcAft>
                <a:spcPts val="0"/>
              </a:spcAft>
            </a:pPr>
            <a:r>
              <a:rPr sz="1400" b="0" i="0">
                <a:solidFill>
                  <a:srgbClr val="1C1E2B"/>
                </a:solidFill>
                <a:latin typeface="Book Antiqua"/>
              </a:rPr>
              <a:t>Mentor (Project II)</a:t>
            </a:r>
          </a:p>
        </p:txBody>
      </p:sp>
      <p:pic>
        <p:nvPicPr>
          <p:cNvPr id="27" name="Picture 26" descr="diagram4.png"/>
          <p:cNvPicPr>
            <a:picLocks noChangeAspect="1"/>
          </p:cNvPicPr>
          <p:nvPr/>
        </p:nvPicPr>
        <p:blipFill>
          <a:blip r:embed="rId2"/>
          <a:stretch>
            <a:fillRect/>
          </a:stretch>
        </p:blipFill>
        <p:spPr>
          <a:xfrm>
            <a:off x="548640" y="2880360"/>
            <a:ext cx="7589520" cy="2737648"/>
          </a:xfrm>
          <a:prstGeom prst="rect">
            <a:avLst/>
          </a:prstGeom>
        </p:spPr>
      </p:pic>
      <p:sp>
        <p:nvSpPr>
          <p:cNvPr id="28" name="TextBox 27"/>
          <p:cNvSpPr txBox="1"/>
          <p:nvPr/>
        </p:nvSpPr>
        <p:spPr>
          <a:xfrm>
            <a:off x="8366760" y="2926080"/>
            <a:ext cx="3291840" cy="3108960"/>
          </a:xfrm>
          <a:prstGeom prst="rect">
            <a:avLst/>
          </a:prstGeom>
          <a:noFill/>
        </p:spPr>
        <p:txBody>
          <a:bodyPr wrap="square" lIns="36576" rIns="36576" tIns="18288" bIns="18288" anchor="t">
            <a:spAutoFit/>
          </a:bodyPr>
          <a:lstStyle/>
          <a:p>
            <a:pPr algn="l">
              <a:lnSpc>
                <a:spcPct val="100000"/>
              </a:lnSpc>
              <a:spcAft>
                <a:spcPts val="800"/>
              </a:spcAft>
            </a:pPr>
            <a:r>
              <a:rPr sz="1600" b="1" i="0">
                <a:solidFill>
                  <a:srgbClr val="3333CC"/>
                </a:solidFill>
                <a:latin typeface="Book Antiqua"/>
              </a:rPr>
              <a:t>Two assignments</a:t>
            </a:r>
          </a:p>
          <a:p>
            <a:pPr algn="l" marL="201168" indent="-201168">
              <a:lnSpc>
                <a:spcPct val="100000"/>
              </a:lnSpc>
              <a:spcAft>
                <a:spcPts val="800"/>
              </a:spcAft>
              <a:buFont typeface="Arial"/>
              <a:buChar char="•"/>
            </a:pPr>
            <a:r>
              <a:rPr sz="1400" b="0" i="0">
                <a:solidFill>
                  <a:srgbClr val="1C1E2B"/>
                </a:solidFill>
                <a:latin typeface="Book Antiqua"/>
              </a:rPr>
              <a:t>Project I, 15 to 30 May: the input stage of a 2D floor plan to 3D interior platform.</a:t>
            </a:r>
          </a:p>
          <a:p>
            <a:pPr algn="l" marL="201168" indent="-201168">
              <a:lnSpc>
                <a:spcPct val="100000"/>
              </a:lnSpc>
              <a:spcAft>
                <a:spcPts val="800"/>
              </a:spcAft>
              <a:buFont typeface="Arial"/>
              <a:buChar char="•"/>
            </a:pPr>
            <a:r>
              <a:rPr sz="1400" b="0" i="0">
                <a:solidFill>
                  <a:srgbClr val="1C1E2B"/>
                </a:solidFill>
                <a:latin typeface="Book Antiqua"/>
              </a:rPr>
              <a:t>Project II, 1 to 30 June: the Operations Intelligence Platform, the analytics system for the delivery operations.</a:t>
            </a:r>
          </a:p>
          <a:p>
            <a:pPr algn="l">
              <a:lnSpc>
                <a:spcPct val="100000"/>
              </a:lnSpc>
              <a:spcAft>
                <a:spcPts val="800"/>
              </a:spcAft>
            </a:pPr>
            <a:r>
              <a:rPr sz="1200" b="0" i="1">
                <a:solidFill>
                  <a:srgbClr val="555A6B"/>
                </a:solidFill>
                <a:latin typeface="Book Antiqua"/>
              </a:rPr>
              <a:t>Every date on this timeline comes from my daily activity log.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Rectangle 4"/>
          <p:cNvSpPr txBox="1">
            <a:spLocks noChangeArrowheads="1"/>
          </p:cNvSpPr>
          <p:nvPr/>
        </p:nvSpPr>
        <p:spPr>
          <a:xfrm>
            <a:off x="0" y="0"/>
            <a:ext cx="12192000" cy="1447800"/>
          </a:xfrm>
          <a:prstGeom prst="rect">
            <a:avLst/>
          </a:prstGeom>
          <a:solidFill>
            <a:srgbClr val="3333CC"/>
          </a:solid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IN" sz="3600" b="1" dirty="0">
                <a:solidFill>
                  <a:schemeClr val="bg1"/>
                </a:solidFill>
                <a:effectLst/>
                <a:latin typeface="Book Antiqua" panose="02040602050305030304" pitchFamily="18" charset="0"/>
                <a:ea typeface="Calibri" panose="020F0502020204030204" pitchFamily="34" charset="0"/>
                <a:cs typeface="Times New Roman" panose="02020603050405020304" pitchFamily="18" charset="0"/>
              </a:rPr>
              <a:t>Aim, Objectives and Motivation</a:t>
            </a:r>
            <a:endParaRPr lang="en-IN" sz="5300" dirty="0">
              <a:solidFill>
                <a:schemeClr val="bg1"/>
              </a:solidFill>
              <a:latin typeface="Book Antiqua" panose="0204060205030503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96107A40-7FD5-436B-B3DD-01066071B37C}" type="slidenum">
              <a:rPr lang="en-IN">
                <a:solidFill>
                  <a:prstClr val="black">
                    <a:tint val="75000"/>
                  </a:prstClr>
                </a:solidFill>
                <a:latin typeface="Calibri"/>
              </a:rPr>
              <a:pPr/>
              <a:t>2</a:t>
            </a:fld>
            <a:endParaRPr lang="en-IN">
              <a:solidFill>
                <a:prstClr val="black">
                  <a:tint val="75000"/>
                </a:prstClr>
              </a:solidFill>
              <a:latin typeface="Calibri"/>
            </a:endParaRPr>
          </a:p>
        </p:txBody>
      </p:sp>
      <p:sp>
        <p:nvSpPr>
          <p:cNvPr id="14" name="Footer Placeholder 13">
            <a:extLst>
              <a:ext uri="{FF2B5EF4-FFF2-40B4-BE49-F238E27FC236}">
                <a16:creationId xmlns:a16="http://schemas.microsoft.com/office/drawing/2014/main" id="{3F853E6F-A98E-C7D3-91D3-2AF29EC3AD65}"/>
              </a:ext>
            </a:extLst>
          </p:cNvPr>
          <p:cNvSpPr>
            <a:spLocks noGrp="1"/>
          </p:cNvSpPr>
          <p:nvPr>
            <p:ph type="ftr" sz="quarter" idx="11"/>
          </p:nvPr>
        </p:nvSpPr>
        <p:spPr>
          <a:xfrm>
            <a:off x="4038600" y="6356350"/>
            <a:ext cx="5668108" cy="365125"/>
          </a:xfrm>
        </p:spPr>
        <p:txBody>
          <a:bodyPr/>
          <a:lstStyle/>
          <a:p>
            <a:r>
              <a:rPr lang="en-IN" sz="1200" b="1" dirty="0">
                <a:latin typeface="Book Antiqua" panose="02040602050305030304" pitchFamily="18" charset="0"/>
                <a:cs typeface="Times New Roman" panose="02020603050405020304" pitchFamily="18" charset="0"/>
              </a:rPr>
              <a:t>SHARAN K        23BDS1153</a:t>
            </a:r>
            <a:endParaRPr lang="en-IN" sz="1200" b="1" dirty="0">
              <a:solidFill>
                <a:schemeClr val="tx1"/>
              </a:solidFill>
              <a:latin typeface="Book Antiqua" panose="02040602050305030304" pitchFamily="18" charset="0"/>
              <a:cs typeface="Times New Roman" panose="02020603050405020304" pitchFamily="18" charset="0"/>
            </a:endParaRPr>
          </a:p>
          <a:p>
            <a:endParaRPr lang="en-US" dirty="0"/>
          </a:p>
        </p:txBody>
      </p:sp>
      <p:sp>
        <p:nvSpPr>
          <p:cNvPr id="15" name="Rounded Rectangle 14"/>
          <p:cNvSpPr/>
          <p:nvPr/>
        </p:nvSpPr>
        <p:spPr>
          <a:xfrm>
            <a:off x="548640" y="1737360"/>
            <a:ext cx="3566160" cy="4389120"/>
          </a:xfrm>
          <a:prstGeom prst="roundRect">
            <a:avLst>
              <a:gd name="adj" fmla="val 6000"/>
            </a:avLst>
          </a:prstGeom>
          <a:solidFill>
            <a:srgbClr val="EE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77240" y="1874519"/>
            <a:ext cx="3108960" cy="457200"/>
          </a:xfrm>
          <a:prstGeom prst="rect">
            <a:avLst/>
          </a:prstGeom>
          <a:noFill/>
        </p:spPr>
        <p:txBody>
          <a:bodyPr wrap="square" lIns="36576" rIns="36576" tIns="18288" bIns="18288" anchor="t">
            <a:spAutoFit/>
          </a:bodyPr>
          <a:lstStyle/>
          <a:p>
            <a:pPr algn="l">
              <a:lnSpc>
                <a:spcPct val="100000"/>
              </a:lnSpc>
              <a:spcAft>
                <a:spcPts val="0"/>
              </a:spcAft>
            </a:pPr>
            <a:r>
              <a:rPr sz="2000" b="1" i="0">
                <a:solidFill>
                  <a:srgbClr val="3333CC"/>
                </a:solidFill>
                <a:latin typeface="Book Antiqua"/>
              </a:rPr>
              <a:t>Aim</a:t>
            </a:r>
          </a:p>
        </p:txBody>
      </p:sp>
      <p:sp>
        <p:nvSpPr>
          <p:cNvPr id="17" name="TextBox 16"/>
          <p:cNvSpPr txBox="1"/>
          <p:nvPr/>
        </p:nvSpPr>
        <p:spPr>
          <a:xfrm>
            <a:off x="777240" y="2423160"/>
            <a:ext cx="3154680" cy="3566160"/>
          </a:xfrm>
          <a:prstGeom prst="rect">
            <a:avLst/>
          </a:prstGeom>
          <a:noFill/>
        </p:spPr>
        <p:txBody>
          <a:bodyPr wrap="square" lIns="36576" rIns="36576" tIns="18288" bIns="18288" anchor="t">
            <a:spAutoFit/>
          </a:bodyPr>
          <a:lstStyle/>
          <a:p>
            <a:pPr algn="l">
              <a:lnSpc>
                <a:spcPct val="100000"/>
              </a:lnSpc>
              <a:spcAft>
                <a:spcPts val="900"/>
              </a:spcAft>
            </a:pPr>
            <a:r>
              <a:rPr sz="1800" b="0" i="0">
                <a:solidFill>
                  <a:srgbClr val="1C1E2B"/>
                </a:solidFill>
                <a:latin typeface="Book Antiqua"/>
              </a:rPr>
              <a:t>Apply data engineering, analytics and AI to real operational problems inside a production team, and hand over reviewed, working components.</a:t>
            </a:r>
          </a:p>
        </p:txBody>
      </p:sp>
      <p:sp>
        <p:nvSpPr>
          <p:cNvPr id="18" name="Rounded Rectangle 17"/>
          <p:cNvSpPr/>
          <p:nvPr/>
        </p:nvSpPr>
        <p:spPr>
          <a:xfrm>
            <a:off x="4297679" y="1737360"/>
            <a:ext cx="3566160" cy="4389120"/>
          </a:xfrm>
          <a:prstGeom prst="roundRect">
            <a:avLst>
              <a:gd name="adj" fmla="val 6000"/>
            </a:avLst>
          </a:prstGeom>
          <a:solidFill>
            <a:srgbClr val="EE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526279" y="1874519"/>
            <a:ext cx="3108960" cy="457200"/>
          </a:xfrm>
          <a:prstGeom prst="rect">
            <a:avLst/>
          </a:prstGeom>
          <a:noFill/>
        </p:spPr>
        <p:txBody>
          <a:bodyPr wrap="square" lIns="36576" rIns="36576" tIns="18288" bIns="18288" anchor="t">
            <a:spAutoFit/>
          </a:bodyPr>
          <a:lstStyle/>
          <a:p>
            <a:pPr algn="l">
              <a:lnSpc>
                <a:spcPct val="100000"/>
              </a:lnSpc>
              <a:spcAft>
                <a:spcPts val="0"/>
              </a:spcAft>
            </a:pPr>
            <a:r>
              <a:rPr sz="2000" b="1" i="0">
                <a:solidFill>
                  <a:srgbClr val="3333CC"/>
                </a:solidFill>
                <a:latin typeface="Book Antiqua"/>
              </a:rPr>
              <a:t>Objectives</a:t>
            </a:r>
          </a:p>
        </p:txBody>
      </p:sp>
      <p:sp>
        <p:nvSpPr>
          <p:cNvPr id="20" name="TextBox 19"/>
          <p:cNvSpPr txBox="1"/>
          <p:nvPr/>
        </p:nvSpPr>
        <p:spPr>
          <a:xfrm>
            <a:off x="4526279" y="2423160"/>
            <a:ext cx="3154680" cy="3566160"/>
          </a:xfrm>
          <a:prstGeom prst="rect">
            <a:avLst/>
          </a:prstGeom>
          <a:noFill/>
        </p:spPr>
        <p:txBody>
          <a:bodyPr wrap="square" lIns="36576" rIns="36576" tIns="18288" bIns="18288" anchor="t">
            <a:spAutoFit/>
          </a:bodyPr>
          <a:lstStyle/>
          <a:p>
            <a:pPr algn="l" marL="201168" indent="-201168">
              <a:lnSpc>
                <a:spcPct val="100000"/>
              </a:lnSpc>
              <a:spcAft>
                <a:spcPts val="900"/>
              </a:spcAft>
              <a:buFont typeface="Arial"/>
              <a:buChar char="•"/>
            </a:pPr>
            <a:r>
              <a:rPr sz="1550" b="0" i="0">
                <a:solidFill>
                  <a:srgbClr val="1C1E2B"/>
                </a:solidFill>
                <a:latin typeface="Book Antiqua"/>
              </a:rPr>
              <a:t>Understand how a production data and AI system is organised</a:t>
            </a:r>
          </a:p>
          <a:p>
            <a:pPr algn="l" marL="201168" indent="-201168">
              <a:lnSpc>
                <a:spcPct val="100000"/>
              </a:lnSpc>
              <a:spcAft>
                <a:spcPts val="900"/>
              </a:spcAft>
              <a:buFont typeface="Arial"/>
              <a:buChar char="•"/>
            </a:pPr>
            <a:r>
              <a:rPr sz="1550" b="0" i="0">
                <a:solidFill>
                  <a:srgbClr val="1C1E2B"/>
                </a:solidFill>
                <a:latin typeface="Book Antiqua"/>
              </a:rPr>
              <a:t>Learn the contact-centre domain well enough to define metrics correctly</a:t>
            </a:r>
          </a:p>
          <a:p>
            <a:pPr algn="l" marL="201168" indent="-201168">
              <a:lnSpc>
                <a:spcPct val="100000"/>
              </a:lnSpc>
              <a:spcAft>
                <a:spcPts val="900"/>
              </a:spcAft>
              <a:buFont typeface="Arial"/>
              <a:buChar char="•"/>
            </a:pPr>
            <a:r>
              <a:rPr sz="1550" b="0" i="0">
                <a:solidFill>
                  <a:srgbClr val="1C1E2B"/>
                </a:solidFill>
                <a:latin typeface="Book Antiqua"/>
              </a:rPr>
              <a:t>Build skill in SQL, Python, Power BI, machine learning and RAG</a:t>
            </a:r>
          </a:p>
          <a:p>
            <a:pPr algn="l" marL="201168" indent="-201168">
              <a:lnSpc>
                <a:spcPct val="100000"/>
              </a:lnSpc>
              <a:spcAft>
                <a:spcPts val="900"/>
              </a:spcAft>
              <a:buFont typeface="Arial"/>
              <a:buChar char="•"/>
            </a:pPr>
            <a:r>
              <a:rPr sz="1550" b="0" i="0">
                <a:solidFill>
                  <a:srgbClr val="1C1E2B"/>
                </a:solidFill>
                <a:latin typeface="Book Antiqua"/>
              </a:rPr>
              <a:t>Follow professional practice: approvals, reviews, handovers</a:t>
            </a:r>
          </a:p>
          <a:p>
            <a:pPr algn="l" marL="201168" indent="-201168">
              <a:lnSpc>
                <a:spcPct val="100000"/>
              </a:lnSpc>
              <a:spcAft>
                <a:spcPts val="900"/>
              </a:spcAft>
              <a:buFont typeface="Arial"/>
              <a:buChar char="•"/>
            </a:pPr>
            <a:r>
              <a:rPr sz="1550" b="0" i="0">
                <a:solidFill>
                  <a:srgbClr val="1C1E2B"/>
                </a:solidFill>
                <a:latin typeface="Book Antiqua"/>
              </a:rPr>
              <a:t>Deliver scripts, queries, a cleaning pipeline and a dashboard page</a:t>
            </a:r>
          </a:p>
        </p:txBody>
      </p:sp>
      <p:sp>
        <p:nvSpPr>
          <p:cNvPr id="21" name="Rounded Rectangle 20"/>
          <p:cNvSpPr/>
          <p:nvPr/>
        </p:nvSpPr>
        <p:spPr>
          <a:xfrm>
            <a:off x="8046719" y="1737360"/>
            <a:ext cx="3566160" cy="4389120"/>
          </a:xfrm>
          <a:prstGeom prst="roundRect">
            <a:avLst>
              <a:gd name="adj" fmla="val 6000"/>
            </a:avLst>
          </a:prstGeom>
          <a:solidFill>
            <a:srgbClr val="EE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275319" y="1874519"/>
            <a:ext cx="3108960" cy="457200"/>
          </a:xfrm>
          <a:prstGeom prst="rect">
            <a:avLst/>
          </a:prstGeom>
          <a:noFill/>
        </p:spPr>
        <p:txBody>
          <a:bodyPr wrap="square" lIns="36576" rIns="36576" tIns="18288" bIns="18288" anchor="t">
            <a:spAutoFit/>
          </a:bodyPr>
          <a:lstStyle/>
          <a:p>
            <a:pPr algn="l">
              <a:lnSpc>
                <a:spcPct val="100000"/>
              </a:lnSpc>
              <a:spcAft>
                <a:spcPts val="0"/>
              </a:spcAft>
            </a:pPr>
            <a:r>
              <a:rPr sz="2000" b="1" i="0">
                <a:solidFill>
                  <a:srgbClr val="3333CC"/>
                </a:solidFill>
                <a:latin typeface="Book Antiqua"/>
              </a:rPr>
              <a:t>Motivation</a:t>
            </a:r>
          </a:p>
        </p:txBody>
      </p:sp>
      <p:sp>
        <p:nvSpPr>
          <p:cNvPr id="23" name="TextBox 22"/>
          <p:cNvSpPr txBox="1"/>
          <p:nvPr/>
        </p:nvSpPr>
        <p:spPr>
          <a:xfrm>
            <a:off x="8275319" y="2423160"/>
            <a:ext cx="3154680" cy="3566160"/>
          </a:xfrm>
          <a:prstGeom prst="rect">
            <a:avLst/>
          </a:prstGeom>
          <a:noFill/>
        </p:spPr>
        <p:txBody>
          <a:bodyPr wrap="square" lIns="36576" rIns="36576" tIns="18288" bIns="18288" anchor="t">
            <a:spAutoFit/>
          </a:bodyPr>
          <a:lstStyle/>
          <a:p>
            <a:pPr algn="l" marL="201168" indent="-201168">
              <a:lnSpc>
                <a:spcPct val="100000"/>
              </a:lnSpc>
              <a:spcAft>
                <a:spcPts val="900"/>
              </a:spcAft>
              <a:buFont typeface="Arial"/>
              <a:buChar char="•"/>
            </a:pPr>
            <a:r>
              <a:rPr sz="1550" b="0" i="0">
                <a:solidFill>
                  <a:srgbClr val="1C1E2B"/>
                </a:solidFill>
                <a:latin typeface="Book Antiqua"/>
              </a:rPr>
              <a:t>A dimension misread at the input becomes a wrong 3D home: the geometry is locked after it is read</a:t>
            </a:r>
          </a:p>
          <a:p>
            <a:pPr algn="l" marL="201168" indent="-201168">
              <a:lnSpc>
                <a:spcPct val="100000"/>
              </a:lnSpc>
              <a:spcAft>
                <a:spcPts val="900"/>
              </a:spcAft>
              <a:buFont typeface="Arial"/>
              <a:buChar char="•"/>
            </a:pPr>
            <a:r>
              <a:rPr sz="1550" b="0" i="0">
                <a:solidFill>
                  <a:srgbClr val="1C1E2B"/>
                </a:solidFill>
                <a:latin typeface="Book Antiqua"/>
              </a:rPr>
              <a:t>Contact-centre data comes from six systems and rarely agrees</a:t>
            </a:r>
          </a:p>
          <a:p>
            <a:pPr algn="l" marL="201168" indent="-201168">
              <a:lnSpc>
                <a:spcPct val="100000"/>
              </a:lnSpc>
              <a:spcAft>
                <a:spcPts val="900"/>
              </a:spcAft>
              <a:buFont typeface="Arial"/>
              <a:buChar char="•"/>
            </a:pPr>
            <a:r>
              <a:rPr sz="1550" b="0" i="0">
                <a:solidFill>
                  <a:srgbClr val="1C1E2B"/>
                </a:solidFill>
                <a:latin typeface="Book Antiqua"/>
              </a:rPr>
              <a:t>Daily averages hide half-hour failures that clients still penalise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Rectangle 4"/>
          <p:cNvSpPr txBox="1">
            <a:spLocks noChangeArrowheads="1"/>
          </p:cNvSpPr>
          <p:nvPr/>
        </p:nvSpPr>
        <p:spPr>
          <a:xfrm>
            <a:off x="0" y="0"/>
            <a:ext cx="12192000" cy="1447800"/>
          </a:xfrm>
          <a:prstGeom prst="rect">
            <a:avLst/>
          </a:prstGeom>
          <a:solidFill>
            <a:srgbClr val="3333CC"/>
          </a:solid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IN" sz="3600" b="1" dirty="0">
                <a:solidFill>
                  <a:schemeClr val="bg1"/>
                </a:solidFill>
                <a:effectLst/>
                <a:latin typeface="Book Antiqua" panose="02040602050305030304" pitchFamily="18" charset="0"/>
                <a:ea typeface="Calibri" panose="020F0502020204030204" pitchFamily="34" charset="0"/>
                <a:cs typeface="Times New Roman" panose="02020603050405020304" pitchFamily="18" charset="0"/>
              </a:rPr>
              <a:t>About the Industry</a:t>
            </a:r>
            <a:endParaRPr lang="en-IN" sz="5300" dirty="0">
              <a:solidFill>
                <a:schemeClr val="bg1"/>
              </a:solidFill>
              <a:latin typeface="Book Antiqua" panose="0204060205030503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96107A40-7FD5-436B-B3DD-01066071B37C}" type="slidenum">
              <a:rPr lang="en-IN">
                <a:solidFill>
                  <a:prstClr val="black">
                    <a:tint val="75000"/>
                  </a:prstClr>
                </a:solidFill>
                <a:latin typeface="Calibri"/>
              </a:rPr>
              <a:pPr/>
              <a:t>2</a:t>
            </a:fld>
            <a:endParaRPr lang="en-IN">
              <a:solidFill>
                <a:prstClr val="black">
                  <a:tint val="75000"/>
                </a:prstClr>
              </a:solidFill>
              <a:latin typeface="Calibri"/>
            </a:endParaRPr>
          </a:p>
        </p:txBody>
      </p:sp>
      <p:sp>
        <p:nvSpPr>
          <p:cNvPr id="14" name="Footer Placeholder 13">
            <a:extLst>
              <a:ext uri="{FF2B5EF4-FFF2-40B4-BE49-F238E27FC236}">
                <a16:creationId xmlns:a16="http://schemas.microsoft.com/office/drawing/2014/main" id="{3F853E6F-A98E-C7D3-91D3-2AF29EC3AD65}"/>
              </a:ext>
            </a:extLst>
          </p:cNvPr>
          <p:cNvSpPr>
            <a:spLocks noGrp="1"/>
          </p:cNvSpPr>
          <p:nvPr>
            <p:ph type="ftr" sz="quarter" idx="11"/>
          </p:nvPr>
        </p:nvSpPr>
        <p:spPr>
          <a:xfrm>
            <a:off x="4038600" y="6356350"/>
            <a:ext cx="5668108" cy="365125"/>
          </a:xfrm>
        </p:spPr>
        <p:txBody>
          <a:bodyPr/>
          <a:lstStyle/>
          <a:p>
            <a:r>
              <a:rPr lang="en-IN" sz="1200" b="1" dirty="0">
                <a:latin typeface="Book Antiqua" panose="02040602050305030304" pitchFamily="18" charset="0"/>
                <a:cs typeface="Times New Roman" panose="02020603050405020304" pitchFamily="18" charset="0"/>
              </a:rPr>
              <a:t>SHARAN K        23BDS1153</a:t>
            </a:r>
            <a:endParaRPr lang="en-IN" sz="1200" b="1" dirty="0">
              <a:solidFill>
                <a:schemeClr val="tx1"/>
              </a:solidFill>
              <a:latin typeface="Book Antiqua" panose="02040602050305030304" pitchFamily="18" charset="0"/>
              <a:cs typeface="Times New Roman" panose="02020603050405020304" pitchFamily="18" charset="0"/>
            </a:endParaRPr>
          </a:p>
          <a:p>
            <a:endParaRPr lang="en-US" dirty="0"/>
          </a:p>
        </p:txBody>
      </p:sp>
      <p:sp>
        <p:nvSpPr>
          <p:cNvPr id="15" name="TextBox 14"/>
          <p:cNvSpPr txBox="1"/>
          <p:nvPr/>
        </p:nvSpPr>
        <p:spPr>
          <a:xfrm>
            <a:off x="548640" y="1737360"/>
            <a:ext cx="5394960" cy="4389120"/>
          </a:xfrm>
          <a:prstGeom prst="rect">
            <a:avLst/>
          </a:prstGeom>
          <a:noFill/>
        </p:spPr>
        <p:txBody>
          <a:bodyPr wrap="square" lIns="36576" rIns="36576" tIns="18288" bIns="18288" anchor="t">
            <a:spAutoFit/>
          </a:bodyPr>
          <a:lstStyle/>
          <a:p>
            <a:pPr algn="l">
              <a:lnSpc>
                <a:spcPct val="100000"/>
              </a:lnSpc>
              <a:spcAft>
                <a:spcPts val="1200"/>
              </a:spcAft>
            </a:pPr>
            <a:r>
              <a:rPr sz="2000" b="1" i="0">
                <a:solidFill>
                  <a:srgbClr val="3333CC"/>
                </a:solidFill>
                <a:latin typeface="Book Antiqua"/>
              </a:rPr>
              <a:t>BPO Integra India Private Limited</a:t>
            </a:r>
          </a:p>
          <a:p>
            <a:pPr algn="l">
              <a:lnSpc>
                <a:spcPct val="100000"/>
              </a:lnSpc>
              <a:spcAft>
                <a:spcPts val="1200"/>
              </a:spcAft>
            </a:pPr>
            <a:r>
              <a:rPr sz="1500" b="0" i="0">
                <a:solidFill>
                  <a:srgbClr val="1C1E2B"/>
                </a:solidFill>
                <a:latin typeface="Book Antiqua"/>
              </a:rPr>
              <a:t>A business process outsourcing company and NASSCOM member, with its registered office in Coimbatore and a delivery centre in Chennai, Tamil Nadu.</a:t>
            </a:r>
          </a:p>
          <a:p>
            <a:pPr algn="l">
              <a:lnSpc>
                <a:spcPct val="100000"/>
              </a:lnSpc>
              <a:spcAft>
                <a:spcPts val="1200"/>
              </a:spcAft>
            </a:pPr>
            <a:r>
              <a:rPr sz="1500" b="0" i="0">
                <a:solidFill>
                  <a:srgbClr val="1C1E2B"/>
                </a:solidFill>
                <a:latin typeface="Book Antiqua"/>
              </a:rPr>
              <a:t>It runs customer service for clients in industries such as telecom, insurance, retail and banking.</a:t>
            </a:r>
          </a:p>
          <a:p>
            <a:pPr algn="l">
              <a:lnSpc>
                <a:spcPct val="100000"/>
              </a:lnSpc>
              <a:spcAft>
                <a:spcPts val="1200"/>
              </a:spcAft>
            </a:pPr>
            <a:r>
              <a:rPr sz="1500" b="0" i="0">
                <a:solidFill>
                  <a:srgbClr val="1C1E2B"/>
                </a:solidFill>
                <a:latin typeface="Book Antiqua"/>
              </a:rPr>
              <a:t>The Data &amp; AI team builds internal analytics and AI tools for delivery operations and prototypes for clients. I worked in this team.</a:t>
            </a:r>
          </a:p>
          <a:p>
            <a:pPr algn="l">
              <a:lnSpc>
                <a:spcPct val="100000"/>
              </a:lnSpc>
              <a:spcAft>
                <a:spcPts val="1200"/>
              </a:spcAft>
            </a:pPr>
            <a:r>
              <a:rPr sz="1300" b="0" i="1">
                <a:solidFill>
                  <a:srgbClr val="555A6B"/>
                </a:solidFill>
                <a:latin typeface="Book Antiqua"/>
              </a:rPr>
              <a:t>Every intern signs a confidentiality undertaking and works on approved, masked data with read-only access.</a:t>
            </a:r>
          </a:p>
        </p:txBody>
      </p:sp>
      <p:sp>
        <p:nvSpPr>
          <p:cNvPr id="16" name="Rounded Rectangle 15"/>
          <p:cNvSpPr/>
          <p:nvPr/>
        </p:nvSpPr>
        <p:spPr>
          <a:xfrm>
            <a:off x="6263640" y="1737360"/>
            <a:ext cx="2560320" cy="1691640"/>
          </a:xfrm>
          <a:prstGeom prst="roundRect">
            <a:avLst>
              <a:gd name="adj" fmla="val 6000"/>
            </a:avLst>
          </a:prstGeom>
          <a:solidFill>
            <a:srgbClr val="EE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28231" y="1847088"/>
            <a:ext cx="2240280" cy="365760"/>
          </a:xfrm>
          <a:prstGeom prst="rect">
            <a:avLst/>
          </a:prstGeom>
          <a:noFill/>
        </p:spPr>
        <p:txBody>
          <a:bodyPr wrap="square" lIns="36576" rIns="36576" tIns="18288" bIns="18288" anchor="t">
            <a:spAutoFit/>
          </a:bodyPr>
          <a:lstStyle/>
          <a:p>
            <a:pPr algn="l">
              <a:lnSpc>
                <a:spcPct val="100000"/>
              </a:lnSpc>
              <a:spcAft>
                <a:spcPts val="0"/>
              </a:spcAft>
            </a:pPr>
            <a:r>
              <a:rPr sz="1700" b="1" i="0">
                <a:solidFill>
                  <a:srgbClr val="3333CC"/>
                </a:solidFill>
                <a:latin typeface="Book Antiqua"/>
              </a:rPr>
              <a:t>Voice</a:t>
            </a:r>
          </a:p>
        </p:txBody>
      </p:sp>
      <p:sp>
        <p:nvSpPr>
          <p:cNvPr id="18" name="TextBox 17"/>
          <p:cNvSpPr txBox="1"/>
          <p:nvPr/>
        </p:nvSpPr>
        <p:spPr>
          <a:xfrm>
            <a:off x="6428231" y="2240280"/>
            <a:ext cx="2240280" cy="1143000"/>
          </a:xfrm>
          <a:prstGeom prst="rect">
            <a:avLst/>
          </a:prstGeom>
          <a:noFill/>
        </p:spPr>
        <p:txBody>
          <a:bodyPr wrap="square" lIns="36576" rIns="36576" tIns="18288" bIns="18288" anchor="t">
            <a:spAutoFit/>
          </a:bodyPr>
          <a:lstStyle/>
          <a:p>
            <a:pPr algn="l">
              <a:lnSpc>
                <a:spcPct val="100000"/>
              </a:lnSpc>
              <a:spcAft>
                <a:spcPts val="0"/>
              </a:spcAft>
            </a:pPr>
            <a:r>
              <a:rPr sz="1300" b="0" i="0">
                <a:solidFill>
                  <a:srgbClr val="1C1E2B"/>
                </a:solidFill>
                <a:latin typeface="Book Antiqua"/>
              </a:rPr>
              <a:t>Inbound and outbound calls through the dialler; judged on service level, e.g. 80% answered in 20 s</a:t>
            </a:r>
          </a:p>
        </p:txBody>
      </p:sp>
      <p:sp>
        <p:nvSpPr>
          <p:cNvPr id="19" name="Rounded Rectangle 18"/>
          <p:cNvSpPr/>
          <p:nvPr/>
        </p:nvSpPr>
        <p:spPr>
          <a:xfrm>
            <a:off x="8961120" y="1737360"/>
            <a:ext cx="2560320" cy="1691640"/>
          </a:xfrm>
          <a:prstGeom prst="roundRect">
            <a:avLst>
              <a:gd name="adj" fmla="val 6000"/>
            </a:avLst>
          </a:prstGeom>
          <a:solidFill>
            <a:srgbClr val="EE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125712" y="1847088"/>
            <a:ext cx="2240280" cy="365760"/>
          </a:xfrm>
          <a:prstGeom prst="rect">
            <a:avLst/>
          </a:prstGeom>
          <a:noFill/>
        </p:spPr>
        <p:txBody>
          <a:bodyPr wrap="square" lIns="36576" rIns="36576" tIns="18288" bIns="18288" anchor="t">
            <a:spAutoFit/>
          </a:bodyPr>
          <a:lstStyle/>
          <a:p>
            <a:pPr algn="l">
              <a:lnSpc>
                <a:spcPct val="100000"/>
              </a:lnSpc>
              <a:spcAft>
                <a:spcPts val="0"/>
              </a:spcAft>
            </a:pPr>
            <a:r>
              <a:rPr sz="1700" b="1" i="0">
                <a:solidFill>
                  <a:srgbClr val="3333CC"/>
                </a:solidFill>
                <a:latin typeface="Book Antiqua"/>
              </a:rPr>
              <a:t>Chat</a:t>
            </a:r>
          </a:p>
        </p:txBody>
      </p:sp>
      <p:sp>
        <p:nvSpPr>
          <p:cNvPr id="21" name="TextBox 20"/>
          <p:cNvSpPr txBox="1"/>
          <p:nvPr/>
        </p:nvSpPr>
        <p:spPr>
          <a:xfrm>
            <a:off x="9125712" y="2240280"/>
            <a:ext cx="2240280" cy="1143000"/>
          </a:xfrm>
          <a:prstGeom prst="rect">
            <a:avLst/>
          </a:prstGeom>
          <a:noFill/>
        </p:spPr>
        <p:txBody>
          <a:bodyPr wrap="square" lIns="36576" rIns="36576" tIns="18288" bIns="18288" anchor="t">
            <a:spAutoFit/>
          </a:bodyPr>
          <a:lstStyle/>
          <a:p>
            <a:pPr algn="l">
              <a:lnSpc>
                <a:spcPct val="100000"/>
              </a:lnSpc>
              <a:spcAft>
                <a:spcPts val="0"/>
              </a:spcAft>
            </a:pPr>
            <a:r>
              <a:rPr sz="1300" b="0" i="0">
                <a:solidFill>
                  <a:srgbClr val="1C1E2B"/>
                </a:solidFill>
                <a:latin typeface="Book Antiqua"/>
              </a:rPr>
              <a:t>Concurrent chat sessions; service level in seconds, CSAT after each session</a:t>
            </a:r>
          </a:p>
        </p:txBody>
      </p:sp>
      <p:sp>
        <p:nvSpPr>
          <p:cNvPr id="22" name="Rounded Rectangle 21"/>
          <p:cNvSpPr/>
          <p:nvPr/>
        </p:nvSpPr>
        <p:spPr>
          <a:xfrm>
            <a:off x="6263640" y="3566160"/>
            <a:ext cx="2560320" cy="1691640"/>
          </a:xfrm>
          <a:prstGeom prst="roundRect">
            <a:avLst>
              <a:gd name="adj" fmla="val 6000"/>
            </a:avLst>
          </a:prstGeom>
          <a:solidFill>
            <a:srgbClr val="EE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428231" y="3675887"/>
            <a:ext cx="2240280" cy="365760"/>
          </a:xfrm>
          <a:prstGeom prst="rect">
            <a:avLst/>
          </a:prstGeom>
          <a:noFill/>
        </p:spPr>
        <p:txBody>
          <a:bodyPr wrap="square" lIns="36576" rIns="36576" tIns="18288" bIns="18288" anchor="t">
            <a:spAutoFit/>
          </a:bodyPr>
          <a:lstStyle/>
          <a:p>
            <a:pPr algn="l">
              <a:lnSpc>
                <a:spcPct val="100000"/>
              </a:lnSpc>
              <a:spcAft>
                <a:spcPts val="0"/>
              </a:spcAft>
            </a:pPr>
            <a:r>
              <a:rPr sz="1700" b="1" i="0">
                <a:solidFill>
                  <a:srgbClr val="3333CC"/>
                </a:solidFill>
                <a:latin typeface="Book Antiqua"/>
              </a:rPr>
              <a:t>Email</a:t>
            </a:r>
          </a:p>
        </p:txBody>
      </p:sp>
      <p:sp>
        <p:nvSpPr>
          <p:cNvPr id="24" name="TextBox 23"/>
          <p:cNvSpPr txBox="1"/>
          <p:nvPr/>
        </p:nvSpPr>
        <p:spPr>
          <a:xfrm>
            <a:off x="6428231" y="4069080"/>
            <a:ext cx="2240280" cy="1143000"/>
          </a:xfrm>
          <a:prstGeom prst="rect">
            <a:avLst/>
          </a:prstGeom>
          <a:noFill/>
        </p:spPr>
        <p:txBody>
          <a:bodyPr wrap="square" lIns="36576" rIns="36576" tIns="18288" bIns="18288" anchor="t">
            <a:spAutoFit/>
          </a:bodyPr>
          <a:lstStyle/>
          <a:p>
            <a:pPr algn="l">
              <a:lnSpc>
                <a:spcPct val="100000"/>
              </a:lnSpc>
              <a:spcAft>
                <a:spcPts val="0"/>
              </a:spcAft>
            </a:pPr>
            <a:r>
              <a:rPr sz="1300" b="0" i="0">
                <a:solidFill>
                  <a:srgbClr val="1C1E2B"/>
                </a:solidFill>
                <a:latin typeface="Book Antiqua"/>
              </a:rPr>
              <a:t>Ticket queues answered within hours, e.g. 90% within 4 h</a:t>
            </a:r>
          </a:p>
        </p:txBody>
      </p:sp>
      <p:sp>
        <p:nvSpPr>
          <p:cNvPr id="25" name="Rounded Rectangle 24"/>
          <p:cNvSpPr/>
          <p:nvPr/>
        </p:nvSpPr>
        <p:spPr>
          <a:xfrm>
            <a:off x="8961120" y="3566160"/>
            <a:ext cx="2560320" cy="1691640"/>
          </a:xfrm>
          <a:prstGeom prst="roundRect">
            <a:avLst>
              <a:gd name="adj" fmla="val 6000"/>
            </a:avLst>
          </a:prstGeom>
          <a:solidFill>
            <a:srgbClr val="EE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125712" y="3675887"/>
            <a:ext cx="2240280" cy="365760"/>
          </a:xfrm>
          <a:prstGeom prst="rect">
            <a:avLst/>
          </a:prstGeom>
          <a:noFill/>
        </p:spPr>
        <p:txBody>
          <a:bodyPr wrap="square" lIns="36576" rIns="36576" tIns="18288" bIns="18288" anchor="t">
            <a:spAutoFit/>
          </a:bodyPr>
          <a:lstStyle/>
          <a:p>
            <a:pPr algn="l">
              <a:lnSpc>
                <a:spcPct val="100000"/>
              </a:lnSpc>
              <a:spcAft>
                <a:spcPts val="0"/>
              </a:spcAft>
            </a:pPr>
            <a:r>
              <a:rPr sz="1700" b="1" i="0">
                <a:solidFill>
                  <a:srgbClr val="3333CC"/>
                </a:solidFill>
                <a:latin typeface="Book Antiqua"/>
              </a:rPr>
              <a:t>Back office</a:t>
            </a:r>
          </a:p>
        </p:txBody>
      </p:sp>
      <p:sp>
        <p:nvSpPr>
          <p:cNvPr id="27" name="TextBox 26"/>
          <p:cNvSpPr txBox="1"/>
          <p:nvPr/>
        </p:nvSpPr>
        <p:spPr>
          <a:xfrm>
            <a:off x="9125712" y="4069080"/>
            <a:ext cx="2240280" cy="1143000"/>
          </a:xfrm>
          <a:prstGeom prst="rect">
            <a:avLst/>
          </a:prstGeom>
          <a:noFill/>
        </p:spPr>
        <p:txBody>
          <a:bodyPr wrap="square" lIns="36576" rIns="36576" tIns="18288" bIns="18288" anchor="t">
            <a:spAutoFit/>
          </a:bodyPr>
          <a:lstStyle/>
          <a:p>
            <a:pPr algn="l">
              <a:lnSpc>
                <a:spcPct val="100000"/>
              </a:lnSpc>
              <a:spcAft>
                <a:spcPts val="0"/>
              </a:spcAft>
            </a:pPr>
            <a:r>
              <a:rPr sz="1300" b="0" i="0">
                <a:solidFill>
                  <a:srgbClr val="1C1E2B"/>
                </a:solidFill>
                <a:latin typeface="Book Antiqua"/>
              </a:rPr>
              <a:t>Case processing such as KYC checks, judged on turnaround time</a:t>
            </a:r>
          </a:p>
        </p:txBody>
      </p:sp>
      <p:sp>
        <p:nvSpPr>
          <p:cNvPr id="28" name="TextBox 27"/>
          <p:cNvSpPr txBox="1"/>
          <p:nvPr/>
        </p:nvSpPr>
        <p:spPr>
          <a:xfrm>
            <a:off x="6263640" y="5440680"/>
            <a:ext cx="5257800" cy="548640"/>
          </a:xfrm>
          <a:prstGeom prst="rect">
            <a:avLst/>
          </a:prstGeom>
          <a:noFill/>
        </p:spPr>
        <p:txBody>
          <a:bodyPr wrap="square" lIns="36576" rIns="36576" tIns="18288" bIns="18288" anchor="t">
            <a:spAutoFit/>
          </a:bodyPr>
          <a:lstStyle/>
          <a:p>
            <a:pPr algn="l">
              <a:lnSpc>
                <a:spcPct val="100000"/>
              </a:lnSpc>
              <a:spcAft>
                <a:spcPts val="600"/>
              </a:spcAft>
            </a:pPr>
            <a:r>
              <a:rPr sz="1200" b="0" i="1">
                <a:solidFill>
                  <a:srgbClr val="555A6B"/>
                </a:solidFill>
                <a:latin typeface="Book Antiqua"/>
              </a:rPr>
              <a:t>Service lines covered in the induction (15 May) and the domain session (2 June)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Rectangle 4"/>
          <p:cNvSpPr txBox="1">
            <a:spLocks noChangeArrowheads="1"/>
          </p:cNvSpPr>
          <p:nvPr/>
        </p:nvSpPr>
        <p:spPr>
          <a:xfrm>
            <a:off x="0" y="0"/>
            <a:ext cx="12192000" cy="1447800"/>
          </a:xfrm>
          <a:prstGeom prst="rect">
            <a:avLst/>
          </a:prstGeom>
          <a:solidFill>
            <a:srgbClr val="3333CC"/>
          </a:solid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IN" sz="3600" b="1" dirty="0">
                <a:solidFill>
                  <a:schemeClr val="bg1"/>
                </a:solidFill>
                <a:effectLst/>
                <a:latin typeface="Book Antiqua" panose="02040602050305030304" pitchFamily="18" charset="0"/>
                <a:ea typeface="Calibri" panose="020F0502020204030204" pitchFamily="34" charset="0"/>
                <a:cs typeface="Times New Roman" panose="02020603050405020304" pitchFamily="18" charset="0"/>
              </a:rPr>
              <a:t>Certificate (Period of Study)</a:t>
            </a:r>
            <a:endParaRPr lang="en-IN" sz="5300" dirty="0">
              <a:solidFill>
                <a:schemeClr val="bg1"/>
              </a:solidFill>
              <a:latin typeface="Book Antiqua" panose="0204060205030503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96107A40-7FD5-436B-B3DD-01066071B37C}" type="slidenum">
              <a:rPr lang="en-IN">
                <a:solidFill>
                  <a:prstClr val="black">
                    <a:tint val="75000"/>
                  </a:prstClr>
                </a:solidFill>
                <a:latin typeface="Calibri"/>
              </a:rPr>
              <a:pPr/>
              <a:t>2</a:t>
            </a:fld>
            <a:endParaRPr lang="en-IN">
              <a:solidFill>
                <a:prstClr val="black">
                  <a:tint val="75000"/>
                </a:prstClr>
              </a:solidFill>
              <a:latin typeface="Calibri"/>
            </a:endParaRPr>
          </a:p>
        </p:txBody>
      </p:sp>
      <p:sp>
        <p:nvSpPr>
          <p:cNvPr id="14" name="Footer Placeholder 13">
            <a:extLst>
              <a:ext uri="{FF2B5EF4-FFF2-40B4-BE49-F238E27FC236}">
                <a16:creationId xmlns:a16="http://schemas.microsoft.com/office/drawing/2014/main" id="{3F853E6F-A98E-C7D3-91D3-2AF29EC3AD65}"/>
              </a:ext>
            </a:extLst>
          </p:cNvPr>
          <p:cNvSpPr>
            <a:spLocks noGrp="1"/>
          </p:cNvSpPr>
          <p:nvPr>
            <p:ph type="ftr" sz="quarter" idx="11"/>
          </p:nvPr>
        </p:nvSpPr>
        <p:spPr>
          <a:xfrm>
            <a:off x="4038600" y="6356350"/>
            <a:ext cx="5668108" cy="365125"/>
          </a:xfrm>
        </p:spPr>
        <p:txBody>
          <a:bodyPr/>
          <a:lstStyle/>
          <a:p>
            <a:r>
              <a:rPr lang="en-IN" sz="1200" b="1" dirty="0">
                <a:latin typeface="Book Antiqua" panose="02040602050305030304" pitchFamily="18" charset="0"/>
                <a:cs typeface="Times New Roman" panose="02020603050405020304" pitchFamily="18" charset="0"/>
              </a:rPr>
              <a:t>SHARAN K        23BDS1153</a:t>
            </a:r>
            <a:endParaRPr lang="en-IN" sz="1200" b="1" dirty="0">
              <a:solidFill>
                <a:schemeClr val="tx1"/>
              </a:solidFill>
              <a:latin typeface="Book Antiqua" panose="02040602050305030304" pitchFamily="18" charset="0"/>
              <a:cs typeface="Times New Roman" panose="02020603050405020304" pitchFamily="18" charset="0"/>
            </a:endParaRPr>
          </a:p>
          <a:p>
            <a:endParaRPr lang="en-US" dirty="0"/>
          </a:p>
        </p:txBody>
      </p:sp>
      <p:pic>
        <p:nvPicPr>
          <p:cNvPr id="15" name="Picture 14" descr="letter.png"/>
          <p:cNvPicPr>
            <a:picLocks noChangeAspect="1"/>
          </p:cNvPicPr>
          <p:nvPr/>
        </p:nvPicPr>
        <p:blipFill>
          <a:blip r:embed="rId2"/>
          <a:stretch>
            <a:fillRect/>
          </a:stretch>
        </p:blipFill>
        <p:spPr>
          <a:xfrm>
            <a:off x="548640" y="1645920"/>
            <a:ext cx="3528710" cy="4572000"/>
          </a:xfrm>
          <a:prstGeom prst="rect">
            <a:avLst/>
          </a:prstGeom>
          <a:ln w="9525">
            <a:solidFill>
              <a:srgbClr val="D5D7EE"/>
            </a:solidFill>
          </a:ln>
        </p:spPr>
      </p:pic>
      <p:graphicFrame>
        <p:nvGraphicFramePr>
          <p:cNvPr id="16" name="Table 15"/>
          <p:cNvGraphicFramePr>
            <a:graphicFrameLocks noGrp="1"/>
          </p:cNvGraphicFramePr>
          <p:nvPr/>
        </p:nvGraphicFramePr>
        <p:xfrm>
          <a:off x="4572000" y="1783080"/>
          <a:ext cx="7040879" cy="3703320"/>
        </p:xfrm>
        <a:graphic>
          <a:graphicData uri="http://schemas.openxmlformats.org/drawingml/2006/table">
            <a:tbl>
              <a:tblPr firstRow="1" bandRow="1">
                <a:tableStyleId>{5C22544A-7EE6-4342-B048-85BDC9FD1C3A}</a:tableStyleId>
              </a:tblPr>
              <a:tblGrid>
                <a:gridCol w="1817001"/>
                <a:gridCol w="5223878"/>
              </a:tblGrid>
              <a:tr h="457200">
                <a:tc>
                  <a:txBody>
                    <a:bodyPr wrap="square"/>
                    <a:lstStyle/>
                    <a:p>
                      <a:r>
                        <a:rPr sz="1400" b="1" i="0">
                          <a:solidFill>
                            <a:srgbClr val="FFFFFF"/>
                          </a:solidFill>
                          <a:latin typeface="Book Antiqua"/>
                        </a:rPr>
                        <a:t>Item</a:t>
                      </a:r>
                    </a:p>
                  </a:txBody>
                  <a:tcPr marL="73152" marR="73152" marT="27432" marB="27432" anchor="ctr">
                    <a:solidFill>
                      <a:srgbClr val="3333CC"/>
                    </a:solidFill>
                  </a:tcPr>
                </a:tc>
                <a:tc>
                  <a:txBody>
                    <a:bodyPr wrap="square"/>
                    <a:lstStyle/>
                    <a:p>
                      <a:r>
                        <a:rPr sz="1400" b="1" i="0">
                          <a:solidFill>
                            <a:srgbClr val="FFFFFF"/>
                          </a:solidFill>
                          <a:latin typeface="Book Antiqua"/>
                        </a:rPr>
                        <a:t>Detail</a:t>
                      </a:r>
                    </a:p>
                  </a:txBody>
                  <a:tcPr marL="73152" marR="73152" marT="27432" marB="27432" anchor="ctr">
                    <a:solidFill>
                      <a:srgbClr val="3333CC"/>
                    </a:solidFill>
                  </a:tcPr>
                </a:tc>
              </a:tr>
              <a:tr h="457200">
                <a:tc>
                  <a:txBody>
                    <a:bodyPr wrap="square"/>
                    <a:lstStyle/>
                    <a:p>
                      <a:r>
                        <a:rPr sz="1400" b="0" i="0">
                          <a:solidFill>
                            <a:srgbClr val="1C1E2B"/>
                          </a:solidFill>
                          <a:latin typeface="Book Antiqua"/>
                        </a:rPr>
                        <a:t>Name</a:t>
                      </a:r>
                    </a:p>
                  </a:txBody>
                  <a:tcPr marL="73152" marR="73152" marT="27432" marB="27432" anchor="ctr">
                    <a:solidFill>
                      <a:srgbClr val="FFFFFF"/>
                    </a:solidFill>
                  </a:tcPr>
                </a:tc>
                <a:tc>
                  <a:txBody>
                    <a:bodyPr wrap="square"/>
                    <a:lstStyle/>
                    <a:p>
                      <a:r>
                        <a:rPr sz="1400" b="0" i="0">
                          <a:solidFill>
                            <a:srgbClr val="1C1E2B"/>
                          </a:solidFill>
                          <a:latin typeface="Book Antiqua"/>
                        </a:rPr>
                        <a:t>Sharan K</a:t>
                      </a:r>
                    </a:p>
                  </a:txBody>
                  <a:tcPr marL="73152" marR="73152" marT="27432" marB="27432" anchor="ctr">
                    <a:solidFill>
                      <a:srgbClr val="FFFFFF"/>
                    </a:solidFill>
                  </a:tcPr>
                </a:tc>
              </a:tr>
              <a:tr h="457200">
                <a:tc>
                  <a:txBody>
                    <a:bodyPr wrap="square"/>
                    <a:lstStyle/>
                    <a:p>
                      <a:r>
                        <a:rPr sz="1400" b="0" i="0">
                          <a:solidFill>
                            <a:srgbClr val="1C1E2B"/>
                          </a:solidFill>
                          <a:latin typeface="Book Antiqua"/>
                        </a:rPr>
                        <a:t>Intern ID</a:t>
                      </a:r>
                    </a:p>
                  </a:txBody>
                  <a:tcPr marL="73152" marR="73152" marT="27432" marB="27432" anchor="ctr">
                    <a:solidFill>
                      <a:srgbClr val="EEEFFB"/>
                    </a:solidFill>
                  </a:tcPr>
                </a:tc>
                <a:tc>
                  <a:txBody>
                    <a:bodyPr wrap="square"/>
                    <a:lstStyle/>
                    <a:p>
                      <a:r>
                        <a:rPr sz="1400" b="0" i="0">
                          <a:solidFill>
                            <a:srgbClr val="1C1E2B"/>
                          </a:solidFill>
                          <a:latin typeface="Book Antiqua"/>
                        </a:rPr>
                        <a:t>IGS1022</a:t>
                      </a:r>
                    </a:p>
                  </a:txBody>
                  <a:tcPr marL="73152" marR="73152" marT="27432" marB="27432" anchor="ctr">
                    <a:solidFill>
                      <a:srgbClr val="EEEFFB"/>
                    </a:solidFill>
                  </a:tcPr>
                </a:tc>
              </a:tr>
              <a:tr h="457200">
                <a:tc>
                  <a:txBody>
                    <a:bodyPr wrap="square"/>
                    <a:lstStyle/>
                    <a:p>
                      <a:r>
                        <a:rPr sz="1400" b="0" i="0">
                          <a:solidFill>
                            <a:srgbClr val="1C1E2B"/>
                          </a:solidFill>
                          <a:latin typeface="Book Antiqua"/>
                        </a:rPr>
                        <a:t>Role</a:t>
                      </a:r>
                    </a:p>
                  </a:txBody>
                  <a:tcPr marL="73152" marR="73152" marT="27432" marB="27432" anchor="ctr">
                    <a:solidFill>
                      <a:srgbClr val="FFFFFF"/>
                    </a:solidFill>
                  </a:tcPr>
                </a:tc>
                <a:tc>
                  <a:txBody>
                    <a:bodyPr wrap="square"/>
                    <a:lstStyle/>
                    <a:p>
                      <a:r>
                        <a:rPr sz="1400" b="0" i="0">
                          <a:solidFill>
                            <a:srgbClr val="1C1E2B"/>
                          </a:solidFill>
                          <a:latin typeface="Book Antiqua"/>
                        </a:rPr>
                        <a:t>Data &amp; AI Intern</a:t>
                      </a:r>
                    </a:p>
                  </a:txBody>
                  <a:tcPr marL="73152" marR="73152" marT="27432" marB="27432" anchor="ctr">
                    <a:solidFill>
                      <a:srgbClr val="FFFFFF"/>
                    </a:solidFill>
                  </a:tcPr>
                </a:tc>
              </a:tr>
              <a:tr h="457200">
                <a:tc>
                  <a:txBody>
                    <a:bodyPr wrap="square"/>
                    <a:lstStyle/>
                    <a:p>
                      <a:r>
                        <a:rPr sz="1400" b="0" i="0">
                          <a:solidFill>
                            <a:srgbClr val="1C1E2B"/>
                          </a:solidFill>
                          <a:latin typeface="Book Antiqua"/>
                        </a:rPr>
                        <a:t>Organisation</a:t>
                      </a:r>
                    </a:p>
                  </a:txBody>
                  <a:tcPr marL="73152" marR="73152" marT="27432" marB="27432" anchor="ctr">
                    <a:solidFill>
                      <a:srgbClr val="EEEFFB"/>
                    </a:solidFill>
                  </a:tcPr>
                </a:tc>
                <a:tc>
                  <a:txBody>
                    <a:bodyPr wrap="square"/>
                    <a:lstStyle/>
                    <a:p>
                      <a:r>
                        <a:rPr sz="1400" b="0" i="0">
                          <a:solidFill>
                            <a:srgbClr val="1C1E2B"/>
                          </a:solidFill>
                          <a:latin typeface="Book Antiqua"/>
                        </a:rPr>
                        <a:t>BPO Integra India Private Limited, Chennai</a:t>
                      </a:r>
                    </a:p>
                  </a:txBody>
                  <a:tcPr marL="73152" marR="73152" marT="27432" marB="27432" anchor="ctr">
                    <a:solidFill>
                      <a:srgbClr val="EEEFFB"/>
                    </a:solidFill>
                  </a:tcPr>
                </a:tc>
              </a:tr>
              <a:tr h="457200">
                <a:tc>
                  <a:txBody>
                    <a:bodyPr wrap="square"/>
                    <a:lstStyle/>
                    <a:p>
                      <a:r>
                        <a:rPr sz="1400" b="0" i="0">
                          <a:solidFill>
                            <a:srgbClr val="1C1E2B"/>
                          </a:solidFill>
                          <a:latin typeface="Book Antiqua"/>
                        </a:rPr>
                        <a:t>Period of study</a:t>
                      </a:r>
                    </a:p>
                  </a:txBody>
                  <a:tcPr marL="73152" marR="73152" marT="27432" marB="27432" anchor="ctr">
                    <a:solidFill>
                      <a:srgbClr val="FFFFFF"/>
                    </a:solidFill>
                  </a:tcPr>
                </a:tc>
                <a:tc>
                  <a:txBody>
                    <a:bodyPr wrap="square"/>
                    <a:lstStyle/>
                    <a:p>
                      <a:r>
                        <a:rPr sz="1400" b="0" i="0">
                          <a:solidFill>
                            <a:srgbClr val="1C1E2B"/>
                          </a:solidFill>
                          <a:latin typeface="Book Antiqua"/>
                        </a:rPr>
                        <a:t>15 May 2026 to 30 June 2026 (47 days)</a:t>
                      </a:r>
                    </a:p>
                  </a:txBody>
                  <a:tcPr marL="73152" marR="73152" marT="27432" marB="27432" anchor="ctr">
                    <a:solidFill>
                      <a:srgbClr val="FFFFFF"/>
                    </a:solidFill>
                  </a:tcPr>
                </a:tc>
              </a:tr>
              <a:tr h="960120">
                <a:tc>
                  <a:txBody>
                    <a:bodyPr wrap="square"/>
                    <a:lstStyle/>
                    <a:p>
                      <a:r>
                        <a:rPr sz="1400" b="0" i="0">
                          <a:solidFill>
                            <a:srgbClr val="1C1E2B"/>
                          </a:solidFill>
                          <a:latin typeface="Book Antiqua"/>
                        </a:rPr>
                        <a:t>Recognised work</a:t>
                      </a:r>
                    </a:p>
                  </a:txBody>
                  <a:tcPr marL="73152" marR="73152" marT="27432" marB="27432" anchor="ctr">
                    <a:solidFill>
                      <a:srgbClr val="EEEFFB"/>
                    </a:solidFill>
                  </a:tcPr>
                </a:tc>
                <a:tc>
                  <a:txBody>
                    <a:bodyPr wrap="square"/>
                    <a:lstStyle/>
                    <a:p>
                      <a:r>
                        <a:rPr sz="1400" b="0" i="0">
                          <a:solidFill>
                            <a:srgbClr val="1C1E2B"/>
                          </a:solidFill>
                          <a:latin typeface="Book Antiqua"/>
                        </a:rPr>
                        <a:t>Operations Intelligence Platform: SQL data processing, data analysis, dashboards, predictive analytics, root-cause analysis, LLM recommendation module (RAG)</a:t>
                      </a:r>
                    </a:p>
                  </a:txBody>
                  <a:tcPr marL="73152" marR="73152" marT="27432" marB="27432" anchor="ctr">
                    <a:solidFill>
                      <a:srgbClr val="EEEFFB"/>
                    </a:solidFill>
                  </a:tcPr>
                </a:tc>
              </a:tr>
            </a:tbl>
          </a:graphicData>
        </a:graphic>
      </p:graphicFrame>
      <p:sp>
        <p:nvSpPr>
          <p:cNvPr id="17" name="TextBox 16"/>
          <p:cNvSpPr txBox="1"/>
          <p:nvPr/>
        </p:nvSpPr>
        <p:spPr>
          <a:xfrm>
            <a:off x="4572000" y="5532120"/>
            <a:ext cx="7040880" cy="548640"/>
          </a:xfrm>
          <a:prstGeom prst="rect">
            <a:avLst/>
          </a:prstGeom>
          <a:noFill/>
        </p:spPr>
        <p:txBody>
          <a:bodyPr wrap="square" lIns="36576" rIns="36576" tIns="18288" bIns="18288" anchor="t">
            <a:spAutoFit/>
          </a:bodyPr>
          <a:lstStyle/>
          <a:p>
            <a:pPr algn="l">
              <a:lnSpc>
                <a:spcPct val="100000"/>
              </a:lnSpc>
              <a:spcAft>
                <a:spcPts val="600"/>
              </a:spcAft>
            </a:pPr>
            <a:r>
              <a:rPr sz="1300" b="0" i="1">
                <a:solidFill>
                  <a:srgbClr val="555A6B"/>
                </a:solidFill>
                <a:latin typeface="Book Antiqua"/>
              </a:rPr>
              <a:t>Original internship completion letter and daily activity log available for verification.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Rectangle 4"/>
          <p:cNvSpPr txBox="1">
            <a:spLocks noChangeArrowheads="1"/>
          </p:cNvSpPr>
          <p:nvPr/>
        </p:nvSpPr>
        <p:spPr>
          <a:xfrm>
            <a:off x="0" y="0"/>
            <a:ext cx="12192000" cy="1447800"/>
          </a:xfrm>
          <a:prstGeom prst="rect">
            <a:avLst/>
          </a:prstGeom>
          <a:solidFill>
            <a:srgbClr val="3333CC"/>
          </a:solid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IN" sz="3600" b="1" dirty="0">
                <a:solidFill>
                  <a:schemeClr val="bg1"/>
                </a:solidFill>
                <a:effectLst/>
                <a:latin typeface="Book Antiqua" panose="02040602050305030304" pitchFamily="18" charset="0"/>
                <a:ea typeface="Calibri" panose="020F0502020204030204" pitchFamily="34" charset="0"/>
                <a:cs typeface="Times New Roman" panose="02020603050405020304" pitchFamily="18" charset="0"/>
              </a:rPr>
              <a:t>Skills Acquired During the Internship</a:t>
            </a:r>
            <a:endParaRPr lang="en-IN" sz="5300" dirty="0">
              <a:solidFill>
                <a:schemeClr val="bg1"/>
              </a:solidFill>
              <a:latin typeface="Book Antiqua" panose="0204060205030503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96107A40-7FD5-436B-B3DD-01066071B37C}" type="slidenum">
              <a:rPr lang="en-IN">
                <a:solidFill>
                  <a:prstClr val="black">
                    <a:tint val="75000"/>
                  </a:prstClr>
                </a:solidFill>
                <a:latin typeface="Calibri"/>
              </a:rPr>
              <a:pPr/>
              <a:t>2</a:t>
            </a:fld>
            <a:endParaRPr lang="en-IN">
              <a:solidFill>
                <a:prstClr val="black">
                  <a:tint val="75000"/>
                </a:prstClr>
              </a:solidFill>
              <a:latin typeface="Calibri"/>
            </a:endParaRPr>
          </a:p>
        </p:txBody>
      </p:sp>
      <p:sp>
        <p:nvSpPr>
          <p:cNvPr id="14" name="Footer Placeholder 13">
            <a:extLst>
              <a:ext uri="{FF2B5EF4-FFF2-40B4-BE49-F238E27FC236}">
                <a16:creationId xmlns:a16="http://schemas.microsoft.com/office/drawing/2014/main" id="{3F853E6F-A98E-C7D3-91D3-2AF29EC3AD65}"/>
              </a:ext>
            </a:extLst>
          </p:cNvPr>
          <p:cNvSpPr>
            <a:spLocks noGrp="1"/>
          </p:cNvSpPr>
          <p:nvPr>
            <p:ph type="ftr" sz="quarter" idx="11"/>
          </p:nvPr>
        </p:nvSpPr>
        <p:spPr>
          <a:xfrm>
            <a:off x="4038600" y="6356350"/>
            <a:ext cx="5668108" cy="365125"/>
          </a:xfrm>
        </p:spPr>
        <p:txBody>
          <a:bodyPr/>
          <a:lstStyle/>
          <a:p>
            <a:r>
              <a:rPr lang="en-IN" sz="1200" b="1" dirty="0">
                <a:latin typeface="Book Antiqua" panose="02040602050305030304" pitchFamily="18" charset="0"/>
                <a:cs typeface="Times New Roman" panose="02020603050405020304" pitchFamily="18" charset="0"/>
              </a:rPr>
              <a:t>SHARAN K        23BDS1153</a:t>
            </a:r>
            <a:endParaRPr lang="en-IN" sz="1200" b="1" dirty="0">
              <a:solidFill>
                <a:schemeClr val="tx1"/>
              </a:solidFill>
              <a:latin typeface="Book Antiqua" panose="02040602050305030304" pitchFamily="18" charset="0"/>
              <a:cs typeface="Times New Roman" panose="02020603050405020304" pitchFamily="18" charset="0"/>
            </a:endParaRPr>
          </a:p>
          <a:p>
            <a:endParaRPr lang="en-US" dirty="0"/>
          </a:p>
        </p:txBody>
      </p:sp>
      <p:sp>
        <p:nvSpPr>
          <p:cNvPr id="15" name="Rounded Rectangle 14"/>
          <p:cNvSpPr/>
          <p:nvPr/>
        </p:nvSpPr>
        <p:spPr>
          <a:xfrm>
            <a:off x="548640" y="1691640"/>
            <a:ext cx="2651760" cy="1645920"/>
          </a:xfrm>
          <a:prstGeom prst="roundRect">
            <a:avLst>
              <a:gd name="adj" fmla="val 6000"/>
            </a:avLst>
          </a:prstGeom>
          <a:solidFill>
            <a:srgbClr val="EE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85800" y="1783080"/>
            <a:ext cx="2377440" cy="411480"/>
          </a:xfrm>
          <a:prstGeom prst="rect">
            <a:avLst/>
          </a:prstGeom>
          <a:noFill/>
        </p:spPr>
        <p:txBody>
          <a:bodyPr wrap="square" lIns="36576" rIns="36576" tIns="18288" bIns="18288" anchor="t">
            <a:spAutoFit/>
          </a:bodyPr>
          <a:lstStyle/>
          <a:p>
            <a:pPr algn="l">
              <a:lnSpc>
                <a:spcPct val="100000"/>
              </a:lnSpc>
              <a:spcAft>
                <a:spcPts val="0"/>
              </a:spcAft>
            </a:pPr>
            <a:r>
              <a:rPr sz="1500" b="1" i="0">
                <a:solidFill>
                  <a:srgbClr val="3333CC"/>
                </a:solidFill>
                <a:latin typeface="Book Antiqua"/>
              </a:rPr>
              <a:t>SQL and data modelling</a:t>
            </a:r>
          </a:p>
        </p:txBody>
      </p:sp>
      <p:sp>
        <p:nvSpPr>
          <p:cNvPr id="17" name="TextBox 16"/>
          <p:cNvSpPr txBox="1"/>
          <p:nvPr/>
        </p:nvSpPr>
        <p:spPr>
          <a:xfrm>
            <a:off x="685800" y="2194560"/>
            <a:ext cx="2395728" cy="1097280"/>
          </a:xfrm>
          <a:prstGeom prst="rect">
            <a:avLst/>
          </a:prstGeom>
          <a:noFill/>
        </p:spPr>
        <p:txBody>
          <a:bodyPr wrap="square" lIns="36576" rIns="36576" tIns="18288" bIns="18288" anchor="t">
            <a:spAutoFit/>
          </a:bodyPr>
          <a:lstStyle/>
          <a:p>
            <a:pPr algn="l">
              <a:lnSpc>
                <a:spcPct val="100000"/>
              </a:lnSpc>
              <a:spcAft>
                <a:spcPts val="0"/>
              </a:spcAft>
            </a:pPr>
            <a:r>
              <a:rPr sz="1250" b="0" i="0">
                <a:solidFill>
                  <a:srgbClr val="1C1E2B"/>
                </a:solidFill>
                <a:latin typeface="Book Antiqua"/>
              </a:rPr>
              <a:t>Joins and cardinality, CTEs, ROW_NUMBER, RANK, AVG OVER, execution plans, indexes, star schema</a:t>
            </a:r>
          </a:p>
        </p:txBody>
      </p:sp>
      <p:sp>
        <p:nvSpPr>
          <p:cNvPr id="18" name="Rounded Rectangle 17"/>
          <p:cNvSpPr/>
          <p:nvPr/>
        </p:nvSpPr>
        <p:spPr>
          <a:xfrm>
            <a:off x="3355848" y="1691640"/>
            <a:ext cx="2651760" cy="1645920"/>
          </a:xfrm>
          <a:prstGeom prst="roundRect">
            <a:avLst>
              <a:gd name="adj" fmla="val 6000"/>
            </a:avLst>
          </a:prstGeom>
          <a:solidFill>
            <a:srgbClr val="EE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493008" y="1783080"/>
            <a:ext cx="2377440" cy="411480"/>
          </a:xfrm>
          <a:prstGeom prst="rect">
            <a:avLst/>
          </a:prstGeom>
          <a:noFill/>
        </p:spPr>
        <p:txBody>
          <a:bodyPr wrap="square" lIns="36576" rIns="36576" tIns="18288" bIns="18288" anchor="t">
            <a:spAutoFit/>
          </a:bodyPr>
          <a:lstStyle/>
          <a:p>
            <a:pPr algn="l">
              <a:lnSpc>
                <a:spcPct val="100000"/>
              </a:lnSpc>
              <a:spcAft>
                <a:spcPts val="0"/>
              </a:spcAft>
            </a:pPr>
            <a:r>
              <a:rPr sz="1500" b="1" i="0">
                <a:solidFill>
                  <a:srgbClr val="3333CC"/>
                </a:solidFill>
                <a:latin typeface="Book Antiqua"/>
              </a:rPr>
              <a:t>Python data processing</a:t>
            </a:r>
          </a:p>
        </p:txBody>
      </p:sp>
      <p:sp>
        <p:nvSpPr>
          <p:cNvPr id="20" name="TextBox 19"/>
          <p:cNvSpPr txBox="1"/>
          <p:nvPr/>
        </p:nvSpPr>
        <p:spPr>
          <a:xfrm>
            <a:off x="3493008" y="2194560"/>
            <a:ext cx="2395728" cy="1097280"/>
          </a:xfrm>
          <a:prstGeom prst="rect">
            <a:avLst/>
          </a:prstGeom>
          <a:noFill/>
        </p:spPr>
        <p:txBody>
          <a:bodyPr wrap="square" lIns="36576" rIns="36576" tIns="18288" bIns="18288" anchor="t">
            <a:spAutoFit/>
          </a:bodyPr>
          <a:lstStyle/>
          <a:p>
            <a:pPr algn="l">
              <a:lnSpc>
                <a:spcPct val="100000"/>
              </a:lnSpc>
              <a:spcAft>
                <a:spcPts val="0"/>
              </a:spcAft>
            </a:pPr>
            <a:r>
              <a:rPr sz="1250" b="0" i="0">
                <a:solidFill>
                  <a:srgbClr val="1C1E2B"/>
                </a:solidFill>
                <a:latin typeface="Book Antiqua"/>
              </a:rPr>
              <a:t>pandas and SQLAlchemy: profiling, imputation, mapping dictionaries, IQR outliers, reconciliation</a:t>
            </a:r>
          </a:p>
        </p:txBody>
      </p:sp>
      <p:sp>
        <p:nvSpPr>
          <p:cNvPr id="21" name="Rounded Rectangle 20"/>
          <p:cNvSpPr/>
          <p:nvPr/>
        </p:nvSpPr>
        <p:spPr>
          <a:xfrm>
            <a:off x="6163055" y="1691640"/>
            <a:ext cx="2651760" cy="1645920"/>
          </a:xfrm>
          <a:prstGeom prst="roundRect">
            <a:avLst>
              <a:gd name="adj" fmla="val 6000"/>
            </a:avLst>
          </a:prstGeom>
          <a:solidFill>
            <a:srgbClr val="EE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00216" y="1783080"/>
            <a:ext cx="2377440" cy="411480"/>
          </a:xfrm>
          <a:prstGeom prst="rect">
            <a:avLst/>
          </a:prstGeom>
          <a:noFill/>
        </p:spPr>
        <p:txBody>
          <a:bodyPr wrap="square" lIns="36576" rIns="36576" tIns="18288" bIns="18288" anchor="t">
            <a:spAutoFit/>
          </a:bodyPr>
          <a:lstStyle/>
          <a:p>
            <a:pPr algn="l">
              <a:lnSpc>
                <a:spcPct val="100000"/>
              </a:lnSpc>
              <a:spcAft>
                <a:spcPts val="0"/>
              </a:spcAft>
            </a:pPr>
            <a:r>
              <a:rPr sz="1500" b="1" i="0">
                <a:solidFill>
                  <a:srgbClr val="3333CC"/>
                </a:solidFill>
                <a:latin typeface="Book Antiqua"/>
              </a:rPr>
              <a:t>Power BI</a:t>
            </a:r>
          </a:p>
        </p:txBody>
      </p:sp>
      <p:sp>
        <p:nvSpPr>
          <p:cNvPr id="23" name="TextBox 22"/>
          <p:cNvSpPr txBox="1"/>
          <p:nvPr/>
        </p:nvSpPr>
        <p:spPr>
          <a:xfrm>
            <a:off x="6300216" y="2194560"/>
            <a:ext cx="2395728" cy="1097280"/>
          </a:xfrm>
          <a:prstGeom prst="rect">
            <a:avLst/>
          </a:prstGeom>
          <a:noFill/>
        </p:spPr>
        <p:txBody>
          <a:bodyPr wrap="square" lIns="36576" rIns="36576" tIns="18288" bIns="18288" anchor="t">
            <a:spAutoFit/>
          </a:bodyPr>
          <a:lstStyle/>
          <a:p>
            <a:pPr algn="l">
              <a:lnSpc>
                <a:spcPct val="100000"/>
              </a:lnSpc>
              <a:spcAft>
                <a:spcPts val="0"/>
              </a:spcAft>
            </a:pPr>
            <a:r>
              <a:rPr sz="1250" b="0" i="0">
                <a:solidFill>
                  <a:srgbClr val="1C1E2B"/>
                </a:solidFill>
                <a:latin typeface="Book Antiqua"/>
              </a:rPr>
              <a:t>Star-schema model, date table, Power Query, DAX with CALCULATE and time intelligence, slicers, RLS</a:t>
            </a:r>
          </a:p>
        </p:txBody>
      </p:sp>
      <p:sp>
        <p:nvSpPr>
          <p:cNvPr id="24" name="Rounded Rectangle 23"/>
          <p:cNvSpPr/>
          <p:nvPr/>
        </p:nvSpPr>
        <p:spPr>
          <a:xfrm>
            <a:off x="8970263" y="1691640"/>
            <a:ext cx="2651760" cy="1645920"/>
          </a:xfrm>
          <a:prstGeom prst="roundRect">
            <a:avLst>
              <a:gd name="adj" fmla="val 6000"/>
            </a:avLst>
          </a:prstGeom>
          <a:solidFill>
            <a:srgbClr val="EE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107424" y="1783080"/>
            <a:ext cx="2377440" cy="411480"/>
          </a:xfrm>
          <a:prstGeom prst="rect">
            <a:avLst/>
          </a:prstGeom>
          <a:noFill/>
        </p:spPr>
        <p:txBody>
          <a:bodyPr wrap="square" lIns="36576" rIns="36576" tIns="18288" bIns="18288" anchor="t">
            <a:spAutoFit/>
          </a:bodyPr>
          <a:lstStyle/>
          <a:p>
            <a:pPr algn="l">
              <a:lnSpc>
                <a:spcPct val="100000"/>
              </a:lnSpc>
              <a:spcAft>
                <a:spcPts val="0"/>
              </a:spcAft>
            </a:pPr>
            <a:r>
              <a:rPr sz="1500" b="1" i="0">
                <a:solidFill>
                  <a:srgbClr val="3333CC"/>
                </a:solidFill>
                <a:latin typeface="Book Antiqua"/>
              </a:rPr>
              <a:t>Statistics and RCA</a:t>
            </a:r>
          </a:p>
        </p:txBody>
      </p:sp>
      <p:sp>
        <p:nvSpPr>
          <p:cNvPr id="26" name="TextBox 25"/>
          <p:cNvSpPr txBox="1"/>
          <p:nvPr/>
        </p:nvSpPr>
        <p:spPr>
          <a:xfrm>
            <a:off x="9107424" y="2194560"/>
            <a:ext cx="2395728" cy="1097280"/>
          </a:xfrm>
          <a:prstGeom prst="rect">
            <a:avLst/>
          </a:prstGeom>
          <a:noFill/>
        </p:spPr>
        <p:txBody>
          <a:bodyPr wrap="square" lIns="36576" rIns="36576" tIns="18288" bIns="18288" anchor="t">
            <a:spAutoFit/>
          </a:bodyPr>
          <a:lstStyle/>
          <a:p>
            <a:pPr algn="l">
              <a:lnSpc>
                <a:spcPct val="100000"/>
              </a:lnSpc>
              <a:spcAft>
                <a:spcPts val="0"/>
              </a:spcAft>
            </a:pPr>
            <a:r>
              <a:rPr sz="1250" b="0" i="0">
                <a:solidFill>
                  <a:srgbClr val="1C1E2B"/>
                </a:solidFill>
                <a:latin typeface="Book Antiqua"/>
              </a:rPr>
              <a:t>Pareto analysis, hypothesis tests, change points, Erlang C queueing</a:t>
            </a:r>
          </a:p>
        </p:txBody>
      </p:sp>
      <p:sp>
        <p:nvSpPr>
          <p:cNvPr id="27" name="Rounded Rectangle 26"/>
          <p:cNvSpPr/>
          <p:nvPr/>
        </p:nvSpPr>
        <p:spPr>
          <a:xfrm>
            <a:off x="548640" y="3474720"/>
            <a:ext cx="2651760" cy="1645920"/>
          </a:xfrm>
          <a:prstGeom prst="roundRect">
            <a:avLst>
              <a:gd name="adj" fmla="val 6000"/>
            </a:avLst>
          </a:prstGeom>
          <a:solidFill>
            <a:srgbClr val="EE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85800" y="3566160"/>
            <a:ext cx="2377440" cy="411480"/>
          </a:xfrm>
          <a:prstGeom prst="rect">
            <a:avLst/>
          </a:prstGeom>
          <a:noFill/>
        </p:spPr>
        <p:txBody>
          <a:bodyPr wrap="square" lIns="36576" rIns="36576" tIns="18288" bIns="18288" anchor="t">
            <a:spAutoFit/>
          </a:bodyPr>
          <a:lstStyle/>
          <a:p>
            <a:pPr algn="l">
              <a:lnSpc>
                <a:spcPct val="100000"/>
              </a:lnSpc>
              <a:spcAft>
                <a:spcPts val="0"/>
              </a:spcAft>
            </a:pPr>
            <a:r>
              <a:rPr sz="1500" b="1" i="0">
                <a:solidFill>
                  <a:srgbClr val="3333CC"/>
                </a:solidFill>
                <a:latin typeface="Book Antiqua"/>
              </a:rPr>
              <a:t>Machine learning</a:t>
            </a:r>
          </a:p>
        </p:txBody>
      </p:sp>
      <p:sp>
        <p:nvSpPr>
          <p:cNvPr id="29" name="TextBox 28"/>
          <p:cNvSpPr txBox="1"/>
          <p:nvPr/>
        </p:nvSpPr>
        <p:spPr>
          <a:xfrm>
            <a:off x="685800" y="3977639"/>
            <a:ext cx="2395728" cy="1097280"/>
          </a:xfrm>
          <a:prstGeom prst="rect">
            <a:avLst/>
          </a:prstGeom>
          <a:noFill/>
        </p:spPr>
        <p:txBody>
          <a:bodyPr wrap="square" lIns="36576" rIns="36576" tIns="18288" bIns="18288" anchor="t">
            <a:spAutoFit/>
          </a:bodyPr>
          <a:lstStyle/>
          <a:p>
            <a:pPr algn="l">
              <a:lnSpc>
                <a:spcPct val="100000"/>
              </a:lnSpc>
              <a:spcAft>
                <a:spcPts val="0"/>
              </a:spcAft>
            </a:pPr>
            <a:r>
              <a:rPr sz="1250" b="0" i="0">
                <a:solidFill>
                  <a:srgbClr val="1C1E2B"/>
                </a:solidFill>
                <a:latin typeface="Book Antiqua"/>
              </a:rPr>
              <a:t>Lag and calendar features, chronological split, baselines, random forest, MAE, RMSE, MAPE</a:t>
            </a:r>
          </a:p>
        </p:txBody>
      </p:sp>
      <p:sp>
        <p:nvSpPr>
          <p:cNvPr id="30" name="Rounded Rectangle 29"/>
          <p:cNvSpPr/>
          <p:nvPr/>
        </p:nvSpPr>
        <p:spPr>
          <a:xfrm>
            <a:off x="3355848" y="3474720"/>
            <a:ext cx="2651760" cy="1645920"/>
          </a:xfrm>
          <a:prstGeom prst="roundRect">
            <a:avLst>
              <a:gd name="adj" fmla="val 6000"/>
            </a:avLst>
          </a:prstGeom>
          <a:solidFill>
            <a:srgbClr val="EE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3493008" y="3566160"/>
            <a:ext cx="2377440" cy="411480"/>
          </a:xfrm>
          <a:prstGeom prst="rect">
            <a:avLst/>
          </a:prstGeom>
          <a:noFill/>
        </p:spPr>
        <p:txBody>
          <a:bodyPr wrap="square" lIns="36576" rIns="36576" tIns="18288" bIns="18288" anchor="t">
            <a:spAutoFit/>
          </a:bodyPr>
          <a:lstStyle/>
          <a:p>
            <a:pPr algn="l">
              <a:lnSpc>
                <a:spcPct val="100000"/>
              </a:lnSpc>
              <a:spcAft>
                <a:spcPts val="0"/>
              </a:spcAft>
            </a:pPr>
            <a:r>
              <a:rPr sz="1500" b="1" i="0">
                <a:solidFill>
                  <a:srgbClr val="3333CC"/>
                </a:solidFill>
                <a:latin typeface="Book Antiqua"/>
              </a:rPr>
              <a:t>Vision and OCR</a:t>
            </a:r>
          </a:p>
        </p:txBody>
      </p:sp>
      <p:sp>
        <p:nvSpPr>
          <p:cNvPr id="32" name="TextBox 31"/>
          <p:cNvSpPr txBox="1"/>
          <p:nvPr/>
        </p:nvSpPr>
        <p:spPr>
          <a:xfrm>
            <a:off x="3493008" y="3977639"/>
            <a:ext cx="2395728" cy="1097280"/>
          </a:xfrm>
          <a:prstGeom prst="rect">
            <a:avLst/>
          </a:prstGeom>
          <a:noFill/>
        </p:spPr>
        <p:txBody>
          <a:bodyPr wrap="square" lIns="36576" rIns="36576" tIns="18288" bIns="18288" anchor="t">
            <a:spAutoFit/>
          </a:bodyPr>
          <a:lstStyle/>
          <a:p>
            <a:pPr algn="l">
              <a:lnSpc>
                <a:spcPct val="100000"/>
              </a:lnSpc>
              <a:spcAft>
                <a:spcPts val="0"/>
              </a:spcAft>
            </a:pPr>
            <a:r>
              <a:rPr sz="1250" b="0" i="0">
                <a:solidFill>
                  <a:srgbClr val="1C1E2B"/>
                </a:solidFill>
                <a:latin typeface="Book Antiqua"/>
              </a:rPr>
              <a:t>OpenCV thresholding, deskew, morphology, Hough lines; Tesseract; regex parsing</a:t>
            </a:r>
          </a:p>
        </p:txBody>
      </p:sp>
      <p:sp>
        <p:nvSpPr>
          <p:cNvPr id="33" name="Rounded Rectangle 32"/>
          <p:cNvSpPr/>
          <p:nvPr/>
        </p:nvSpPr>
        <p:spPr>
          <a:xfrm>
            <a:off x="6163055" y="3474720"/>
            <a:ext cx="2651760" cy="1645920"/>
          </a:xfrm>
          <a:prstGeom prst="roundRect">
            <a:avLst>
              <a:gd name="adj" fmla="val 6000"/>
            </a:avLst>
          </a:prstGeom>
          <a:solidFill>
            <a:srgbClr val="EE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300216" y="3566160"/>
            <a:ext cx="2377440" cy="411480"/>
          </a:xfrm>
          <a:prstGeom prst="rect">
            <a:avLst/>
          </a:prstGeom>
          <a:noFill/>
        </p:spPr>
        <p:txBody>
          <a:bodyPr wrap="square" lIns="36576" rIns="36576" tIns="18288" bIns="18288" anchor="t">
            <a:spAutoFit/>
          </a:bodyPr>
          <a:lstStyle/>
          <a:p>
            <a:pPr algn="l">
              <a:lnSpc>
                <a:spcPct val="100000"/>
              </a:lnSpc>
              <a:spcAft>
                <a:spcPts val="0"/>
              </a:spcAft>
            </a:pPr>
            <a:r>
              <a:rPr sz="1500" b="1" i="0">
                <a:solidFill>
                  <a:srgbClr val="3333CC"/>
                </a:solidFill>
                <a:latin typeface="Book Antiqua"/>
              </a:rPr>
              <a:t>LLMs and RAG</a:t>
            </a:r>
          </a:p>
        </p:txBody>
      </p:sp>
      <p:sp>
        <p:nvSpPr>
          <p:cNvPr id="35" name="TextBox 34"/>
          <p:cNvSpPr txBox="1"/>
          <p:nvPr/>
        </p:nvSpPr>
        <p:spPr>
          <a:xfrm>
            <a:off x="6300216" y="3977639"/>
            <a:ext cx="2395728" cy="1097280"/>
          </a:xfrm>
          <a:prstGeom prst="rect">
            <a:avLst/>
          </a:prstGeom>
          <a:noFill/>
        </p:spPr>
        <p:txBody>
          <a:bodyPr wrap="square" lIns="36576" rIns="36576" tIns="18288" bIns="18288" anchor="t">
            <a:spAutoFit/>
          </a:bodyPr>
          <a:lstStyle/>
          <a:p>
            <a:pPr algn="l">
              <a:lnSpc>
                <a:spcPct val="100000"/>
              </a:lnSpc>
              <a:spcAft>
                <a:spcPts val="0"/>
              </a:spcAft>
            </a:pPr>
            <a:r>
              <a:rPr sz="1250" b="0" i="0">
                <a:solidFill>
                  <a:srgbClr val="1C1E2B"/>
                </a:solidFill>
                <a:latin typeface="Book Antiqua"/>
              </a:rPr>
              <a:t>Chunking, embeddings, vector store, BM25, retrieval evaluation, grounded prompts</a:t>
            </a:r>
          </a:p>
        </p:txBody>
      </p:sp>
      <p:sp>
        <p:nvSpPr>
          <p:cNvPr id="36" name="Rounded Rectangle 35"/>
          <p:cNvSpPr/>
          <p:nvPr/>
        </p:nvSpPr>
        <p:spPr>
          <a:xfrm>
            <a:off x="8970263" y="3474720"/>
            <a:ext cx="2651760" cy="1645920"/>
          </a:xfrm>
          <a:prstGeom prst="roundRect">
            <a:avLst>
              <a:gd name="adj" fmla="val 6000"/>
            </a:avLst>
          </a:prstGeom>
          <a:solidFill>
            <a:srgbClr val="EE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9107424" y="3566160"/>
            <a:ext cx="2377440" cy="411480"/>
          </a:xfrm>
          <a:prstGeom prst="rect">
            <a:avLst/>
          </a:prstGeom>
          <a:noFill/>
        </p:spPr>
        <p:txBody>
          <a:bodyPr wrap="square" lIns="36576" rIns="36576" tIns="18288" bIns="18288" anchor="t">
            <a:spAutoFit/>
          </a:bodyPr>
          <a:lstStyle/>
          <a:p>
            <a:pPr algn="l">
              <a:lnSpc>
                <a:spcPct val="100000"/>
              </a:lnSpc>
              <a:spcAft>
                <a:spcPts val="0"/>
              </a:spcAft>
            </a:pPr>
            <a:r>
              <a:rPr sz="1500" b="1" i="0">
                <a:solidFill>
                  <a:srgbClr val="3333CC"/>
                </a:solidFill>
                <a:latin typeface="Book Antiqua"/>
              </a:rPr>
              <a:t>Engineering practice</a:t>
            </a:r>
          </a:p>
        </p:txBody>
      </p:sp>
      <p:sp>
        <p:nvSpPr>
          <p:cNvPr id="38" name="TextBox 37"/>
          <p:cNvSpPr txBox="1"/>
          <p:nvPr/>
        </p:nvSpPr>
        <p:spPr>
          <a:xfrm>
            <a:off x="9107424" y="3977639"/>
            <a:ext cx="2395728" cy="1097280"/>
          </a:xfrm>
          <a:prstGeom prst="rect">
            <a:avLst/>
          </a:prstGeom>
          <a:noFill/>
        </p:spPr>
        <p:txBody>
          <a:bodyPr wrap="square" lIns="36576" rIns="36576" tIns="18288" bIns="18288" anchor="t">
            <a:spAutoFit/>
          </a:bodyPr>
          <a:lstStyle/>
          <a:p>
            <a:pPr algn="l">
              <a:lnSpc>
                <a:spcPct val="100000"/>
              </a:lnSpc>
              <a:spcAft>
                <a:spcPts val="0"/>
              </a:spcAft>
            </a:pPr>
            <a:r>
              <a:rPr sz="1250" b="0" i="0">
                <a:solidFill>
                  <a:srgbClr val="1C1E2B"/>
                </a:solidFill>
                <a:latin typeface="Book Antiqua"/>
              </a:rPr>
              <a:t>Git branches, README handovers, FastAPI, automated tests</a:t>
            </a:r>
          </a:p>
        </p:txBody>
      </p:sp>
      <p:sp>
        <p:nvSpPr>
          <p:cNvPr id="39" name="Rounded Rectangle 38"/>
          <p:cNvSpPr/>
          <p:nvPr/>
        </p:nvSpPr>
        <p:spPr>
          <a:xfrm>
            <a:off x="548640" y="5303520"/>
            <a:ext cx="11091672" cy="822960"/>
          </a:xfrm>
          <a:prstGeom prst="roundRect">
            <a:avLst>
              <a:gd name="adj" fmla="val 6000"/>
            </a:avLst>
          </a:prstGeom>
          <a:solidFill>
            <a:srgbClr val="FFFFFF"/>
          </a:solidFill>
          <a:ln w="12700">
            <a:solidFill>
              <a:srgbClr val="D5D7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731520" y="5376672"/>
            <a:ext cx="10789920" cy="685800"/>
          </a:xfrm>
          <a:prstGeom prst="rect">
            <a:avLst/>
          </a:prstGeom>
          <a:noFill/>
        </p:spPr>
        <p:txBody>
          <a:bodyPr wrap="square" lIns="36576" rIns="36576" tIns="18288" bIns="18288" anchor="ctr">
            <a:spAutoFit/>
          </a:bodyPr>
          <a:lstStyle/>
          <a:p>
            <a:pPr algn="l">
              <a:lnSpc>
                <a:spcPct val="100000"/>
              </a:lnSpc>
              <a:spcAft>
                <a:spcPts val="600"/>
              </a:spcAft>
            </a:pPr>
            <a:r>
              <a:rPr sz="1400" b="1" i="0">
                <a:solidFill>
                  <a:srgbClr val="3333CC"/>
                </a:solidFill>
                <a:latin typeface="Book Antiqua"/>
              </a:rPr>
              <a:t>Professional skills  </a:t>
            </a:r>
            <a:r>
              <a:rPr sz="1400" b="0" i="0">
                <a:solidFill>
                  <a:srgbClr val="1C1E2B"/>
                </a:solidFill>
                <a:latin typeface="Book Antiqua"/>
              </a:rPr>
              <a:t>Confidentiality and data approvals · reviews before changes · reporting observations to component owners · documentation and handover · requirements from team leaders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Rectangle 4"/>
          <p:cNvSpPr txBox="1">
            <a:spLocks noChangeArrowheads="1"/>
          </p:cNvSpPr>
          <p:nvPr/>
        </p:nvSpPr>
        <p:spPr>
          <a:xfrm>
            <a:off x="0" y="0"/>
            <a:ext cx="12192000" cy="1447800"/>
          </a:xfrm>
          <a:prstGeom prst="rect">
            <a:avLst/>
          </a:prstGeom>
          <a:solidFill>
            <a:srgbClr val="3333CC"/>
          </a:solid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IN" sz="3600" b="1" dirty="0">
                <a:solidFill>
                  <a:schemeClr val="bg1"/>
                </a:solidFill>
                <a:effectLst/>
                <a:latin typeface="Book Antiqua" panose="02040602050305030304" pitchFamily="18" charset="0"/>
                <a:ea typeface="Calibri" panose="020F0502020204030204" pitchFamily="34" charset="0"/>
                <a:cs typeface="Times New Roman" panose="02020603050405020304" pitchFamily="18" charset="0"/>
              </a:rPr>
              <a:t>Project I: Floor Plan to 3D Interior</a:t>
            </a:r>
            <a:endParaRPr lang="en-IN" sz="5300" dirty="0">
              <a:solidFill>
                <a:schemeClr val="bg1"/>
              </a:solidFill>
              <a:latin typeface="Book Antiqua" panose="0204060205030503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96107A40-7FD5-436B-B3DD-01066071B37C}" type="slidenum">
              <a:rPr lang="en-IN">
                <a:solidFill>
                  <a:prstClr val="black">
                    <a:tint val="75000"/>
                  </a:prstClr>
                </a:solidFill>
                <a:latin typeface="Calibri"/>
              </a:rPr>
              <a:pPr/>
              <a:t>2</a:t>
            </a:fld>
            <a:endParaRPr lang="en-IN">
              <a:solidFill>
                <a:prstClr val="black">
                  <a:tint val="75000"/>
                </a:prstClr>
              </a:solidFill>
              <a:latin typeface="Calibri"/>
            </a:endParaRPr>
          </a:p>
        </p:txBody>
      </p:sp>
      <p:sp>
        <p:nvSpPr>
          <p:cNvPr id="14" name="Footer Placeholder 13">
            <a:extLst>
              <a:ext uri="{FF2B5EF4-FFF2-40B4-BE49-F238E27FC236}">
                <a16:creationId xmlns:a16="http://schemas.microsoft.com/office/drawing/2014/main" id="{3F853E6F-A98E-C7D3-91D3-2AF29EC3AD65}"/>
              </a:ext>
            </a:extLst>
          </p:cNvPr>
          <p:cNvSpPr>
            <a:spLocks noGrp="1"/>
          </p:cNvSpPr>
          <p:nvPr>
            <p:ph type="ftr" sz="quarter" idx="11"/>
          </p:nvPr>
        </p:nvSpPr>
        <p:spPr>
          <a:xfrm>
            <a:off x="4038600" y="6356350"/>
            <a:ext cx="5668108" cy="365125"/>
          </a:xfrm>
        </p:spPr>
        <p:txBody>
          <a:bodyPr/>
          <a:lstStyle/>
          <a:p>
            <a:r>
              <a:rPr lang="en-IN" sz="1200" b="1" dirty="0">
                <a:latin typeface="Book Antiqua" panose="02040602050305030304" pitchFamily="18" charset="0"/>
                <a:cs typeface="Times New Roman" panose="02020603050405020304" pitchFamily="18" charset="0"/>
              </a:rPr>
              <a:t>SHARAN K        23BDS1153</a:t>
            </a:r>
            <a:endParaRPr lang="en-IN" sz="1200" b="1" dirty="0">
              <a:solidFill>
                <a:schemeClr val="tx1"/>
              </a:solidFill>
              <a:latin typeface="Book Antiqua" panose="02040602050305030304" pitchFamily="18" charset="0"/>
              <a:cs typeface="Times New Roman" panose="02020603050405020304" pitchFamily="18" charset="0"/>
            </a:endParaRPr>
          </a:p>
          <a:p>
            <a:endParaRPr lang="en-US" dirty="0"/>
          </a:p>
        </p:txBody>
      </p:sp>
      <p:pic>
        <p:nvPicPr>
          <p:cNvPr id="15" name="Picture 14" descr="diagram1.png"/>
          <p:cNvPicPr>
            <a:picLocks noChangeAspect="1"/>
          </p:cNvPicPr>
          <p:nvPr/>
        </p:nvPicPr>
        <p:blipFill>
          <a:blip r:embed="rId2"/>
          <a:stretch>
            <a:fillRect/>
          </a:stretch>
        </p:blipFill>
        <p:spPr>
          <a:xfrm>
            <a:off x="548640" y="1828800"/>
            <a:ext cx="11091672" cy="389793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Rectangle 4"/>
          <p:cNvSpPr txBox="1">
            <a:spLocks noChangeArrowheads="1"/>
          </p:cNvSpPr>
          <p:nvPr/>
        </p:nvSpPr>
        <p:spPr>
          <a:xfrm>
            <a:off x="0" y="0"/>
            <a:ext cx="12192000" cy="1447800"/>
          </a:xfrm>
          <a:prstGeom prst="rect">
            <a:avLst/>
          </a:prstGeom>
          <a:solidFill>
            <a:srgbClr val="3333CC"/>
          </a:solid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IN" sz="3600" b="1" dirty="0">
                <a:solidFill>
                  <a:schemeClr val="bg1"/>
                </a:solidFill>
                <a:effectLst/>
                <a:latin typeface="Book Antiqua" panose="02040602050305030304" pitchFamily="18" charset="0"/>
                <a:ea typeface="Calibri" panose="020F0502020204030204" pitchFamily="34" charset="0"/>
                <a:cs typeface="Times New Roman" panose="02020603050405020304" pitchFamily="18" charset="0"/>
              </a:rPr>
              <a:t>Project I: Reading Dimensions Reliably</a:t>
            </a:r>
            <a:endParaRPr lang="en-IN" sz="5300" dirty="0">
              <a:solidFill>
                <a:schemeClr val="bg1"/>
              </a:solidFill>
              <a:latin typeface="Book Antiqua" panose="0204060205030503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96107A40-7FD5-436B-B3DD-01066071B37C}" type="slidenum">
              <a:rPr lang="en-IN">
                <a:solidFill>
                  <a:prstClr val="black">
                    <a:tint val="75000"/>
                  </a:prstClr>
                </a:solidFill>
                <a:latin typeface="Calibri"/>
              </a:rPr>
              <a:pPr/>
              <a:t>2</a:t>
            </a:fld>
            <a:endParaRPr lang="en-IN">
              <a:solidFill>
                <a:prstClr val="black">
                  <a:tint val="75000"/>
                </a:prstClr>
              </a:solidFill>
              <a:latin typeface="Calibri"/>
            </a:endParaRPr>
          </a:p>
        </p:txBody>
      </p:sp>
      <p:sp>
        <p:nvSpPr>
          <p:cNvPr id="14" name="Footer Placeholder 13">
            <a:extLst>
              <a:ext uri="{FF2B5EF4-FFF2-40B4-BE49-F238E27FC236}">
                <a16:creationId xmlns:a16="http://schemas.microsoft.com/office/drawing/2014/main" id="{3F853E6F-A98E-C7D3-91D3-2AF29EC3AD65}"/>
              </a:ext>
            </a:extLst>
          </p:cNvPr>
          <p:cNvSpPr>
            <a:spLocks noGrp="1"/>
          </p:cNvSpPr>
          <p:nvPr>
            <p:ph type="ftr" sz="quarter" idx="11"/>
          </p:nvPr>
        </p:nvSpPr>
        <p:spPr>
          <a:xfrm>
            <a:off x="4038600" y="6356350"/>
            <a:ext cx="5668108" cy="365125"/>
          </a:xfrm>
        </p:spPr>
        <p:txBody>
          <a:bodyPr/>
          <a:lstStyle/>
          <a:p>
            <a:r>
              <a:rPr lang="en-IN" sz="1200" b="1" dirty="0">
                <a:latin typeface="Book Antiqua" panose="02040602050305030304" pitchFamily="18" charset="0"/>
                <a:cs typeface="Times New Roman" panose="02020603050405020304" pitchFamily="18" charset="0"/>
              </a:rPr>
              <a:t>SHARAN K        23BDS1153</a:t>
            </a:r>
            <a:endParaRPr lang="en-IN" sz="1200" b="1" dirty="0">
              <a:solidFill>
                <a:schemeClr val="tx1"/>
              </a:solidFill>
              <a:latin typeface="Book Antiqua" panose="02040602050305030304" pitchFamily="18" charset="0"/>
              <a:cs typeface="Times New Roman" panose="02020603050405020304" pitchFamily="18" charset="0"/>
            </a:endParaRPr>
          </a:p>
          <a:p>
            <a:endParaRPr lang="en-US" dirty="0"/>
          </a:p>
        </p:txBody>
      </p:sp>
      <p:sp>
        <p:nvSpPr>
          <p:cNvPr id="15" name="Rounded Rectangle 14"/>
          <p:cNvSpPr/>
          <p:nvPr/>
        </p:nvSpPr>
        <p:spPr>
          <a:xfrm>
            <a:off x="548640" y="1691640"/>
            <a:ext cx="2651760" cy="2331720"/>
          </a:xfrm>
          <a:prstGeom prst="roundRect">
            <a:avLst>
              <a:gd name="adj" fmla="val 6000"/>
            </a:avLst>
          </a:prstGeom>
          <a:solidFill>
            <a:srgbClr val="EE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85800" y="1783080"/>
            <a:ext cx="2377440" cy="365760"/>
          </a:xfrm>
          <a:prstGeom prst="rect">
            <a:avLst/>
          </a:prstGeom>
          <a:noFill/>
        </p:spPr>
        <p:txBody>
          <a:bodyPr wrap="square" lIns="36576" rIns="36576" tIns="18288" bIns="18288" anchor="t">
            <a:spAutoFit/>
          </a:bodyPr>
          <a:lstStyle/>
          <a:p>
            <a:pPr algn="l">
              <a:lnSpc>
                <a:spcPct val="100000"/>
              </a:lnSpc>
              <a:spcAft>
                <a:spcPts val="0"/>
              </a:spcAft>
            </a:pPr>
            <a:r>
              <a:rPr sz="1600" b="1" i="0">
                <a:solidFill>
                  <a:srgbClr val="3333CC"/>
                </a:solidFill>
                <a:latin typeface="Book Antiqua"/>
              </a:rPr>
              <a:t>1  Pre-process</a:t>
            </a:r>
          </a:p>
        </p:txBody>
      </p:sp>
      <p:sp>
        <p:nvSpPr>
          <p:cNvPr id="17" name="TextBox 16"/>
          <p:cNvSpPr txBox="1"/>
          <p:nvPr/>
        </p:nvSpPr>
        <p:spPr>
          <a:xfrm>
            <a:off x="685800" y="2194560"/>
            <a:ext cx="2423160" cy="1783080"/>
          </a:xfrm>
          <a:prstGeom prst="rect">
            <a:avLst/>
          </a:prstGeom>
          <a:noFill/>
        </p:spPr>
        <p:txBody>
          <a:bodyPr wrap="square" lIns="36576" rIns="36576" tIns="18288" bIns="18288" anchor="t">
            <a:spAutoFit/>
          </a:bodyPr>
          <a:lstStyle/>
          <a:p>
            <a:pPr algn="l" marL="201168" indent="-201168">
              <a:lnSpc>
                <a:spcPct val="100000"/>
              </a:lnSpc>
              <a:spcAft>
                <a:spcPts val="400"/>
              </a:spcAft>
              <a:buFont typeface="Arial"/>
              <a:buChar char="•"/>
            </a:pPr>
            <a:r>
              <a:rPr sz="1250" b="0" i="0">
                <a:solidFill>
                  <a:srgbClr val="1C1E2B"/>
                </a:solidFill>
                <a:latin typeface="Book Antiqua"/>
              </a:rPr>
              <a:t>Grayscale, denoise, adaptive threshold</a:t>
            </a:r>
          </a:p>
          <a:p>
            <a:pPr algn="l" marL="201168" indent="-201168">
              <a:lnSpc>
                <a:spcPct val="100000"/>
              </a:lnSpc>
              <a:spcAft>
                <a:spcPts val="400"/>
              </a:spcAft>
              <a:buFont typeface="Arial"/>
              <a:buChar char="•"/>
            </a:pPr>
            <a:r>
              <a:rPr sz="1250" b="0" i="0">
                <a:solidFill>
                  <a:srgbClr val="1C1E2B"/>
                </a:solidFill>
                <a:latin typeface="Book Antiqua"/>
              </a:rPr>
              <a:t>Deskew scanned plans</a:t>
            </a:r>
          </a:p>
          <a:p>
            <a:pPr algn="l" marL="201168" indent="-201168">
              <a:lnSpc>
                <a:spcPct val="100000"/>
              </a:lnSpc>
              <a:spcAft>
                <a:spcPts val="400"/>
              </a:spcAft>
              <a:buFont typeface="Arial"/>
              <a:buChar char="•"/>
            </a:pPr>
            <a:r>
              <a:rPr sz="1250" b="0" i="0">
                <a:solidFill>
                  <a:srgbClr val="1C1E2B"/>
                </a:solidFill>
                <a:latin typeface="Book Antiqua"/>
              </a:rPr>
              <a:t>Morphology splits walls from text</a:t>
            </a:r>
          </a:p>
          <a:p>
            <a:pPr algn="l" marL="201168" indent="-201168">
              <a:lnSpc>
                <a:spcPct val="100000"/>
              </a:lnSpc>
              <a:spcAft>
                <a:spcPts val="400"/>
              </a:spcAft>
              <a:buFont typeface="Arial"/>
              <a:buChar char="•"/>
            </a:pPr>
            <a:r>
              <a:rPr sz="1250" b="0" i="0">
                <a:solidFill>
                  <a:srgbClr val="1C1E2B"/>
                </a:solidFill>
                <a:latin typeface="Book Antiqua"/>
              </a:rPr>
              <a:t>Settings tuned per quality group</a:t>
            </a:r>
          </a:p>
        </p:txBody>
      </p:sp>
      <p:sp>
        <p:nvSpPr>
          <p:cNvPr id="18" name="Rounded Rectangle 17"/>
          <p:cNvSpPr/>
          <p:nvPr/>
        </p:nvSpPr>
        <p:spPr>
          <a:xfrm>
            <a:off x="3355848" y="1691640"/>
            <a:ext cx="2651760" cy="2331720"/>
          </a:xfrm>
          <a:prstGeom prst="roundRect">
            <a:avLst>
              <a:gd name="adj" fmla="val 6000"/>
            </a:avLst>
          </a:prstGeom>
          <a:solidFill>
            <a:srgbClr val="EE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493008" y="1783080"/>
            <a:ext cx="2377440" cy="365760"/>
          </a:xfrm>
          <a:prstGeom prst="rect">
            <a:avLst/>
          </a:prstGeom>
          <a:noFill/>
        </p:spPr>
        <p:txBody>
          <a:bodyPr wrap="square" lIns="36576" rIns="36576" tIns="18288" bIns="18288" anchor="t">
            <a:spAutoFit/>
          </a:bodyPr>
          <a:lstStyle/>
          <a:p>
            <a:pPr algn="l">
              <a:lnSpc>
                <a:spcPct val="100000"/>
              </a:lnSpc>
              <a:spcAft>
                <a:spcPts val="0"/>
              </a:spcAft>
            </a:pPr>
            <a:r>
              <a:rPr sz="1600" b="1" i="0">
                <a:solidFill>
                  <a:srgbClr val="3333CC"/>
                </a:solidFill>
                <a:latin typeface="Book Antiqua"/>
              </a:rPr>
              <a:t>2  OCR</a:t>
            </a:r>
          </a:p>
        </p:txBody>
      </p:sp>
      <p:sp>
        <p:nvSpPr>
          <p:cNvPr id="20" name="TextBox 19"/>
          <p:cNvSpPr txBox="1"/>
          <p:nvPr/>
        </p:nvSpPr>
        <p:spPr>
          <a:xfrm>
            <a:off x="3493008" y="2194560"/>
            <a:ext cx="2423160" cy="1783080"/>
          </a:xfrm>
          <a:prstGeom prst="rect">
            <a:avLst/>
          </a:prstGeom>
          <a:noFill/>
        </p:spPr>
        <p:txBody>
          <a:bodyPr wrap="square" lIns="36576" rIns="36576" tIns="18288" bIns="18288" anchor="t">
            <a:spAutoFit/>
          </a:bodyPr>
          <a:lstStyle/>
          <a:p>
            <a:pPr algn="l" marL="201168" indent="-201168">
              <a:lnSpc>
                <a:spcPct val="100000"/>
              </a:lnSpc>
              <a:spcAft>
                <a:spcPts val="400"/>
              </a:spcAft>
              <a:buFont typeface="Arial"/>
              <a:buChar char="•"/>
            </a:pPr>
            <a:r>
              <a:rPr sz="1250" b="0" i="0">
                <a:solidFill>
                  <a:srgbClr val="1C1E2B"/>
                </a:solidFill>
                <a:latin typeface="Book Antiqua"/>
              </a:rPr>
              <a:t>Baseline on 10 plans first</a:t>
            </a:r>
          </a:p>
          <a:p>
            <a:pPr algn="l" marL="201168" indent="-201168">
              <a:lnSpc>
                <a:spcPct val="100000"/>
              </a:lnSpc>
              <a:spcAft>
                <a:spcPts val="400"/>
              </a:spcAft>
              <a:buFont typeface="Arial"/>
              <a:buChar char="•"/>
            </a:pPr>
            <a:r>
              <a:rPr sz="1250" b="0" i="0">
                <a:solidFill>
                  <a:srgbClr val="1C1E2B"/>
                </a:solidFill>
                <a:latin typeface="Book Antiqua"/>
              </a:rPr>
              <a:t>Failures grouped: rotated, small, touching</a:t>
            </a:r>
          </a:p>
          <a:p>
            <a:pPr algn="l" marL="201168" indent="-201168">
              <a:lnSpc>
                <a:spcPct val="100000"/>
              </a:lnSpc>
              <a:spcAft>
                <a:spcPts val="400"/>
              </a:spcAft>
              <a:buFont typeface="Arial"/>
              <a:buChar char="•"/>
            </a:pPr>
            <a:r>
              <a:rPr sz="1250" b="0" i="0">
                <a:solidFill>
                  <a:srgbClr val="1C1E2B"/>
                </a:solidFill>
                <a:latin typeface="Book Antiqua"/>
              </a:rPr>
              <a:t>Crop, upscale, sharpen text patches</a:t>
            </a:r>
          </a:p>
          <a:p>
            <a:pPr algn="l" marL="201168" indent="-201168">
              <a:lnSpc>
                <a:spcPct val="100000"/>
              </a:lnSpc>
              <a:spcAft>
                <a:spcPts val="400"/>
              </a:spcAft>
              <a:buFont typeface="Arial"/>
              <a:buChar char="•"/>
            </a:pPr>
            <a:r>
              <a:rPr sz="1250" b="0" i="0">
                <a:solidFill>
                  <a:srgbClr val="1C1E2B"/>
                </a:solidFill>
                <a:latin typeface="Book Antiqua"/>
              </a:rPr>
              <a:t>Rotate vertical text before OCR</a:t>
            </a:r>
          </a:p>
        </p:txBody>
      </p:sp>
      <p:sp>
        <p:nvSpPr>
          <p:cNvPr id="21" name="Rounded Rectangle 20"/>
          <p:cNvSpPr/>
          <p:nvPr/>
        </p:nvSpPr>
        <p:spPr>
          <a:xfrm>
            <a:off x="6163055" y="1691640"/>
            <a:ext cx="2651760" cy="2331720"/>
          </a:xfrm>
          <a:prstGeom prst="roundRect">
            <a:avLst>
              <a:gd name="adj" fmla="val 6000"/>
            </a:avLst>
          </a:prstGeom>
          <a:solidFill>
            <a:srgbClr val="EE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00216" y="1783080"/>
            <a:ext cx="2377440" cy="365760"/>
          </a:xfrm>
          <a:prstGeom prst="rect">
            <a:avLst/>
          </a:prstGeom>
          <a:noFill/>
        </p:spPr>
        <p:txBody>
          <a:bodyPr wrap="square" lIns="36576" rIns="36576" tIns="18288" bIns="18288" anchor="t">
            <a:spAutoFit/>
          </a:bodyPr>
          <a:lstStyle/>
          <a:p>
            <a:pPr algn="l">
              <a:lnSpc>
                <a:spcPct val="100000"/>
              </a:lnSpc>
              <a:spcAft>
                <a:spcPts val="0"/>
              </a:spcAft>
            </a:pPr>
            <a:r>
              <a:rPr sz="1600" b="1" i="0">
                <a:solidFill>
                  <a:srgbClr val="3333CC"/>
                </a:solidFill>
                <a:latin typeface="Book Antiqua"/>
              </a:rPr>
              <a:t>3  Parse</a:t>
            </a:r>
          </a:p>
        </p:txBody>
      </p:sp>
      <p:sp>
        <p:nvSpPr>
          <p:cNvPr id="23" name="TextBox 22"/>
          <p:cNvSpPr txBox="1"/>
          <p:nvPr/>
        </p:nvSpPr>
        <p:spPr>
          <a:xfrm>
            <a:off x="6300216" y="2194560"/>
            <a:ext cx="2423160" cy="1783080"/>
          </a:xfrm>
          <a:prstGeom prst="rect">
            <a:avLst/>
          </a:prstGeom>
          <a:noFill/>
        </p:spPr>
        <p:txBody>
          <a:bodyPr wrap="square" lIns="36576" rIns="36576" tIns="18288" bIns="18288" anchor="t">
            <a:spAutoFit/>
          </a:bodyPr>
          <a:lstStyle/>
          <a:p>
            <a:pPr algn="l" marL="201168" indent="-201168">
              <a:lnSpc>
                <a:spcPct val="100000"/>
              </a:lnSpc>
              <a:spcAft>
                <a:spcPts val="400"/>
              </a:spcAft>
              <a:buFont typeface="Arial"/>
              <a:buChar char="•"/>
            </a:pPr>
            <a:r>
              <a:rPr sz="1250" b="0" i="0">
                <a:solidFill>
                  <a:srgbClr val="1C1E2B"/>
                </a:solidFill>
                <a:latin typeface="Book Antiqua"/>
              </a:rPr>
              <a:t>Regex for mm, cm, m, ft-in</a:t>
            </a:r>
          </a:p>
          <a:p>
            <a:pPr algn="l" marL="201168" indent="-201168">
              <a:lnSpc>
                <a:spcPct val="100000"/>
              </a:lnSpc>
              <a:spcAft>
                <a:spcPts val="400"/>
              </a:spcAft>
              <a:buFont typeface="Arial"/>
              <a:buChar char="•"/>
            </a:pPr>
            <a:r>
              <a:rPr sz="1250" b="0" i="0">
                <a:solidFill>
                  <a:srgbClr val="1C1E2B"/>
                </a:solidFill>
                <a:latin typeface="Book Antiqua"/>
              </a:rPr>
              <a:t>Everything normalised to mm</a:t>
            </a:r>
          </a:p>
          <a:p>
            <a:pPr algn="l" marL="201168" indent="-201168">
              <a:lnSpc>
                <a:spcPct val="100000"/>
              </a:lnSpc>
              <a:spcAft>
                <a:spcPts val="400"/>
              </a:spcAft>
              <a:buFont typeface="Arial"/>
              <a:buChar char="•"/>
            </a:pPr>
            <a:r>
              <a:rPr sz="1250" b="0" i="0">
                <a:solidFill>
                  <a:srgbClr val="1C1E2B"/>
                </a:solidFill>
                <a:latin typeface="Book Antiqua"/>
              </a:rPr>
              <a:t>Fractions supported</a:t>
            </a:r>
          </a:p>
          <a:p>
            <a:pPr algn="l" marL="201168" indent="-201168">
              <a:lnSpc>
                <a:spcPct val="100000"/>
              </a:lnSpc>
              <a:spcAft>
                <a:spcPts val="400"/>
              </a:spcAft>
              <a:buFont typeface="Arial"/>
              <a:buChar char="•"/>
            </a:pPr>
            <a:r>
              <a:rPr sz="1250" b="0" i="0">
                <a:solidFill>
                  <a:srgbClr val="1C1E2B"/>
                </a:solidFill>
                <a:latin typeface="Book Antiqua"/>
              </a:rPr>
              <a:t>Ambiguous readings flagged</a:t>
            </a:r>
          </a:p>
        </p:txBody>
      </p:sp>
      <p:sp>
        <p:nvSpPr>
          <p:cNvPr id="24" name="Rounded Rectangle 23"/>
          <p:cNvSpPr/>
          <p:nvPr/>
        </p:nvSpPr>
        <p:spPr>
          <a:xfrm>
            <a:off x="8970263" y="1691640"/>
            <a:ext cx="2651760" cy="2331720"/>
          </a:xfrm>
          <a:prstGeom prst="roundRect">
            <a:avLst>
              <a:gd name="adj" fmla="val 6000"/>
            </a:avLst>
          </a:prstGeom>
          <a:solidFill>
            <a:srgbClr val="EE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107424" y="1783080"/>
            <a:ext cx="2377440" cy="365760"/>
          </a:xfrm>
          <a:prstGeom prst="rect">
            <a:avLst/>
          </a:prstGeom>
          <a:noFill/>
        </p:spPr>
        <p:txBody>
          <a:bodyPr wrap="square" lIns="36576" rIns="36576" tIns="18288" bIns="18288" anchor="t">
            <a:spAutoFit/>
          </a:bodyPr>
          <a:lstStyle/>
          <a:p>
            <a:pPr algn="l">
              <a:lnSpc>
                <a:spcPct val="100000"/>
              </a:lnSpc>
              <a:spcAft>
                <a:spcPts val="0"/>
              </a:spcAft>
            </a:pPr>
            <a:r>
              <a:rPr sz="1600" b="1" i="0">
                <a:solidFill>
                  <a:srgbClr val="3333CC"/>
                </a:solidFill>
                <a:latin typeface="Book Antiqua"/>
              </a:rPr>
              <a:t>4  Validate</a:t>
            </a:r>
          </a:p>
        </p:txBody>
      </p:sp>
      <p:sp>
        <p:nvSpPr>
          <p:cNvPr id="26" name="TextBox 25"/>
          <p:cNvSpPr txBox="1"/>
          <p:nvPr/>
        </p:nvSpPr>
        <p:spPr>
          <a:xfrm>
            <a:off x="9107424" y="2194560"/>
            <a:ext cx="2423160" cy="1783080"/>
          </a:xfrm>
          <a:prstGeom prst="rect">
            <a:avLst/>
          </a:prstGeom>
          <a:noFill/>
        </p:spPr>
        <p:txBody>
          <a:bodyPr wrap="square" lIns="36576" rIns="36576" tIns="18288" bIns="18288" anchor="t">
            <a:spAutoFit/>
          </a:bodyPr>
          <a:lstStyle/>
          <a:p>
            <a:pPr algn="l" marL="201168" indent="-201168">
              <a:lnSpc>
                <a:spcPct val="100000"/>
              </a:lnSpc>
              <a:spcAft>
                <a:spcPts val="400"/>
              </a:spcAft>
              <a:buFont typeface="Arial"/>
              <a:buChar char="•"/>
            </a:pPr>
            <a:r>
              <a:rPr sz="1250" b="0" i="0">
                <a:solidFill>
                  <a:srgbClr val="1C1E2B"/>
                </a:solidFill>
                <a:latin typeface="Book Antiqua"/>
              </a:rPr>
              <a:t>Units present, plausible ranges</a:t>
            </a:r>
          </a:p>
          <a:p>
            <a:pPr algn="l" marL="201168" indent="-201168">
              <a:lnSpc>
                <a:spcPct val="100000"/>
              </a:lnSpc>
              <a:spcAft>
                <a:spcPts val="400"/>
              </a:spcAft>
              <a:buFont typeface="Arial"/>
              <a:buChar char="•"/>
            </a:pPr>
            <a:r>
              <a:rPr sz="1250" b="0" i="0">
                <a:solidFill>
                  <a:srgbClr val="1C1E2B"/>
                </a:solidFill>
                <a:latin typeface="Book Antiqua"/>
              </a:rPr>
              <a:t>Agreement with drawing scale</a:t>
            </a:r>
          </a:p>
          <a:p>
            <a:pPr algn="l" marL="201168" indent="-201168">
              <a:lnSpc>
                <a:spcPct val="100000"/>
              </a:lnSpc>
              <a:spcAft>
                <a:spcPts val="400"/>
              </a:spcAft>
              <a:buFont typeface="Arial"/>
              <a:buChar char="•"/>
            </a:pPr>
            <a:r>
              <a:rPr sz="1250" b="0" i="0">
                <a:solidFill>
                  <a:srgbClr val="1C1E2B"/>
                </a:solidFill>
                <a:latin typeface="Book Antiqua"/>
              </a:rPr>
              <a:t>Report: plan, region, raw text</a:t>
            </a:r>
          </a:p>
          <a:p>
            <a:pPr algn="l" marL="201168" indent="-201168">
              <a:lnSpc>
                <a:spcPct val="100000"/>
              </a:lnSpc>
              <a:spcAft>
                <a:spcPts val="400"/>
              </a:spcAft>
              <a:buFont typeface="Arial"/>
              <a:buChar char="•"/>
            </a:pPr>
            <a:r>
              <a:rPr sz="1250" b="0" i="0">
                <a:solidFill>
                  <a:srgbClr val="1C1E2B"/>
                </a:solidFill>
                <a:latin typeface="Book Antiqua"/>
              </a:rPr>
              <a:t>Two false alarms fixed after review</a:t>
            </a:r>
          </a:p>
        </p:txBody>
      </p:sp>
      <p:graphicFrame>
        <p:nvGraphicFramePr>
          <p:cNvPr id="27" name="Table 26"/>
          <p:cNvGraphicFramePr>
            <a:graphicFrameLocks noGrp="1"/>
          </p:cNvGraphicFramePr>
          <p:nvPr/>
        </p:nvGraphicFramePr>
        <p:xfrm>
          <a:off x="548640" y="4206240"/>
          <a:ext cx="6035038" cy="1828800"/>
        </p:xfrm>
        <a:graphic>
          <a:graphicData uri="http://schemas.openxmlformats.org/drawingml/2006/table">
            <a:tbl>
              <a:tblPr firstRow="1" bandRow="1">
                <a:tableStyleId>{5C22544A-7EE6-4342-B048-85BDC9FD1C3A}</a:tableStyleId>
              </a:tblPr>
              <a:tblGrid>
                <a:gridCol w="2141465"/>
                <a:gridCol w="1557429"/>
                <a:gridCol w="2336144"/>
              </a:tblGrid>
              <a:tr h="365760">
                <a:tc>
                  <a:txBody>
                    <a:bodyPr wrap="square"/>
                    <a:lstStyle/>
                    <a:p>
                      <a:r>
                        <a:rPr sz="1250" b="1" i="0">
                          <a:solidFill>
                            <a:srgbClr val="FFFFFF"/>
                          </a:solidFill>
                          <a:latin typeface="Book Antiqua"/>
                        </a:rPr>
                        <a:t>Notation on plan</a:t>
                      </a:r>
                    </a:p>
                  </a:txBody>
                  <a:tcPr marL="73152" marR="73152" marT="27432" marB="27432" anchor="ctr">
                    <a:solidFill>
                      <a:srgbClr val="3333CC"/>
                    </a:solidFill>
                  </a:tcPr>
                </a:tc>
                <a:tc>
                  <a:txBody>
                    <a:bodyPr wrap="square"/>
                    <a:lstStyle/>
                    <a:p>
                      <a:r>
                        <a:rPr sz="1250" b="1" i="0">
                          <a:solidFill>
                            <a:srgbClr val="FFFFFF"/>
                          </a:solidFill>
                          <a:latin typeface="Book Antiqua"/>
                        </a:rPr>
                        <a:t>Normalised (mm)</a:t>
                      </a:r>
                    </a:p>
                  </a:txBody>
                  <a:tcPr marL="73152" marR="73152" marT="27432" marB="27432" anchor="ctr">
                    <a:solidFill>
                      <a:srgbClr val="3333CC"/>
                    </a:solidFill>
                  </a:tcPr>
                </a:tc>
                <a:tc>
                  <a:txBody>
                    <a:bodyPr wrap="square"/>
                    <a:lstStyle/>
                    <a:p>
                      <a:r>
                        <a:rPr sz="1250" b="1" i="0">
                          <a:solidFill>
                            <a:srgbClr val="FFFFFF"/>
                          </a:solidFill>
                          <a:latin typeface="Book Antiqua"/>
                        </a:rPr>
                        <a:t>Note</a:t>
                      </a:r>
                    </a:p>
                  </a:txBody>
                  <a:tcPr marL="73152" marR="73152" marT="27432" marB="27432" anchor="ctr">
                    <a:solidFill>
                      <a:srgbClr val="3333CC"/>
                    </a:solidFill>
                  </a:tcPr>
                </a:tc>
              </a:tr>
              <a:tr h="365760">
                <a:tc>
                  <a:txBody>
                    <a:bodyPr wrap="square"/>
                    <a:lstStyle/>
                    <a:p>
                      <a:r>
                        <a:rPr sz="1250" b="0" i="0">
                          <a:solidFill>
                            <a:srgbClr val="1C1E2B"/>
                          </a:solidFill>
                          <a:latin typeface="Book Antiqua"/>
                        </a:rPr>
                        <a:t>360 cm  /  3.6 m</a:t>
                      </a:r>
                    </a:p>
                  </a:txBody>
                  <a:tcPr marL="73152" marR="73152" marT="27432" marB="27432" anchor="ctr">
                    <a:solidFill>
                      <a:srgbClr val="FFFFFF"/>
                    </a:solidFill>
                  </a:tcPr>
                </a:tc>
                <a:tc>
                  <a:txBody>
                    <a:bodyPr wrap="square"/>
                    <a:lstStyle/>
                    <a:p>
                      <a:r>
                        <a:rPr sz="1250" b="0" i="0">
                          <a:solidFill>
                            <a:srgbClr val="1C1E2B"/>
                          </a:solidFill>
                          <a:latin typeface="Book Antiqua"/>
                        </a:rPr>
                        <a:t>3600</a:t>
                      </a:r>
                    </a:p>
                  </a:txBody>
                  <a:tcPr marL="73152" marR="73152" marT="27432" marB="27432" anchor="ctr">
                    <a:solidFill>
                      <a:srgbClr val="FFFFFF"/>
                    </a:solidFill>
                  </a:tcPr>
                </a:tc>
                <a:tc>
                  <a:txBody>
                    <a:bodyPr wrap="square"/>
                    <a:lstStyle/>
                    <a:p>
                      <a:r>
                        <a:rPr sz="1250" b="0" i="0">
                          <a:solidFill>
                            <a:srgbClr val="1C1E2B"/>
                          </a:solidFill>
                          <a:latin typeface="Book Antiqua"/>
                        </a:rPr>
                        <a:t>Metric units</a:t>
                      </a:r>
                    </a:p>
                  </a:txBody>
                  <a:tcPr marL="73152" marR="73152" marT="27432" marB="27432" anchor="ctr">
                    <a:solidFill>
                      <a:srgbClr val="FFFFFF"/>
                    </a:solidFill>
                  </a:tcPr>
                </a:tc>
              </a:tr>
              <a:tr h="365760">
                <a:tc>
                  <a:txBody>
                    <a:bodyPr wrap="square"/>
                    <a:lstStyle/>
                    <a:p>
                      <a:r>
                        <a:rPr sz="1250" b="0" i="0">
                          <a:solidFill>
                            <a:srgbClr val="1C1E2B"/>
                          </a:solidFill>
                          <a:latin typeface="Book Antiqua"/>
                        </a:rPr>
                        <a:t>11'-10"</a:t>
                      </a:r>
                    </a:p>
                  </a:txBody>
                  <a:tcPr marL="73152" marR="73152" marT="27432" marB="27432" anchor="ctr">
                    <a:solidFill>
                      <a:srgbClr val="EEEFFB"/>
                    </a:solidFill>
                  </a:tcPr>
                </a:tc>
                <a:tc>
                  <a:txBody>
                    <a:bodyPr wrap="square"/>
                    <a:lstStyle/>
                    <a:p>
                      <a:r>
                        <a:rPr sz="1250" b="0" i="0">
                          <a:solidFill>
                            <a:srgbClr val="1C1E2B"/>
                          </a:solidFill>
                          <a:latin typeface="Book Antiqua"/>
                        </a:rPr>
                        <a:t>3607</a:t>
                      </a:r>
                    </a:p>
                  </a:txBody>
                  <a:tcPr marL="73152" marR="73152" marT="27432" marB="27432" anchor="ctr">
                    <a:solidFill>
                      <a:srgbClr val="EEEFFB"/>
                    </a:solidFill>
                  </a:tcPr>
                </a:tc>
                <a:tc>
                  <a:txBody>
                    <a:bodyPr wrap="square"/>
                    <a:lstStyle/>
                    <a:p>
                      <a:r>
                        <a:rPr sz="1250" b="0" i="0">
                          <a:solidFill>
                            <a:srgbClr val="1C1E2B"/>
                          </a:solidFill>
                          <a:latin typeface="Book Antiqua"/>
                        </a:rPr>
                        <a:t>142 in x 25.4</a:t>
                      </a:r>
                    </a:p>
                  </a:txBody>
                  <a:tcPr marL="73152" marR="73152" marT="27432" marB="27432" anchor="ctr">
                    <a:solidFill>
                      <a:srgbClr val="EEEFFB"/>
                    </a:solidFill>
                  </a:tcPr>
                </a:tc>
              </a:tr>
              <a:tr h="365760">
                <a:tc>
                  <a:txBody>
                    <a:bodyPr wrap="square"/>
                    <a:lstStyle/>
                    <a:p>
                      <a:r>
                        <a:rPr sz="1250" b="0" i="0">
                          <a:solidFill>
                            <a:srgbClr val="1C1E2B"/>
                          </a:solidFill>
                          <a:latin typeface="Book Antiqua"/>
                        </a:rPr>
                        <a:t>11' 10 1/2"</a:t>
                      </a:r>
                    </a:p>
                  </a:txBody>
                  <a:tcPr marL="73152" marR="73152" marT="27432" marB="27432" anchor="ctr">
                    <a:solidFill>
                      <a:srgbClr val="FFFFFF"/>
                    </a:solidFill>
                  </a:tcPr>
                </a:tc>
                <a:tc>
                  <a:txBody>
                    <a:bodyPr wrap="square"/>
                    <a:lstStyle/>
                    <a:p>
                      <a:r>
                        <a:rPr sz="1250" b="0" i="0">
                          <a:solidFill>
                            <a:srgbClr val="1C1E2B"/>
                          </a:solidFill>
                          <a:latin typeface="Book Antiqua"/>
                        </a:rPr>
                        <a:t>3620</a:t>
                      </a:r>
                    </a:p>
                  </a:txBody>
                  <a:tcPr marL="73152" marR="73152" marT="27432" marB="27432" anchor="ctr">
                    <a:solidFill>
                      <a:srgbClr val="FFFFFF"/>
                    </a:solidFill>
                  </a:tcPr>
                </a:tc>
                <a:tc>
                  <a:txBody>
                    <a:bodyPr wrap="square"/>
                    <a:lstStyle/>
                    <a:p>
                      <a:r>
                        <a:rPr sz="1250" b="0" i="0">
                          <a:solidFill>
                            <a:srgbClr val="1C1E2B"/>
                          </a:solidFill>
                          <a:latin typeface="Book Antiqua"/>
                        </a:rPr>
                        <a:t>Fraction</a:t>
                      </a:r>
                    </a:p>
                  </a:txBody>
                  <a:tcPr marL="73152" marR="73152" marT="27432" marB="27432" anchor="ctr">
                    <a:solidFill>
                      <a:srgbClr val="FFFFFF"/>
                    </a:solidFill>
                  </a:tcPr>
                </a:tc>
              </a:tr>
              <a:tr h="365760">
                <a:tc>
                  <a:txBody>
                    <a:bodyPr wrap="square"/>
                    <a:lstStyle/>
                    <a:p>
                      <a:r>
                        <a:rPr sz="1250" b="0" i="0">
                          <a:solidFill>
                            <a:srgbClr val="1C1E2B"/>
                          </a:solidFill>
                          <a:latin typeface="Book Antiqua"/>
                        </a:rPr>
                        <a:t>3,600  /  3.600</a:t>
                      </a:r>
                    </a:p>
                  </a:txBody>
                  <a:tcPr marL="73152" marR="73152" marT="27432" marB="27432" anchor="ctr">
                    <a:solidFill>
                      <a:srgbClr val="EEEFFB"/>
                    </a:solidFill>
                  </a:tcPr>
                </a:tc>
                <a:tc>
                  <a:txBody>
                    <a:bodyPr wrap="square"/>
                    <a:lstStyle/>
                    <a:p>
                      <a:r>
                        <a:rPr sz="1250" b="0" i="0">
                          <a:solidFill>
                            <a:srgbClr val="1C1E2B"/>
                          </a:solidFill>
                          <a:latin typeface="Book Antiqua"/>
                        </a:rPr>
                        <a:t>flagged</a:t>
                      </a:r>
                    </a:p>
                  </a:txBody>
                  <a:tcPr marL="73152" marR="73152" marT="27432" marB="27432" anchor="ctr">
                    <a:solidFill>
                      <a:srgbClr val="EEEFFB"/>
                    </a:solidFill>
                  </a:tcPr>
                </a:tc>
                <a:tc>
                  <a:txBody>
                    <a:bodyPr wrap="square"/>
                    <a:lstStyle/>
                    <a:p>
                      <a:r>
                        <a:rPr sz="1250" b="0" i="0">
                          <a:solidFill>
                            <a:srgbClr val="1C1E2B"/>
                          </a:solidFill>
                          <a:latin typeface="Book Antiqua"/>
                        </a:rPr>
                        <a:t>Separator is ambiguous</a:t>
                      </a:r>
                    </a:p>
                  </a:txBody>
                  <a:tcPr marL="73152" marR="73152" marT="27432" marB="27432" anchor="ctr">
                    <a:solidFill>
                      <a:srgbClr val="EEEFFB"/>
                    </a:solidFill>
                  </a:tcPr>
                </a:tc>
              </a:tr>
            </a:tbl>
          </a:graphicData>
        </a:graphic>
      </p:graphicFrame>
      <p:sp>
        <p:nvSpPr>
          <p:cNvPr id="28" name="Rounded Rectangle 27"/>
          <p:cNvSpPr/>
          <p:nvPr/>
        </p:nvSpPr>
        <p:spPr>
          <a:xfrm>
            <a:off x="6812280" y="4206240"/>
            <a:ext cx="4828032" cy="1874519"/>
          </a:xfrm>
          <a:prstGeom prst="roundRect">
            <a:avLst>
              <a:gd name="adj" fmla="val 6000"/>
            </a:avLst>
          </a:prstGeom>
          <a:solidFill>
            <a:srgbClr val="FFFFFF"/>
          </a:solidFill>
          <a:ln w="12700">
            <a:solidFill>
              <a:srgbClr val="D5D7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995160" y="4297680"/>
            <a:ext cx="4526280" cy="1737360"/>
          </a:xfrm>
          <a:prstGeom prst="rect">
            <a:avLst/>
          </a:prstGeom>
          <a:noFill/>
        </p:spPr>
        <p:txBody>
          <a:bodyPr wrap="square" lIns="36576" rIns="36576" tIns="18288" bIns="18288" anchor="t">
            <a:spAutoFit/>
          </a:bodyPr>
          <a:lstStyle/>
          <a:p>
            <a:pPr algn="l">
              <a:lnSpc>
                <a:spcPct val="100000"/>
              </a:lnSpc>
              <a:spcAft>
                <a:spcPts val="500"/>
              </a:spcAft>
            </a:pPr>
            <a:r>
              <a:rPr sz="1500" b="1" i="0">
                <a:solidFill>
                  <a:srgbClr val="3333CC"/>
                </a:solidFill>
                <a:latin typeface="Book Antiqua"/>
              </a:rPr>
              <a:t>Handed over (30 May)</a:t>
            </a:r>
          </a:p>
          <a:p>
            <a:pPr algn="l" marL="201168" indent="-201168">
              <a:lnSpc>
                <a:spcPct val="100000"/>
              </a:lnSpc>
              <a:spcAft>
                <a:spcPts val="500"/>
              </a:spcAft>
              <a:buFont typeface="Arial"/>
              <a:buChar char="•"/>
            </a:pPr>
            <a:r>
              <a:rPr sz="1250" b="0" i="0">
                <a:solidFill>
                  <a:srgbClr val="1C1E2B"/>
                </a:solidFill>
                <a:latin typeface="Book Antiqua"/>
              </a:rPr>
              <a:t>Pre-processing utilities, dimension parser, validation script and accuracy sheet, committed with a README</a:t>
            </a:r>
          </a:p>
          <a:p>
            <a:pPr algn="l" marL="201168" indent="-201168">
              <a:lnSpc>
                <a:spcPct val="100000"/>
              </a:lnSpc>
              <a:spcAft>
                <a:spcPts val="500"/>
              </a:spcAft>
              <a:buFont typeface="Arial"/>
              <a:buChar char="•"/>
            </a:pPr>
            <a:r>
              <a:rPr sz="1250" b="0" i="0">
                <a:solidFill>
                  <a:srgbClr val="1C1E2B"/>
                </a:solidFill>
                <a:latin typeface="Book Antiqua"/>
              </a:rPr>
              <a:t>Ground-truth annotation and error sheet for the team</a:t>
            </a:r>
          </a:p>
          <a:p>
            <a:pPr algn="l" marL="201168" indent="-201168">
              <a:lnSpc>
                <a:spcPct val="100000"/>
              </a:lnSpc>
              <a:spcAft>
                <a:spcPts val="500"/>
              </a:spcAft>
              <a:buFont typeface="Arial"/>
              <a:buChar char="•"/>
            </a:pPr>
            <a:r>
              <a:rPr sz="1250" b="0" i="0">
                <a:solidFill>
                  <a:srgbClr val="1C1E2B"/>
                </a:solidFill>
                <a:latin typeface="Book Antiqua"/>
              </a:rPr>
              <a:t>Gemini used only to read room labels, never geometry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Rectangle 4"/>
          <p:cNvSpPr txBox="1">
            <a:spLocks noChangeArrowheads="1"/>
          </p:cNvSpPr>
          <p:nvPr/>
        </p:nvSpPr>
        <p:spPr>
          <a:xfrm>
            <a:off x="0" y="0"/>
            <a:ext cx="12192000" cy="1447800"/>
          </a:xfrm>
          <a:prstGeom prst="rect">
            <a:avLst/>
          </a:prstGeom>
          <a:solidFill>
            <a:srgbClr val="3333CC"/>
          </a:solid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IN" sz="3600" b="1" dirty="0">
                <a:solidFill>
                  <a:schemeClr val="bg1"/>
                </a:solidFill>
                <a:effectLst/>
                <a:latin typeface="Book Antiqua" panose="02040602050305030304" pitchFamily="18" charset="0"/>
                <a:ea typeface="Calibri" panose="020F0502020204030204" pitchFamily="34" charset="0"/>
                <a:cs typeface="Times New Roman" panose="02020603050405020304" pitchFamily="18" charset="0"/>
              </a:rPr>
              <a:t>Project II: Operations Intelligence Platform</a:t>
            </a:r>
            <a:endParaRPr lang="en-IN" sz="5300" dirty="0">
              <a:solidFill>
                <a:schemeClr val="bg1"/>
              </a:solidFill>
              <a:latin typeface="Book Antiqua" panose="0204060205030503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96107A40-7FD5-436B-B3DD-01066071B37C}" type="slidenum">
              <a:rPr lang="en-IN">
                <a:solidFill>
                  <a:prstClr val="black">
                    <a:tint val="75000"/>
                  </a:prstClr>
                </a:solidFill>
                <a:latin typeface="Calibri"/>
              </a:rPr>
              <a:pPr/>
              <a:t>2</a:t>
            </a:fld>
            <a:endParaRPr lang="en-IN">
              <a:solidFill>
                <a:prstClr val="black">
                  <a:tint val="75000"/>
                </a:prstClr>
              </a:solidFill>
              <a:latin typeface="Calibri"/>
            </a:endParaRPr>
          </a:p>
        </p:txBody>
      </p:sp>
      <p:sp>
        <p:nvSpPr>
          <p:cNvPr id="14" name="Footer Placeholder 13">
            <a:extLst>
              <a:ext uri="{FF2B5EF4-FFF2-40B4-BE49-F238E27FC236}">
                <a16:creationId xmlns:a16="http://schemas.microsoft.com/office/drawing/2014/main" id="{3F853E6F-A98E-C7D3-91D3-2AF29EC3AD65}"/>
              </a:ext>
            </a:extLst>
          </p:cNvPr>
          <p:cNvSpPr>
            <a:spLocks noGrp="1"/>
          </p:cNvSpPr>
          <p:nvPr>
            <p:ph type="ftr" sz="quarter" idx="11"/>
          </p:nvPr>
        </p:nvSpPr>
        <p:spPr>
          <a:xfrm>
            <a:off x="4038600" y="6356350"/>
            <a:ext cx="5668108" cy="365125"/>
          </a:xfrm>
        </p:spPr>
        <p:txBody>
          <a:bodyPr/>
          <a:lstStyle/>
          <a:p>
            <a:r>
              <a:rPr lang="en-IN" sz="1200" b="1" dirty="0">
                <a:latin typeface="Book Antiqua" panose="02040602050305030304" pitchFamily="18" charset="0"/>
                <a:cs typeface="Times New Roman" panose="02020603050405020304" pitchFamily="18" charset="0"/>
              </a:rPr>
              <a:t>SHARAN K        23BDS1153</a:t>
            </a:r>
            <a:endParaRPr lang="en-IN" sz="1200" b="1" dirty="0">
              <a:solidFill>
                <a:schemeClr val="tx1"/>
              </a:solidFill>
              <a:latin typeface="Book Antiqua" panose="02040602050305030304" pitchFamily="18" charset="0"/>
              <a:cs typeface="Times New Roman" panose="02020603050405020304" pitchFamily="18" charset="0"/>
            </a:endParaRPr>
          </a:p>
          <a:p>
            <a:endParaRPr lang="en-US" dirty="0"/>
          </a:p>
        </p:txBody>
      </p:sp>
      <p:sp>
        <p:nvSpPr>
          <p:cNvPr id="15" name="Rounded Rectangle 14"/>
          <p:cNvSpPr/>
          <p:nvPr/>
        </p:nvSpPr>
        <p:spPr>
          <a:xfrm>
            <a:off x="548640" y="1691640"/>
            <a:ext cx="3593592" cy="1188720"/>
          </a:xfrm>
          <a:prstGeom prst="roundRect">
            <a:avLst>
              <a:gd name="adj" fmla="val 6000"/>
            </a:avLst>
          </a:prstGeom>
          <a:solidFill>
            <a:srgbClr val="EE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13232" y="1755648"/>
            <a:ext cx="3291840" cy="365760"/>
          </a:xfrm>
          <a:prstGeom prst="rect">
            <a:avLst/>
          </a:prstGeom>
          <a:noFill/>
        </p:spPr>
        <p:txBody>
          <a:bodyPr wrap="square" lIns="36576" rIns="36576" tIns="18288" bIns="18288" anchor="t">
            <a:spAutoFit/>
          </a:bodyPr>
          <a:lstStyle/>
          <a:p>
            <a:pPr algn="l">
              <a:lnSpc>
                <a:spcPct val="100000"/>
              </a:lnSpc>
              <a:spcAft>
                <a:spcPts val="0"/>
              </a:spcAft>
            </a:pPr>
            <a:r>
              <a:rPr sz="1500" b="1" i="0">
                <a:solidFill>
                  <a:srgbClr val="D94A2B"/>
                </a:solidFill>
                <a:latin typeface="Book Antiqua"/>
              </a:rPr>
              <a:t>Data from six systems</a:t>
            </a:r>
          </a:p>
        </p:txBody>
      </p:sp>
      <p:sp>
        <p:nvSpPr>
          <p:cNvPr id="17" name="TextBox 16"/>
          <p:cNvSpPr txBox="1"/>
          <p:nvPr/>
        </p:nvSpPr>
        <p:spPr>
          <a:xfrm>
            <a:off x="713232" y="2121408"/>
            <a:ext cx="3310128" cy="731520"/>
          </a:xfrm>
          <a:prstGeom prst="rect">
            <a:avLst/>
          </a:prstGeom>
          <a:noFill/>
        </p:spPr>
        <p:txBody>
          <a:bodyPr wrap="square" lIns="36576" rIns="36576" tIns="18288" bIns="18288" anchor="t">
            <a:spAutoFit/>
          </a:bodyPr>
          <a:lstStyle/>
          <a:p>
            <a:pPr algn="l">
              <a:lnSpc>
                <a:spcPct val="100000"/>
              </a:lnSpc>
              <a:spcAft>
                <a:spcPts val="0"/>
              </a:spcAft>
            </a:pPr>
            <a:r>
              <a:rPr sz="1250" b="0" i="0">
                <a:solidFill>
                  <a:srgbClr val="1C1E2B"/>
                </a:solidFill>
                <a:latin typeface="Book Antiqua"/>
              </a:rPr>
              <a:t>Dialler, chat, email, back office, CRM and WFM extracts with duplicates, label drift, gaps and personal data</a:t>
            </a:r>
          </a:p>
        </p:txBody>
      </p:sp>
      <p:sp>
        <p:nvSpPr>
          <p:cNvPr id="18" name="Rounded Rectangle 17"/>
          <p:cNvSpPr/>
          <p:nvPr/>
        </p:nvSpPr>
        <p:spPr>
          <a:xfrm>
            <a:off x="4297679" y="1691640"/>
            <a:ext cx="3593592" cy="1188720"/>
          </a:xfrm>
          <a:prstGeom prst="roundRect">
            <a:avLst>
              <a:gd name="adj" fmla="val 6000"/>
            </a:avLst>
          </a:prstGeom>
          <a:solidFill>
            <a:srgbClr val="EE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462271" y="1755648"/>
            <a:ext cx="3291840" cy="365760"/>
          </a:xfrm>
          <a:prstGeom prst="rect">
            <a:avLst/>
          </a:prstGeom>
          <a:noFill/>
        </p:spPr>
        <p:txBody>
          <a:bodyPr wrap="square" lIns="36576" rIns="36576" tIns="18288" bIns="18288" anchor="t">
            <a:spAutoFit/>
          </a:bodyPr>
          <a:lstStyle/>
          <a:p>
            <a:pPr algn="l">
              <a:lnSpc>
                <a:spcPct val="100000"/>
              </a:lnSpc>
              <a:spcAft>
                <a:spcPts val="0"/>
              </a:spcAft>
            </a:pPr>
            <a:r>
              <a:rPr sz="1500" b="1" i="0">
                <a:solidFill>
                  <a:srgbClr val="D94A2B"/>
                </a:solidFill>
                <a:latin typeface="Book Antiqua"/>
              </a:rPr>
              <a:t>One metric, many numbers</a:t>
            </a:r>
          </a:p>
        </p:txBody>
      </p:sp>
      <p:sp>
        <p:nvSpPr>
          <p:cNvPr id="20" name="TextBox 19"/>
          <p:cNvSpPr txBox="1"/>
          <p:nvPr/>
        </p:nvSpPr>
        <p:spPr>
          <a:xfrm>
            <a:off x="4462271" y="2121408"/>
            <a:ext cx="3310128" cy="731520"/>
          </a:xfrm>
          <a:prstGeom prst="rect">
            <a:avLst/>
          </a:prstGeom>
          <a:noFill/>
        </p:spPr>
        <p:txBody>
          <a:bodyPr wrap="square" lIns="36576" rIns="36576" tIns="18288" bIns="18288" anchor="t">
            <a:spAutoFit/>
          </a:bodyPr>
          <a:lstStyle/>
          <a:p>
            <a:pPr algn="l">
              <a:lnSpc>
                <a:spcPct val="100000"/>
              </a:lnSpc>
              <a:spcAft>
                <a:spcPts val="0"/>
              </a:spcAft>
            </a:pPr>
            <a:r>
              <a:rPr sz="1250" b="0" i="0">
                <a:solidFill>
                  <a:srgbClr val="1C1E2B"/>
                </a:solidFill>
                <a:latin typeface="Book Antiqua"/>
              </a:rPr>
              <a:t>Service level computed differently in different reports, so meetings argue about the figure</a:t>
            </a:r>
          </a:p>
        </p:txBody>
      </p:sp>
      <p:sp>
        <p:nvSpPr>
          <p:cNvPr id="21" name="Rounded Rectangle 20"/>
          <p:cNvSpPr/>
          <p:nvPr/>
        </p:nvSpPr>
        <p:spPr>
          <a:xfrm>
            <a:off x="8046719" y="1691640"/>
            <a:ext cx="3593592" cy="1188720"/>
          </a:xfrm>
          <a:prstGeom prst="roundRect">
            <a:avLst>
              <a:gd name="adj" fmla="val 6000"/>
            </a:avLst>
          </a:prstGeom>
          <a:solidFill>
            <a:srgbClr val="EE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211311" y="1755648"/>
            <a:ext cx="3291840" cy="365760"/>
          </a:xfrm>
          <a:prstGeom prst="rect">
            <a:avLst/>
          </a:prstGeom>
          <a:noFill/>
        </p:spPr>
        <p:txBody>
          <a:bodyPr wrap="square" lIns="36576" rIns="36576" tIns="18288" bIns="18288" anchor="t">
            <a:spAutoFit/>
          </a:bodyPr>
          <a:lstStyle/>
          <a:p>
            <a:pPr algn="l">
              <a:lnSpc>
                <a:spcPct val="100000"/>
              </a:lnSpc>
              <a:spcAft>
                <a:spcPts val="0"/>
              </a:spcAft>
            </a:pPr>
            <a:r>
              <a:rPr sz="1500" b="1" i="0">
                <a:solidFill>
                  <a:srgbClr val="D94A2B"/>
                </a:solidFill>
                <a:latin typeface="Book Antiqua"/>
              </a:rPr>
              <a:t>Daily averages hide failures</a:t>
            </a:r>
          </a:p>
        </p:txBody>
      </p:sp>
      <p:sp>
        <p:nvSpPr>
          <p:cNvPr id="23" name="TextBox 22"/>
          <p:cNvSpPr txBox="1"/>
          <p:nvPr/>
        </p:nvSpPr>
        <p:spPr>
          <a:xfrm>
            <a:off x="8211311" y="2121408"/>
            <a:ext cx="3310128" cy="731520"/>
          </a:xfrm>
          <a:prstGeom prst="rect">
            <a:avLst/>
          </a:prstGeom>
          <a:noFill/>
        </p:spPr>
        <p:txBody>
          <a:bodyPr wrap="square" lIns="36576" rIns="36576" tIns="18288" bIns="18288" anchor="t">
            <a:spAutoFit/>
          </a:bodyPr>
          <a:lstStyle/>
          <a:p>
            <a:pPr algn="l">
              <a:lnSpc>
                <a:spcPct val="100000"/>
              </a:lnSpc>
              <a:spcAft>
                <a:spcPts val="0"/>
              </a:spcAft>
            </a:pPr>
            <a:r>
              <a:rPr sz="1250" b="0" i="0">
                <a:solidFill>
                  <a:srgbClr val="1C1E2B"/>
                </a:solidFill>
                <a:latin typeface="Book Antiqua"/>
              </a:rPr>
              <a:t>A queue can meet its daily target and still fail every weekday morning</a:t>
            </a:r>
          </a:p>
        </p:txBody>
      </p:sp>
      <p:pic>
        <p:nvPicPr>
          <p:cNvPr id="24" name="Picture 23" descr="diagram2.png"/>
          <p:cNvPicPr>
            <a:picLocks noChangeAspect="1"/>
          </p:cNvPicPr>
          <p:nvPr/>
        </p:nvPicPr>
        <p:blipFill>
          <a:blip r:embed="rId2"/>
          <a:stretch>
            <a:fillRect/>
          </a:stretch>
        </p:blipFill>
        <p:spPr>
          <a:xfrm>
            <a:off x="1156716" y="2971800"/>
            <a:ext cx="9875520" cy="2934440"/>
          </a:xfrm>
          <a:prstGeom prst="rect">
            <a:avLst/>
          </a:prstGeom>
        </p:spPr>
      </p:pic>
      <p:sp>
        <p:nvSpPr>
          <p:cNvPr id="25" name="TextBox 24"/>
          <p:cNvSpPr txBox="1"/>
          <p:nvPr/>
        </p:nvSpPr>
        <p:spPr>
          <a:xfrm>
            <a:off x="548640" y="5943600"/>
            <a:ext cx="11091672" cy="320040"/>
          </a:xfrm>
          <a:prstGeom prst="rect">
            <a:avLst/>
          </a:prstGeom>
          <a:noFill/>
        </p:spPr>
        <p:txBody>
          <a:bodyPr wrap="square" lIns="36576" rIns="36576" tIns="18288" bIns="18288" anchor="t">
            <a:spAutoFit/>
          </a:bodyPr>
          <a:lstStyle/>
          <a:p>
            <a:pPr algn="l">
              <a:lnSpc>
                <a:spcPct val="100000"/>
              </a:lnSpc>
              <a:spcAft>
                <a:spcPts val="600"/>
              </a:spcAft>
            </a:pPr>
            <a:r>
              <a:rPr sz="1200" b="0" i="1">
                <a:solidFill>
                  <a:srgbClr val="555A6B"/>
                </a:solidFill>
                <a:latin typeface="Book Antiqua"/>
              </a:rPr>
              <a:t>Company data is confidential. Every screen and number from here on comes from my reconstruction of the platform on synthetic data.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Rectangle 4"/>
          <p:cNvSpPr txBox="1">
            <a:spLocks noChangeArrowheads="1"/>
          </p:cNvSpPr>
          <p:nvPr/>
        </p:nvSpPr>
        <p:spPr>
          <a:xfrm>
            <a:off x="0" y="0"/>
            <a:ext cx="12192000" cy="1447800"/>
          </a:xfrm>
          <a:prstGeom prst="rect">
            <a:avLst/>
          </a:prstGeom>
          <a:solidFill>
            <a:srgbClr val="3333CC"/>
          </a:solid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IN" sz="3600" b="1" dirty="0">
                <a:solidFill>
                  <a:schemeClr val="bg1"/>
                </a:solidFill>
                <a:effectLst/>
                <a:latin typeface="Book Antiqua" panose="02040602050305030304" pitchFamily="18" charset="0"/>
                <a:ea typeface="Calibri" panose="020F0502020204030204" pitchFamily="34" charset="0"/>
                <a:cs typeface="Times New Roman" panose="02020603050405020304" pitchFamily="18" charset="0"/>
              </a:rPr>
              <a:t>SQL Development and Optimisation</a:t>
            </a:r>
            <a:endParaRPr lang="en-IN" sz="5300" dirty="0">
              <a:solidFill>
                <a:schemeClr val="bg1"/>
              </a:solidFill>
              <a:latin typeface="Book Antiqua" panose="0204060205030503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96107A40-7FD5-436B-B3DD-01066071B37C}" type="slidenum">
              <a:rPr lang="en-IN">
                <a:solidFill>
                  <a:prstClr val="black">
                    <a:tint val="75000"/>
                  </a:prstClr>
                </a:solidFill>
                <a:latin typeface="Calibri"/>
              </a:rPr>
              <a:pPr/>
              <a:t>2</a:t>
            </a:fld>
            <a:endParaRPr lang="en-IN">
              <a:solidFill>
                <a:prstClr val="black">
                  <a:tint val="75000"/>
                </a:prstClr>
              </a:solidFill>
              <a:latin typeface="Calibri"/>
            </a:endParaRPr>
          </a:p>
        </p:txBody>
      </p:sp>
      <p:sp>
        <p:nvSpPr>
          <p:cNvPr id="14" name="Footer Placeholder 13">
            <a:extLst>
              <a:ext uri="{FF2B5EF4-FFF2-40B4-BE49-F238E27FC236}">
                <a16:creationId xmlns:a16="http://schemas.microsoft.com/office/drawing/2014/main" id="{3F853E6F-A98E-C7D3-91D3-2AF29EC3AD65}"/>
              </a:ext>
            </a:extLst>
          </p:cNvPr>
          <p:cNvSpPr>
            <a:spLocks noGrp="1"/>
          </p:cNvSpPr>
          <p:nvPr>
            <p:ph type="ftr" sz="quarter" idx="11"/>
          </p:nvPr>
        </p:nvSpPr>
        <p:spPr>
          <a:xfrm>
            <a:off x="4038600" y="6356350"/>
            <a:ext cx="5668108" cy="365125"/>
          </a:xfrm>
        </p:spPr>
        <p:txBody>
          <a:bodyPr/>
          <a:lstStyle/>
          <a:p>
            <a:r>
              <a:rPr lang="en-IN" sz="1200" b="1" dirty="0">
                <a:latin typeface="Book Antiqua" panose="02040602050305030304" pitchFamily="18" charset="0"/>
                <a:cs typeface="Times New Roman" panose="02020603050405020304" pitchFamily="18" charset="0"/>
              </a:rPr>
              <a:t>SHARAN K        23BDS1153</a:t>
            </a:r>
            <a:endParaRPr lang="en-IN" sz="1200" b="1" dirty="0">
              <a:solidFill>
                <a:schemeClr val="tx1"/>
              </a:solidFill>
              <a:latin typeface="Book Antiqua" panose="02040602050305030304" pitchFamily="18" charset="0"/>
              <a:cs typeface="Times New Roman" panose="02020603050405020304" pitchFamily="18" charset="0"/>
            </a:endParaRPr>
          </a:p>
          <a:p>
            <a:endParaRPr lang="en-US" dirty="0"/>
          </a:p>
        </p:txBody>
      </p:sp>
      <p:sp>
        <p:nvSpPr>
          <p:cNvPr id="15" name="TextBox 14"/>
          <p:cNvSpPr txBox="1"/>
          <p:nvPr/>
        </p:nvSpPr>
        <p:spPr>
          <a:xfrm>
            <a:off x="548640" y="1737360"/>
            <a:ext cx="5120640" cy="4389120"/>
          </a:xfrm>
          <a:prstGeom prst="rect">
            <a:avLst/>
          </a:prstGeom>
          <a:noFill/>
        </p:spPr>
        <p:txBody>
          <a:bodyPr wrap="square" lIns="36576" rIns="36576" tIns="18288" bIns="18288" anchor="t">
            <a:spAutoFit/>
          </a:bodyPr>
          <a:lstStyle/>
          <a:p>
            <a:pPr algn="l">
              <a:lnSpc>
                <a:spcPct val="100000"/>
              </a:lnSpc>
              <a:spcAft>
                <a:spcPts val="1200"/>
              </a:spcAft>
            </a:pPr>
            <a:r>
              <a:rPr sz="1450" b="1" i="0">
                <a:solidFill>
                  <a:srgbClr val="3333CC"/>
                </a:solidFill>
                <a:latin typeface="Book Antiqua"/>
              </a:rPr>
              <a:t>Aggregation (5 Jun). </a:t>
            </a:r>
            <a:r>
              <a:rPr sz="1450" b="0" i="0">
                <a:solidFill>
                  <a:srgbClr val="1C1E2B"/>
                </a:solidFill>
                <a:latin typeface="Book Antiqua"/>
              </a:rPr>
              <a:t>Volume, AHT and talk time by queue; WHERE filters rows, HAVING filters groups; checked against an operational report.</a:t>
            </a:r>
          </a:p>
          <a:p>
            <a:pPr algn="l">
              <a:lnSpc>
                <a:spcPct val="100000"/>
              </a:lnSpc>
              <a:spcAft>
                <a:spcPts val="1200"/>
              </a:spcAft>
            </a:pPr>
            <a:r>
              <a:rPr sz="1450" b="1" i="0">
                <a:solidFill>
                  <a:srgbClr val="3333CC"/>
                </a:solidFill>
                <a:latin typeface="Book Antiqua"/>
              </a:rPr>
              <a:t>Join trap (6 Jun). </a:t>
            </a:r>
            <a:r>
              <a:rPr sz="1450" b="0" i="0">
                <a:solidFill>
                  <a:srgbClr val="1C1E2B"/>
                </a:solidFill>
                <a:latin typeface="Book Antiqua"/>
              </a:rPr>
              <a:t>A four-table join duplicated rows: one interaction has many status rows. Row counts are now checked before and after every join.</a:t>
            </a:r>
          </a:p>
          <a:p>
            <a:pPr algn="l">
              <a:lnSpc>
                <a:spcPct val="100000"/>
              </a:lnSpc>
              <a:spcAft>
                <a:spcPts val="1200"/>
              </a:spcAft>
            </a:pPr>
            <a:r>
              <a:rPr sz="1450" b="1" i="0">
                <a:solidFill>
                  <a:srgbClr val="3333CC"/>
                </a:solidFill>
                <a:latin typeface="Book Antiqua"/>
              </a:rPr>
              <a:t>Window functions (8 Jun). </a:t>
            </a:r>
            <a:r>
              <a:rPr sz="1450" b="0" i="0">
                <a:solidFill>
                  <a:srgbClr val="1C1E2B"/>
                </a:solidFill>
                <a:latin typeface="Book Antiqua"/>
              </a:rPr>
              <a:t>ROW_NUMBER keeps the latest status, RANK orders agents in each queue, AVG OVER gives a 7-day moving average.</a:t>
            </a:r>
          </a:p>
          <a:p>
            <a:pPr algn="l">
              <a:lnSpc>
                <a:spcPct val="100000"/>
              </a:lnSpc>
              <a:spcAft>
                <a:spcPts val="1200"/>
              </a:spcAft>
            </a:pPr>
            <a:r>
              <a:rPr sz="1450" b="1" i="0">
                <a:solidFill>
                  <a:srgbClr val="3333CC"/>
                </a:solidFill>
                <a:latin typeface="Book Antiqua"/>
              </a:rPr>
              <a:t>Optimisation (9 Jun). </a:t>
            </a:r>
            <a:r>
              <a:rPr sz="1450" b="0" i="0">
                <a:solidFill>
                  <a:srgbClr val="1C1E2B"/>
                </a:solidFill>
                <a:latin typeface="Book Antiqua"/>
              </a:rPr>
              <a:t>A function on the date column forced a full scan. A range on the indexed date key turned it into an index search.</a:t>
            </a:r>
          </a:p>
        </p:txBody>
      </p:sp>
      <p:pic>
        <p:nvPicPr>
          <p:cNvPr id="16" name="Picture 15" descr="s_sql_pair.jpg"/>
          <p:cNvPicPr>
            <a:picLocks noChangeAspect="1"/>
          </p:cNvPicPr>
          <p:nvPr/>
        </p:nvPicPr>
        <p:blipFill>
          <a:blip r:embed="rId2"/>
          <a:stretch>
            <a:fillRect/>
          </a:stretch>
        </p:blipFill>
        <p:spPr>
          <a:xfrm>
            <a:off x="5897879" y="2041039"/>
            <a:ext cx="5742432" cy="3736040"/>
          </a:xfrm>
          <a:prstGeom prst="rect">
            <a:avLst/>
          </a:prstGeom>
          <a:ln w="9525">
            <a:solidFill>
              <a:srgbClr val="D5D7EE"/>
            </a:solidFill>
          </a:ln>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Rectangle 4"/>
          <p:cNvSpPr txBox="1">
            <a:spLocks noChangeArrowheads="1"/>
          </p:cNvSpPr>
          <p:nvPr/>
        </p:nvSpPr>
        <p:spPr>
          <a:xfrm>
            <a:off x="0" y="0"/>
            <a:ext cx="12192000" cy="1447800"/>
          </a:xfrm>
          <a:prstGeom prst="rect">
            <a:avLst/>
          </a:prstGeom>
          <a:solidFill>
            <a:srgbClr val="3333CC"/>
          </a:solid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IN" sz="3600" b="1" dirty="0">
                <a:solidFill>
                  <a:schemeClr val="bg1"/>
                </a:solidFill>
                <a:effectLst/>
                <a:latin typeface="Book Antiqua" panose="02040602050305030304" pitchFamily="18" charset="0"/>
                <a:ea typeface="Calibri" panose="020F0502020204030204" pitchFamily="34" charset="0"/>
                <a:cs typeface="Times New Roman" panose="02020603050405020304" pitchFamily="18" charset="0"/>
              </a:rPr>
              <a:t>Data Cleaning and Reconciliation</a:t>
            </a:r>
            <a:endParaRPr lang="en-IN" sz="5300" dirty="0">
              <a:solidFill>
                <a:schemeClr val="bg1"/>
              </a:solidFill>
              <a:latin typeface="Book Antiqua" panose="0204060205030503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96107A40-7FD5-436B-B3DD-01066071B37C}" type="slidenum">
              <a:rPr lang="en-IN">
                <a:solidFill>
                  <a:prstClr val="black">
                    <a:tint val="75000"/>
                  </a:prstClr>
                </a:solidFill>
                <a:latin typeface="Calibri"/>
              </a:rPr>
              <a:pPr/>
              <a:t>2</a:t>
            </a:fld>
            <a:endParaRPr lang="en-IN">
              <a:solidFill>
                <a:prstClr val="black">
                  <a:tint val="75000"/>
                </a:prstClr>
              </a:solidFill>
              <a:latin typeface="Calibri"/>
            </a:endParaRPr>
          </a:p>
        </p:txBody>
      </p:sp>
      <p:sp>
        <p:nvSpPr>
          <p:cNvPr id="14" name="Footer Placeholder 13">
            <a:extLst>
              <a:ext uri="{FF2B5EF4-FFF2-40B4-BE49-F238E27FC236}">
                <a16:creationId xmlns:a16="http://schemas.microsoft.com/office/drawing/2014/main" id="{3F853E6F-A98E-C7D3-91D3-2AF29EC3AD65}"/>
              </a:ext>
            </a:extLst>
          </p:cNvPr>
          <p:cNvSpPr>
            <a:spLocks noGrp="1"/>
          </p:cNvSpPr>
          <p:nvPr>
            <p:ph type="ftr" sz="quarter" idx="11"/>
          </p:nvPr>
        </p:nvSpPr>
        <p:spPr>
          <a:xfrm>
            <a:off x="4038600" y="6356350"/>
            <a:ext cx="5668108" cy="365125"/>
          </a:xfrm>
        </p:spPr>
        <p:txBody>
          <a:bodyPr/>
          <a:lstStyle/>
          <a:p>
            <a:r>
              <a:rPr lang="en-IN" sz="1200" b="1" dirty="0">
                <a:latin typeface="Book Antiqua" panose="02040602050305030304" pitchFamily="18" charset="0"/>
                <a:cs typeface="Times New Roman" panose="02020603050405020304" pitchFamily="18" charset="0"/>
              </a:rPr>
              <a:t>SHARAN K        23BDS1153</a:t>
            </a:r>
            <a:endParaRPr lang="en-IN" sz="1200" b="1" dirty="0">
              <a:solidFill>
                <a:schemeClr val="tx1"/>
              </a:solidFill>
              <a:latin typeface="Book Antiqua" panose="02040602050305030304" pitchFamily="18" charset="0"/>
              <a:cs typeface="Times New Roman" panose="02020603050405020304" pitchFamily="18" charset="0"/>
            </a:endParaRPr>
          </a:p>
          <a:p>
            <a:endParaRPr lang="en-US" dirty="0"/>
          </a:p>
        </p:txBody>
      </p:sp>
      <p:sp>
        <p:nvSpPr>
          <p:cNvPr id="15" name="Rounded Rectangle 14"/>
          <p:cNvSpPr/>
          <p:nvPr/>
        </p:nvSpPr>
        <p:spPr>
          <a:xfrm>
            <a:off x="548640" y="1691640"/>
            <a:ext cx="4206240" cy="804672"/>
          </a:xfrm>
          <a:prstGeom prst="roundRect">
            <a:avLst>
              <a:gd name="adj" fmla="val 6000"/>
            </a:avLst>
          </a:prstGeom>
          <a:solidFill>
            <a:srgbClr val="EE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85800" y="1764792"/>
            <a:ext cx="3931920" cy="502920"/>
          </a:xfrm>
          <a:prstGeom prst="rect">
            <a:avLst/>
          </a:prstGeom>
          <a:noFill/>
        </p:spPr>
        <p:txBody>
          <a:bodyPr wrap="square" lIns="36576" rIns="36576" tIns="18288" bIns="18288" anchor="t">
            <a:spAutoFit/>
          </a:bodyPr>
          <a:lstStyle/>
          <a:p>
            <a:pPr algn="l">
              <a:lnSpc>
                <a:spcPct val="100000"/>
              </a:lnSpc>
              <a:spcAft>
                <a:spcPts val="0"/>
              </a:spcAft>
            </a:pPr>
            <a:r>
              <a:rPr sz="2400" b="1" i="0">
                <a:solidFill>
                  <a:srgbClr val="3333CC"/>
                </a:solidFill>
                <a:latin typeface="Book Antiqua"/>
              </a:rPr>
              <a:t>2,642</a:t>
            </a:r>
          </a:p>
        </p:txBody>
      </p:sp>
      <p:sp>
        <p:nvSpPr>
          <p:cNvPr id="17" name="TextBox 16"/>
          <p:cNvSpPr txBox="1"/>
          <p:nvPr/>
        </p:nvSpPr>
        <p:spPr>
          <a:xfrm>
            <a:off x="685800" y="2130552"/>
            <a:ext cx="3931920" cy="256031"/>
          </a:xfrm>
          <a:prstGeom prst="rect">
            <a:avLst/>
          </a:prstGeom>
          <a:noFill/>
        </p:spPr>
        <p:txBody>
          <a:bodyPr wrap="square" lIns="36576" rIns="36576" tIns="18288" bIns="18288" anchor="t">
            <a:spAutoFit/>
          </a:bodyPr>
          <a:lstStyle/>
          <a:p>
            <a:pPr algn="l">
              <a:lnSpc>
                <a:spcPct val="100000"/>
              </a:lnSpc>
              <a:spcAft>
                <a:spcPts val="0"/>
              </a:spcAft>
            </a:pPr>
            <a:r>
              <a:rPr sz="1250" b="0" i="0">
                <a:solidFill>
                  <a:srgbClr val="555A6B"/>
                </a:solidFill>
                <a:latin typeface="Book Antiqua"/>
              </a:rPr>
              <a:t>duplicate rows removed on a composite business key</a:t>
            </a:r>
          </a:p>
        </p:txBody>
      </p:sp>
      <p:sp>
        <p:nvSpPr>
          <p:cNvPr id="18" name="Rounded Rectangle 17"/>
          <p:cNvSpPr/>
          <p:nvPr/>
        </p:nvSpPr>
        <p:spPr>
          <a:xfrm>
            <a:off x="548640" y="2578608"/>
            <a:ext cx="4206240" cy="804672"/>
          </a:xfrm>
          <a:prstGeom prst="roundRect">
            <a:avLst>
              <a:gd name="adj" fmla="val 6000"/>
            </a:avLst>
          </a:prstGeom>
          <a:solidFill>
            <a:srgbClr val="EE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85800" y="2651760"/>
            <a:ext cx="3931920" cy="502920"/>
          </a:xfrm>
          <a:prstGeom prst="rect">
            <a:avLst/>
          </a:prstGeom>
          <a:noFill/>
        </p:spPr>
        <p:txBody>
          <a:bodyPr wrap="square" lIns="36576" rIns="36576" tIns="18288" bIns="18288" anchor="t">
            <a:spAutoFit/>
          </a:bodyPr>
          <a:lstStyle/>
          <a:p>
            <a:pPr algn="l">
              <a:lnSpc>
                <a:spcPct val="100000"/>
              </a:lnSpc>
              <a:spcAft>
                <a:spcPts val="0"/>
              </a:spcAft>
            </a:pPr>
            <a:r>
              <a:rPr sz="2400" b="1" i="0">
                <a:solidFill>
                  <a:srgbClr val="3333CC"/>
                </a:solidFill>
                <a:latin typeface="Book Antiqua"/>
              </a:rPr>
              <a:t>32 → 9</a:t>
            </a:r>
          </a:p>
        </p:txBody>
      </p:sp>
      <p:sp>
        <p:nvSpPr>
          <p:cNvPr id="20" name="TextBox 19"/>
          <p:cNvSpPr txBox="1"/>
          <p:nvPr/>
        </p:nvSpPr>
        <p:spPr>
          <a:xfrm>
            <a:off x="685800" y="3017520"/>
            <a:ext cx="3931920" cy="256031"/>
          </a:xfrm>
          <a:prstGeom prst="rect">
            <a:avLst/>
          </a:prstGeom>
          <a:noFill/>
        </p:spPr>
        <p:txBody>
          <a:bodyPr wrap="square" lIns="36576" rIns="36576" tIns="18288" bIns="18288" anchor="t">
            <a:spAutoFit/>
          </a:bodyPr>
          <a:lstStyle/>
          <a:p>
            <a:pPr algn="l">
              <a:lnSpc>
                <a:spcPct val="100000"/>
              </a:lnSpc>
              <a:spcAft>
                <a:spcPts val="0"/>
              </a:spcAft>
            </a:pPr>
            <a:r>
              <a:rPr sz="1250" b="0" i="0">
                <a:solidFill>
                  <a:srgbClr val="555A6B"/>
                </a:solidFill>
                <a:latin typeface="Book Antiqua"/>
              </a:rPr>
              <a:t>queue-label spellings mapped to canonical queues</a:t>
            </a:r>
          </a:p>
        </p:txBody>
      </p:sp>
      <p:sp>
        <p:nvSpPr>
          <p:cNvPr id="21" name="Rounded Rectangle 20"/>
          <p:cNvSpPr/>
          <p:nvPr/>
        </p:nvSpPr>
        <p:spPr>
          <a:xfrm>
            <a:off x="548640" y="3465576"/>
            <a:ext cx="4206240" cy="804672"/>
          </a:xfrm>
          <a:prstGeom prst="roundRect">
            <a:avLst>
              <a:gd name="adj" fmla="val 6000"/>
            </a:avLst>
          </a:prstGeom>
          <a:solidFill>
            <a:srgbClr val="EE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85800" y="3538728"/>
            <a:ext cx="3931920" cy="502920"/>
          </a:xfrm>
          <a:prstGeom prst="rect">
            <a:avLst/>
          </a:prstGeom>
          <a:noFill/>
        </p:spPr>
        <p:txBody>
          <a:bodyPr wrap="square" lIns="36576" rIns="36576" tIns="18288" bIns="18288" anchor="t">
            <a:spAutoFit/>
          </a:bodyPr>
          <a:lstStyle/>
          <a:p>
            <a:pPr algn="l">
              <a:lnSpc>
                <a:spcPct val="100000"/>
              </a:lnSpc>
              <a:spcAft>
                <a:spcPts val="0"/>
              </a:spcAft>
            </a:pPr>
            <a:r>
              <a:rPr sz="2400" b="1" i="0">
                <a:solidFill>
                  <a:srgbClr val="3333CC"/>
                </a:solidFill>
                <a:latin typeface="Book Antiqua"/>
              </a:rPr>
              <a:t>538</a:t>
            </a:r>
          </a:p>
        </p:txBody>
      </p:sp>
      <p:sp>
        <p:nvSpPr>
          <p:cNvPr id="23" name="TextBox 22"/>
          <p:cNvSpPr txBox="1"/>
          <p:nvPr/>
        </p:nvSpPr>
        <p:spPr>
          <a:xfrm>
            <a:off x="685800" y="3904488"/>
            <a:ext cx="3931920" cy="256031"/>
          </a:xfrm>
          <a:prstGeom prst="rect">
            <a:avLst/>
          </a:prstGeom>
          <a:noFill/>
        </p:spPr>
        <p:txBody>
          <a:bodyPr wrap="square" lIns="36576" rIns="36576" tIns="18288" bIns="18288" anchor="t">
            <a:spAutoFit/>
          </a:bodyPr>
          <a:lstStyle/>
          <a:p>
            <a:pPr algn="l">
              <a:lnSpc>
                <a:spcPct val="100000"/>
              </a:lnSpc>
              <a:spcAft>
                <a:spcPts val="0"/>
              </a:spcAft>
            </a:pPr>
            <a:r>
              <a:rPr sz="1250" b="0" i="0">
                <a:solidFill>
                  <a:srgbClr val="555A6B"/>
                </a:solidFill>
                <a:latin typeface="Book Antiqua"/>
              </a:rPr>
              <a:t>unclosed agent sessions capped; 1,715 genuine long calls kept</a:t>
            </a:r>
          </a:p>
        </p:txBody>
      </p:sp>
      <p:sp>
        <p:nvSpPr>
          <p:cNvPr id="24" name="Rounded Rectangle 23"/>
          <p:cNvSpPr/>
          <p:nvPr/>
        </p:nvSpPr>
        <p:spPr>
          <a:xfrm>
            <a:off x="548640" y="4352544"/>
            <a:ext cx="4206240" cy="804672"/>
          </a:xfrm>
          <a:prstGeom prst="roundRect">
            <a:avLst>
              <a:gd name="adj" fmla="val 6000"/>
            </a:avLst>
          </a:prstGeom>
          <a:solidFill>
            <a:srgbClr val="EE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85800" y="4425696"/>
            <a:ext cx="3931920" cy="502920"/>
          </a:xfrm>
          <a:prstGeom prst="rect">
            <a:avLst/>
          </a:prstGeom>
          <a:noFill/>
        </p:spPr>
        <p:txBody>
          <a:bodyPr wrap="square" lIns="36576" rIns="36576" tIns="18288" bIns="18288" anchor="t">
            <a:spAutoFit/>
          </a:bodyPr>
          <a:lstStyle/>
          <a:p>
            <a:pPr algn="l">
              <a:lnSpc>
                <a:spcPct val="100000"/>
              </a:lnSpc>
              <a:spcAft>
                <a:spcPts val="0"/>
              </a:spcAft>
            </a:pPr>
            <a:r>
              <a:rPr sz="2400" b="1" i="0">
                <a:solidFill>
                  <a:srgbClr val="3333CC"/>
                </a:solidFill>
                <a:latin typeface="Book Antiqua"/>
              </a:rPr>
              <a:t>552 / 552</a:t>
            </a:r>
          </a:p>
        </p:txBody>
      </p:sp>
      <p:sp>
        <p:nvSpPr>
          <p:cNvPr id="26" name="TextBox 25"/>
          <p:cNvSpPr txBox="1"/>
          <p:nvPr/>
        </p:nvSpPr>
        <p:spPr>
          <a:xfrm>
            <a:off x="685800" y="4791456"/>
            <a:ext cx="3931920" cy="256031"/>
          </a:xfrm>
          <a:prstGeom prst="rect">
            <a:avLst/>
          </a:prstGeom>
          <a:noFill/>
        </p:spPr>
        <p:txBody>
          <a:bodyPr wrap="square" lIns="36576" rIns="36576" tIns="18288" bIns="18288" anchor="t">
            <a:spAutoFit/>
          </a:bodyPr>
          <a:lstStyle/>
          <a:p>
            <a:pPr algn="l">
              <a:lnSpc>
                <a:spcPct val="100000"/>
              </a:lnSpc>
              <a:spcAft>
                <a:spcPts val="0"/>
              </a:spcAft>
            </a:pPr>
            <a:r>
              <a:rPr sz="1250" b="0" i="0">
                <a:solidFill>
                  <a:srgbClr val="555A6B"/>
                </a:solidFill>
                <a:latin typeface="Book Antiqua"/>
              </a:rPr>
              <a:t>queue-days reconcile exactly with the source report</a:t>
            </a:r>
          </a:p>
        </p:txBody>
      </p:sp>
      <p:sp>
        <p:nvSpPr>
          <p:cNvPr id="27" name="Rounded Rectangle 26"/>
          <p:cNvSpPr/>
          <p:nvPr/>
        </p:nvSpPr>
        <p:spPr>
          <a:xfrm>
            <a:off x="548640" y="5239512"/>
            <a:ext cx="4206240" cy="804672"/>
          </a:xfrm>
          <a:prstGeom prst="roundRect">
            <a:avLst>
              <a:gd name="adj" fmla="val 6000"/>
            </a:avLst>
          </a:prstGeom>
          <a:solidFill>
            <a:srgbClr val="EE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85800" y="5312664"/>
            <a:ext cx="3931920" cy="502920"/>
          </a:xfrm>
          <a:prstGeom prst="rect">
            <a:avLst/>
          </a:prstGeom>
          <a:noFill/>
        </p:spPr>
        <p:txBody>
          <a:bodyPr wrap="square" lIns="36576" rIns="36576" tIns="18288" bIns="18288" anchor="t">
            <a:spAutoFit/>
          </a:bodyPr>
          <a:lstStyle/>
          <a:p>
            <a:pPr algn="l">
              <a:lnSpc>
                <a:spcPct val="100000"/>
              </a:lnSpc>
              <a:spcAft>
                <a:spcPts val="0"/>
              </a:spcAft>
            </a:pPr>
            <a:r>
              <a:rPr sz="2400" b="1" i="0">
                <a:solidFill>
                  <a:srgbClr val="D94A2B"/>
                </a:solidFill>
                <a:latin typeface="Book Antiqua"/>
              </a:rPr>
              <a:t>662</a:t>
            </a:r>
          </a:p>
        </p:txBody>
      </p:sp>
      <p:sp>
        <p:nvSpPr>
          <p:cNvPr id="29" name="TextBox 28"/>
          <p:cNvSpPr txBox="1"/>
          <p:nvPr/>
        </p:nvSpPr>
        <p:spPr>
          <a:xfrm>
            <a:off x="685800" y="5678424"/>
            <a:ext cx="3931920" cy="256031"/>
          </a:xfrm>
          <a:prstGeom prst="rect">
            <a:avLst/>
          </a:prstGeom>
          <a:noFill/>
        </p:spPr>
        <p:txBody>
          <a:bodyPr wrap="square" lIns="36576" rIns="36576" tIns="18288" bIns="18288" anchor="t">
            <a:spAutoFit/>
          </a:bodyPr>
          <a:lstStyle/>
          <a:p>
            <a:pPr algn="l">
              <a:lnSpc>
                <a:spcPct val="100000"/>
              </a:lnSpc>
              <a:spcAft>
                <a:spcPts val="0"/>
              </a:spcAft>
            </a:pPr>
            <a:r>
              <a:rPr sz="1250" b="0" i="0">
                <a:solidFill>
                  <a:srgbClr val="555A6B"/>
                </a:solidFill>
                <a:latin typeface="Book Antiqua"/>
              </a:rPr>
              <a:t>answered calls the first version silently dropped</a:t>
            </a:r>
          </a:p>
        </p:txBody>
      </p:sp>
      <p:pic>
        <p:nvPicPr>
          <p:cNvPr id="30" name="Picture 29" descr="s_quality1.jpg"/>
          <p:cNvPicPr>
            <a:picLocks noChangeAspect="1"/>
          </p:cNvPicPr>
          <p:nvPr/>
        </p:nvPicPr>
        <p:blipFill>
          <a:blip r:embed="rId2"/>
          <a:stretch>
            <a:fillRect/>
          </a:stretch>
        </p:blipFill>
        <p:spPr>
          <a:xfrm>
            <a:off x="5475699" y="1691640"/>
            <a:ext cx="5718112" cy="4434840"/>
          </a:xfrm>
          <a:prstGeom prst="rect">
            <a:avLst/>
          </a:prstGeom>
          <a:ln w="9525">
            <a:solidFill>
              <a:srgbClr val="D5D7EE"/>
            </a:solidFill>
          </a:ln>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Rectangle 4"/>
          <p:cNvSpPr txBox="1">
            <a:spLocks noChangeArrowheads="1"/>
          </p:cNvSpPr>
          <p:nvPr/>
        </p:nvSpPr>
        <p:spPr>
          <a:xfrm>
            <a:off x="0" y="0"/>
            <a:ext cx="12192000" cy="1447800"/>
          </a:xfrm>
          <a:prstGeom prst="rect">
            <a:avLst/>
          </a:prstGeom>
          <a:solidFill>
            <a:srgbClr val="3333CC"/>
          </a:solid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IN" sz="3600" b="1" dirty="0">
                <a:solidFill>
                  <a:schemeClr val="bg1"/>
                </a:solidFill>
                <a:effectLst/>
                <a:latin typeface="Book Antiqua" panose="02040602050305030304" pitchFamily="18" charset="0"/>
                <a:ea typeface="Calibri" panose="020F0502020204030204" pitchFamily="34" charset="0"/>
                <a:cs typeface="Times New Roman" panose="02020603050405020304" pitchFamily="18" charset="0"/>
              </a:rPr>
              <a:t>Metric Definitions and Power BI</a:t>
            </a:r>
            <a:endParaRPr lang="en-IN" sz="5300" dirty="0">
              <a:solidFill>
                <a:schemeClr val="bg1"/>
              </a:solidFill>
              <a:latin typeface="Book Antiqua" panose="0204060205030503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96107A40-7FD5-436B-B3DD-01066071B37C}" type="slidenum">
              <a:rPr lang="en-IN">
                <a:solidFill>
                  <a:prstClr val="black">
                    <a:tint val="75000"/>
                  </a:prstClr>
                </a:solidFill>
                <a:latin typeface="Calibri"/>
              </a:rPr>
              <a:pPr/>
              <a:t>2</a:t>
            </a:fld>
            <a:endParaRPr lang="en-IN">
              <a:solidFill>
                <a:prstClr val="black">
                  <a:tint val="75000"/>
                </a:prstClr>
              </a:solidFill>
              <a:latin typeface="Calibri"/>
            </a:endParaRPr>
          </a:p>
        </p:txBody>
      </p:sp>
      <p:sp>
        <p:nvSpPr>
          <p:cNvPr id="14" name="Footer Placeholder 13">
            <a:extLst>
              <a:ext uri="{FF2B5EF4-FFF2-40B4-BE49-F238E27FC236}">
                <a16:creationId xmlns:a16="http://schemas.microsoft.com/office/drawing/2014/main" id="{3F853E6F-A98E-C7D3-91D3-2AF29EC3AD65}"/>
              </a:ext>
            </a:extLst>
          </p:cNvPr>
          <p:cNvSpPr>
            <a:spLocks noGrp="1"/>
          </p:cNvSpPr>
          <p:nvPr>
            <p:ph type="ftr" sz="quarter" idx="11"/>
          </p:nvPr>
        </p:nvSpPr>
        <p:spPr>
          <a:xfrm>
            <a:off x="4038600" y="6356350"/>
            <a:ext cx="5668108" cy="365125"/>
          </a:xfrm>
        </p:spPr>
        <p:txBody>
          <a:bodyPr/>
          <a:lstStyle/>
          <a:p>
            <a:r>
              <a:rPr lang="en-IN" sz="1200" b="1" dirty="0">
                <a:latin typeface="Book Antiqua" panose="02040602050305030304" pitchFamily="18" charset="0"/>
                <a:cs typeface="Times New Roman" panose="02020603050405020304" pitchFamily="18" charset="0"/>
              </a:rPr>
              <a:t>SHARAN K        23BDS1153</a:t>
            </a:r>
            <a:endParaRPr lang="en-IN" sz="1200" b="1" dirty="0">
              <a:solidFill>
                <a:schemeClr val="tx1"/>
              </a:solidFill>
              <a:latin typeface="Book Antiqua" panose="02040602050305030304" pitchFamily="18" charset="0"/>
              <a:cs typeface="Times New Roman" panose="02020603050405020304" pitchFamily="18" charset="0"/>
            </a:endParaRPr>
          </a:p>
          <a:p>
            <a:endParaRPr lang="en-US" dirty="0"/>
          </a:p>
        </p:txBody>
      </p:sp>
      <p:graphicFrame>
        <p:nvGraphicFramePr>
          <p:cNvPr id="15" name="Table 14"/>
          <p:cNvGraphicFramePr>
            <a:graphicFrameLocks noGrp="1"/>
          </p:cNvGraphicFramePr>
          <p:nvPr/>
        </p:nvGraphicFramePr>
        <p:xfrm>
          <a:off x="548640" y="1737360"/>
          <a:ext cx="6675117" cy="2057400"/>
        </p:xfrm>
        <a:graphic>
          <a:graphicData uri="http://schemas.openxmlformats.org/drawingml/2006/table">
            <a:tbl>
              <a:tblPr firstRow="1" bandRow="1">
                <a:tableStyleId>{5C22544A-7EE6-4342-B048-85BDC9FD1C3A}</a:tableStyleId>
              </a:tblPr>
              <a:tblGrid>
                <a:gridCol w="1828799"/>
                <a:gridCol w="2377439"/>
                <a:gridCol w="2468879"/>
              </a:tblGrid>
              <a:tr h="411480">
                <a:tc>
                  <a:txBody>
                    <a:bodyPr wrap="square"/>
                    <a:lstStyle/>
                    <a:p>
                      <a:r>
                        <a:rPr sz="1250" b="1" i="0">
                          <a:solidFill>
                            <a:srgbClr val="FFFFFF"/>
                          </a:solidFill>
                          <a:latin typeface="Book Antiqua"/>
                        </a:rPr>
                        <a:t>Metric</a:t>
                      </a:r>
                    </a:p>
                  </a:txBody>
                  <a:tcPr marL="73152" marR="73152" marT="27432" marB="27432" anchor="ctr">
                    <a:solidFill>
                      <a:srgbClr val="3333CC"/>
                    </a:solidFill>
                  </a:tcPr>
                </a:tc>
                <a:tc>
                  <a:txBody>
                    <a:bodyPr wrap="square"/>
                    <a:lstStyle/>
                    <a:p>
                      <a:r>
                        <a:rPr sz="1250" b="1" i="0">
                          <a:solidFill>
                            <a:srgbClr val="FFFFFF"/>
                          </a:solidFill>
                          <a:latin typeface="Book Antiqua"/>
                        </a:rPr>
                        <a:t>Numerator</a:t>
                      </a:r>
                    </a:p>
                  </a:txBody>
                  <a:tcPr marL="73152" marR="73152" marT="27432" marB="27432" anchor="ctr">
                    <a:solidFill>
                      <a:srgbClr val="3333CC"/>
                    </a:solidFill>
                  </a:tcPr>
                </a:tc>
                <a:tc>
                  <a:txBody>
                    <a:bodyPr wrap="square"/>
                    <a:lstStyle/>
                    <a:p>
                      <a:r>
                        <a:rPr sz="1250" b="1" i="0">
                          <a:solidFill>
                            <a:srgbClr val="FFFFFF"/>
                          </a:solidFill>
                          <a:latin typeface="Book Antiqua"/>
                        </a:rPr>
                        <a:t>Denominator</a:t>
                      </a:r>
                    </a:p>
                  </a:txBody>
                  <a:tcPr marL="73152" marR="73152" marT="27432" marB="27432" anchor="ctr">
                    <a:solidFill>
                      <a:srgbClr val="3333CC"/>
                    </a:solidFill>
                  </a:tcPr>
                </a:tc>
              </a:tr>
              <a:tr h="411480">
                <a:tc>
                  <a:txBody>
                    <a:bodyPr wrap="square"/>
                    <a:lstStyle/>
                    <a:p>
                      <a:r>
                        <a:rPr sz="1250" b="0" i="0">
                          <a:solidFill>
                            <a:srgbClr val="1C1E2B"/>
                          </a:solidFill>
                          <a:latin typeface="Book Antiqua"/>
                        </a:rPr>
                        <a:t>Service level</a:t>
                      </a:r>
                    </a:p>
                  </a:txBody>
                  <a:tcPr marL="73152" marR="73152" marT="27432" marB="27432" anchor="ctr">
                    <a:solidFill>
                      <a:srgbClr val="FFFFFF"/>
                    </a:solidFill>
                  </a:tcPr>
                </a:tc>
                <a:tc>
                  <a:txBody>
                    <a:bodyPr wrap="square"/>
                    <a:lstStyle/>
                    <a:p>
                      <a:r>
                        <a:rPr sz="1250" b="0" i="0">
                          <a:solidFill>
                            <a:srgbClr val="1C1E2B"/>
                          </a:solidFill>
                          <a:latin typeface="Book Antiqua"/>
                        </a:rPr>
                        <a:t>Answered within threshold</a:t>
                      </a:r>
                    </a:p>
                  </a:txBody>
                  <a:tcPr marL="73152" marR="73152" marT="27432" marB="27432" anchor="ctr">
                    <a:solidFill>
                      <a:srgbClr val="FFFFFF"/>
                    </a:solidFill>
                  </a:tcPr>
                </a:tc>
                <a:tc>
                  <a:txBody>
                    <a:bodyPr wrap="square"/>
                    <a:lstStyle/>
                    <a:p>
                      <a:r>
                        <a:rPr sz="1250" b="0" i="0">
                          <a:solidFill>
                            <a:srgbClr val="1C1E2B"/>
                          </a:solidFill>
                          <a:latin typeface="Book Antiqua"/>
                        </a:rPr>
                        <a:t>Offered - short abandons (&lt;= 5 s)</a:t>
                      </a:r>
                    </a:p>
                  </a:txBody>
                  <a:tcPr marL="73152" marR="73152" marT="27432" marB="27432" anchor="ctr">
                    <a:solidFill>
                      <a:srgbClr val="FFFFFF"/>
                    </a:solidFill>
                  </a:tcPr>
                </a:tc>
              </a:tr>
              <a:tr h="411480">
                <a:tc>
                  <a:txBody>
                    <a:bodyPr wrap="square"/>
                    <a:lstStyle/>
                    <a:p>
                      <a:r>
                        <a:rPr sz="1250" b="0" i="0">
                          <a:solidFill>
                            <a:srgbClr val="1C1E2B"/>
                          </a:solidFill>
                          <a:latin typeface="Book Antiqua"/>
                        </a:rPr>
                        <a:t>Abandon rate</a:t>
                      </a:r>
                    </a:p>
                  </a:txBody>
                  <a:tcPr marL="73152" marR="73152" marT="27432" marB="27432" anchor="ctr">
                    <a:solidFill>
                      <a:srgbClr val="EEEFFB"/>
                    </a:solidFill>
                  </a:tcPr>
                </a:tc>
                <a:tc>
                  <a:txBody>
                    <a:bodyPr wrap="square"/>
                    <a:lstStyle/>
                    <a:p>
                      <a:r>
                        <a:rPr sz="1250" b="0" i="0">
                          <a:solidFill>
                            <a:srgbClr val="1C1E2B"/>
                          </a:solidFill>
                          <a:latin typeface="Book Antiqua"/>
                        </a:rPr>
                        <a:t>Abandoned - short abandons</a:t>
                      </a:r>
                    </a:p>
                  </a:txBody>
                  <a:tcPr marL="73152" marR="73152" marT="27432" marB="27432" anchor="ctr">
                    <a:solidFill>
                      <a:srgbClr val="EEEFFB"/>
                    </a:solidFill>
                  </a:tcPr>
                </a:tc>
                <a:tc>
                  <a:txBody>
                    <a:bodyPr wrap="square"/>
                    <a:lstStyle/>
                    <a:p>
                      <a:r>
                        <a:rPr sz="1250" b="0" i="0">
                          <a:solidFill>
                            <a:srgbClr val="1C1E2B"/>
                          </a:solidFill>
                          <a:latin typeface="Book Antiqua"/>
                        </a:rPr>
                        <a:t>Offered - short abandons</a:t>
                      </a:r>
                    </a:p>
                  </a:txBody>
                  <a:tcPr marL="73152" marR="73152" marT="27432" marB="27432" anchor="ctr">
                    <a:solidFill>
                      <a:srgbClr val="EEEFFB"/>
                    </a:solidFill>
                  </a:tcPr>
                </a:tc>
              </a:tr>
              <a:tr h="411480">
                <a:tc>
                  <a:txBody>
                    <a:bodyPr wrap="square"/>
                    <a:lstStyle/>
                    <a:p>
                      <a:r>
                        <a:rPr sz="1250" b="0" i="0">
                          <a:solidFill>
                            <a:srgbClr val="1C1E2B"/>
                          </a:solidFill>
                          <a:latin typeface="Book Antiqua"/>
                        </a:rPr>
                        <a:t>Average handle time</a:t>
                      </a:r>
                    </a:p>
                  </a:txBody>
                  <a:tcPr marL="73152" marR="73152" marT="27432" marB="27432" anchor="ctr">
                    <a:solidFill>
                      <a:srgbClr val="FFFFFF"/>
                    </a:solidFill>
                  </a:tcPr>
                </a:tc>
                <a:tc>
                  <a:txBody>
                    <a:bodyPr wrap="square"/>
                    <a:lstStyle/>
                    <a:p>
                      <a:r>
                        <a:rPr sz="1250" b="0" i="0">
                          <a:solidFill>
                            <a:srgbClr val="1C1E2B"/>
                          </a:solidFill>
                          <a:latin typeface="Book Antiqua"/>
                        </a:rPr>
                        <a:t>Talk + hold + after-call work</a:t>
                      </a:r>
                    </a:p>
                  </a:txBody>
                  <a:tcPr marL="73152" marR="73152" marT="27432" marB="27432" anchor="ctr">
                    <a:solidFill>
                      <a:srgbClr val="FFFFFF"/>
                    </a:solidFill>
                  </a:tcPr>
                </a:tc>
                <a:tc>
                  <a:txBody>
                    <a:bodyPr wrap="square"/>
                    <a:lstStyle/>
                    <a:p>
                      <a:r>
                        <a:rPr sz="1250" b="0" i="0">
                          <a:solidFill>
                            <a:srgbClr val="1C1E2B"/>
                          </a:solidFill>
                          <a:latin typeface="Book Antiqua"/>
                        </a:rPr>
                        <a:t>Handled contacts</a:t>
                      </a:r>
                    </a:p>
                  </a:txBody>
                  <a:tcPr marL="73152" marR="73152" marT="27432" marB="27432" anchor="ctr">
                    <a:solidFill>
                      <a:srgbClr val="FFFFFF"/>
                    </a:solidFill>
                  </a:tcPr>
                </a:tc>
              </a:tr>
              <a:tr h="411480">
                <a:tc>
                  <a:txBody>
                    <a:bodyPr wrap="square"/>
                    <a:lstStyle/>
                    <a:p>
                      <a:r>
                        <a:rPr sz="1250" b="0" i="0">
                          <a:solidFill>
                            <a:srgbClr val="1C1E2B"/>
                          </a:solidFill>
                          <a:latin typeface="Book Antiqua"/>
                        </a:rPr>
                        <a:t>First contact resolution</a:t>
                      </a:r>
                    </a:p>
                  </a:txBody>
                  <a:tcPr marL="73152" marR="73152" marT="27432" marB="27432" anchor="ctr">
                    <a:solidFill>
                      <a:srgbClr val="EEEFFB"/>
                    </a:solidFill>
                  </a:tcPr>
                </a:tc>
                <a:tc>
                  <a:txBody>
                    <a:bodyPr wrap="square"/>
                    <a:lstStyle/>
                    <a:p>
                      <a:r>
                        <a:rPr sz="1250" b="0" i="0">
                          <a:solidFill>
                            <a:srgbClr val="1C1E2B"/>
                          </a:solidFill>
                          <a:latin typeface="Book Antiqua"/>
                        </a:rPr>
                        <a:t>No repeat within 7 days</a:t>
                      </a:r>
                    </a:p>
                  </a:txBody>
                  <a:tcPr marL="73152" marR="73152" marT="27432" marB="27432" anchor="ctr">
                    <a:solidFill>
                      <a:srgbClr val="EEEFFB"/>
                    </a:solidFill>
                  </a:tcPr>
                </a:tc>
                <a:tc>
                  <a:txBody>
                    <a:bodyPr wrap="square"/>
                    <a:lstStyle/>
                    <a:p>
                      <a:r>
                        <a:rPr sz="1250" b="0" i="0">
                          <a:solidFill>
                            <a:srgbClr val="1C1E2B"/>
                          </a:solidFill>
                          <a:latin typeface="Book Antiqua"/>
                        </a:rPr>
                        <a:t>Handled contacts</a:t>
                      </a:r>
                    </a:p>
                  </a:txBody>
                  <a:tcPr marL="73152" marR="73152" marT="27432" marB="27432" anchor="ctr">
                    <a:solidFill>
                      <a:srgbClr val="EEEFFB"/>
                    </a:solidFill>
                  </a:tcPr>
                </a:tc>
              </a:tr>
            </a:tbl>
          </a:graphicData>
        </a:graphic>
      </p:graphicFrame>
      <p:sp>
        <p:nvSpPr>
          <p:cNvPr id="16" name="Rounded Rectangle 15"/>
          <p:cNvSpPr/>
          <p:nvPr/>
        </p:nvSpPr>
        <p:spPr>
          <a:xfrm>
            <a:off x="548640" y="3977639"/>
            <a:ext cx="6675120" cy="960120"/>
          </a:xfrm>
          <a:prstGeom prst="roundRect">
            <a:avLst>
              <a:gd name="adj" fmla="val 6000"/>
            </a:avLst>
          </a:prstGeom>
          <a:solidFill>
            <a:srgbClr val="FFFFFF"/>
          </a:solidFill>
          <a:ln w="12700">
            <a:solidFill>
              <a:srgbClr val="D5D7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31520" y="4041648"/>
            <a:ext cx="6355080" cy="868680"/>
          </a:xfrm>
          <a:prstGeom prst="rect">
            <a:avLst/>
          </a:prstGeom>
          <a:noFill/>
        </p:spPr>
        <p:txBody>
          <a:bodyPr wrap="square" lIns="36576" rIns="36576" tIns="18288" bIns="18288" anchor="ctr">
            <a:spAutoFit/>
          </a:bodyPr>
          <a:lstStyle/>
          <a:p>
            <a:pPr algn="l">
              <a:lnSpc>
                <a:spcPct val="100000"/>
              </a:lnSpc>
              <a:spcAft>
                <a:spcPts val="600"/>
              </a:spcAft>
            </a:pPr>
            <a:r>
              <a:rPr sz="1350" b="1" i="0">
                <a:solidFill>
                  <a:srgbClr val="D94A2B"/>
                </a:solidFill>
                <a:latin typeface="Book Antiqua"/>
              </a:rPr>
              <a:t>Mismatch found (16 Jun): </a:t>
            </a:r>
            <a:r>
              <a:rPr sz="1350" b="0" i="0">
                <a:solidFill>
                  <a:srgbClr val="1C1E2B"/>
                </a:solidFill>
                <a:latin typeface="Book Antiqua"/>
              </a:rPr>
              <a:t>service level differed from the month-end figure until short abandons were excluded from the denominator, as operations does.</a:t>
            </a:r>
          </a:p>
        </p:txBody>
      </p:sp>
      <p:sp>
        <p:nvSpPr>
          <p:cNvPr id="18" name="TextBox 17"/>
          <p:cNvSpPr txBox="1"/>
          <p:nvPr/>
        </p:nvSpPr>
        <p:spPr>
          <a:xfrm>
            <a:off x="548640" y="5074920"/>
            <a:ext cx="6675120" cy="1097280"/>
          </a:xfrm>
          <a:prstGeom prst="rect">
            <a:avLst/>
          </a:prstGeom>
          <a:noFill/>
        </p:spPr>
        <p:txBody>
          <a:bodyPr wrap="square" lIns="36576" rIns="36576" tIns="18288" bIns="18288" anchor="t">
            <a:spAutoFit/>
          </a:bodyPr>
          <a:lstStyle/>
          <a:p>
            <a:pPr algn="l" marL="201168" indent="-201168">
              <a:lnSpc>
                <a:spcPct val="100000"/>
              </a:lnSpc>
              <a:spcAft>
                <a:spcPts val="400"/>
              </a:spcAft>
              <a:buFont typeface="Arial"/>
              <a:buChar char="•"/>
            </a:pPr>
            <a:r>
              <a:rPr sz="1350" b="0" i="0">
                <a:solidFill>
                  <a:srgbClr val="1C1E2B"/>
                </a:solidFill>
                <a:latin typeface="Book Antiqua"/>
              </a:rPr>
              <a:t>Power BI (18 to 22 Jun): star schema, marked date table, DAX with CALCULATE for month-to-date and previous month, and my queue performance page.</a:t>
            </a:r>
          </a:p>
          <a:p>
            <a:pPr algn="l" marL="201168" indent="-201168">
              <a:lnSpc>
                <a:spcPct val="100000"/>
              </a:lnSpc>
              <a:spcAft>
                <a:spcPts val="400"/>
              </a:spcAft>
              <a:buFont typeface="Arial"/>
              <a:buChar char="•"/>
            </a:pPr>
            <a:r>
              <a:rPr sz="1350" b="0" i="0">
                <a:solidFill>
                  <a:srgbClr val="1C1E2B"/>
                </a:solidFill>
                <a:latin typeface="Book Antiqua"/>
              </a:rPr>
              <a:t>A measure broken by a slicer's filter context was found and fixed; every measure was validated against SQL.</a:t>
            </a:r>
          </a:p>
        </p:txBody>
      </p:sp>
      <p:pic>
        <p:nvPicPr>
          <p:cNvPr id="19" name="Picture 18" descr="s_queues.jpg"/>
          <p:cNvPicPr>
            <a:picLocks noChangeAspect="1"/>
          </p:cNvPicPr>
          <p:nvPr/>
        </p:nvPicPr>
        <p:blipFill>
          <a:blip r:embed="rId2"/>
          <a:stretch>
            <a:fillRect/>
          </a:stretch>
        </p:blipFill>
        <p:spPr>
          <a:xfrm>
            <a:off x="7452360" y="2071583"/>
            <a:ext cx="4187952" cy="3766392"/>
          </a:xfrm>
          <a:prstGeom prst="rect">
            <a:avLst/>
          </a:prstGeom>
          <a:ln w="9525">
            <a:solidFill>
              <a:srgbClr val="D5D7EE"/>
            </a:solidFill>
          </a:ln>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Rectangle 4"/>
          <p:cNvSpPr txBox="1">
            <a:spLocks noChangeArrowheads="1"/>
          </p:cNvSpPr>
          <p:nvPr/>
        </p:nvSpPr>
        <p:spPr>
          <a:xfrm>
            <a:off x="0" y="0"/>
            <a:ext cx="12192000" cy="1447800"/>
          </a:xfrm>
          <a:prstGeom prst="rect">
            <a:avLst/>
          </a:prstGeom>
          <a:solidFill>
            <a:srgbClr val="3333CC"/>
          </a:solid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IN" sz="3600" b="1" dirty="0">
                <a:solidFill>
                  <a:schemeClr val="bg1"/>
                </a:solidFill>
                <a:effectLst/>
                <a:latin typeface="Book Antiqua" panose="02040602050305030304" pitchFamily="18" charset="0"/>
                <a:ea typeface="Calibri" panose="020F0502020204030204" pitchFamily="34" charset="0"/>
                <a:cs typeface="Times New Roman" panose="02020603050405020304" pitchFamily="18" charset="0"/>
              </a:rPr>
              <a:t>Root-Cause Analysis of SLA Breaches</a:t>
            </a:r>
            <a:endParaRPr lang="en-IN" sz="5300" dirty="0">
              <a:solidFill>
                <a:schemeClr val="bg1"/>
              </a:solidFill>
              <a:latin typeface="Book Antiqua" panose="0204060205030503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96107A40-7FD5-436B-B3DD-01066071B37C}" type="slidenum">
              <a:rPr lang="en-IN">
                <a:solidFill>
                  <a:prstClr val="black">
                    <a:tint val="75000"/>
                  </a:prstClr>
                </a:solidFill>
                <a:latin typeface="Calibri"/>
              </a:rPr>
              <a:pPr/>
              <a:t>2</a:t>
            </a:fld>
            <a:endParaRPr lang="en-IN">
              <a:solidFill>
                <a:prstClr val="black">
                  <a:tint val="75000"/>
                </a:prstClr>
              </a:solidFill>
              <a:latin typeface="Calibri"/>
            </a:endParaRPr>
          </a:p>
        </p:txBody>
      </p:sp>
      <p:sp>
        <p:nvSpPr>
          <p:cNvPr id="14" name="Footer Placeholder 13">
            <a:extLst>
              <a:ext uri="{FF2B5EF4-FFF2-40B4-BE49-F238E27FC236}">
                <a16:creationId xmlns:a16="http://schemas.microsoft.com/office/drawing/2014/main" id="{3F853E6F-A98E-C7D3-91D3-2AF29EC3AD65}"/>
              </a:ext>
            </a:extLst>
          </p:cNvPr>
          <p:cNvSpPr>
            <a:spLocks noGrp="1"/>
          </p:cNvSpPr>
          <p:nvPr>
            <p:ph type="ftr" sz="quarter" idx="11"/>
          </p:nvPr>
        </p:nvSpPr>
        <p:spPr>
          <a:xfrm>
            <a:off x="4038600" y="6356350"/>
            <a:ext cx="5668108" cy="365125"/>
          </a:xfrm>
        </p:spPr>
        <p:txBody>
          <a:bodyPr/>
          <a:lstStyle/>
          <a:p>
            <a:r>
              <a:rPr lang="en-IN" sz="1200" b="1" dirty="0">
                <a:latin typeface="Book Antiqua" panose="02040602050305030304" pitchFamily="18" charset="0"/>
                <a:cs typeface="Times New Roman" panose="02020603050405020304" pitchFamily="18" charset="0"/>
              </a:rPr>
              <a:t>SHARAN K        23BDS1153</a:t>
            </a:r>
            <a:endParaRPr lang="en-IN" sz="1200" b="1" dirty="0">
              <a:solidFill>
                <a:schemeClr val="tx1"/>
              </a:solidFill>
              <a:latin typeface="Book Antiqua" panose="02040602050305030304" pitchFamily="18" charset="0"/>
              <a:cs typeface="Times New Roman" panose="02020603050405020304" pitchFamily="18" charset="0"/>
            </a:endParaRPr>
          </a:p>
          <a:p>
            <a:endParaRPr lang="en-US" dirty="0"/>
          </a:p>
        </p:txBody>
      </p:sp>
      <p:graphicFrame>
        <p:nvGraphicFramePr>
          <p:cNvPr id="15" name="Breaches by half-hour"/>
          <p:cNvGraphicFramePr>
            <a:graphicFrameLocks noGrp="1"/>
          </p:cNvGraphicFramePr>
          <p:nvPr/>
        </p:nvGraphicFramePr>
        <p:xfrm>
          <a:off x="548640" y="1691640"/>
          <a:ext cx="6035040" cy="3246120"/>
        </p:xfrm>
        <a:graphic>
          <a:graphicData uri="http://schemas.openxmlformats.org/drawingml/2006/chart">
            <c:chart xmlns:c="http://schemas.openxmlformats.org/drawingml/2006/chart" r:id="rId2"/>
          </a:graphicData>
        </a:graphic>
      </p:graphicFrame>
      <p:sp>
        <p:nvSpPr>
          <p:cNvPr id="16" name="TextBox 15"/>
          <p:cNvSpPr txBox="1"/>
          <p:nvPr/>
        </p:nvSpPr>
        <p:spPr>
          <a:xfrm>
            <a:off x="548640" y="4983480"/>
            <a:ext cx="6035040" cy="365760"/>
          </a:xfrm>
          <a:prstGeom prst="rect">
            <a:avLst/>
          </a:prstGeom>
          <a:noFill/>
        </p:spPr>
        <p:txBody>
          <a:bodyPr wrap="square" lIns="36576" rIns="36576" tIns="18288" bIns="18288" anchor="t">
            <a:spAutoFit/>
          </a:bodyPr>
          <a:lstStyle/>
          <a:p>
            <a:pPr algn="l">
              <a:lnSpc>
                <a:spcPct val="100000"/>
              </a:lnSpc>
              <a:spcAft>
                <a:spcPts val="600"/>
              </a:spcAft>
            </a:pPr>
            <a:r>
              <a:rPr sz="1150" b="1" i="0">
                <a:solidFill>
                  <a:srgbClr val="3333CC"/>
                </a:solidFill>
                <a:latin typeface="Book Antiqua"/>
              </a:rPr>
              <a:t>Blue: recurring hotspots </a:t>
            </a:r>
            <a:r>
              <a:rPr sz="1150" b="0" i="0">
                <a:solidFill>
                  <a:srgbClr val="555A6B"/>
                </a:solidFill>
                <a:latin typeface="Book Antiqua"/>
              </a:rPr>
              <a:t>(breach rate significantly above the queue). Breach = SL below target by more than random variation.</a:t>
            </a:r>
          </a:p>
        </p:txBody>
      </p:sp>
      <p:sp>
        <p:nvSpPr>
          <p:cNvPr id="17" name="Rounded Rectangle 16"/>
          <p:cNvSpPr/>
          <p:nvPr/>
        </p:nvSpPr>
        <p:spPr>
          <a:xfrm>
            <a:off x="6858000" y="1691640"/>
            <a:ext cx="4782312" cy="987552"/>
          </a:xfrm>
          <a:prstGeom prst="roundRect">
            <a:avLst>
              <a:gd name="adj" fmla="val 6000"/>
            </a:avLst>
          </a:prstGeom>
          <a:solidFill>
            <a:srgbClr val="EE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95160" y="1764792"/>
            <a:ext cx="4507992" cy="502920"/>
          </a:xfrm>
          <a:prstGeom prst="rect">
            <a:avLst/>
          </a:prstGeom>
          <a:noFill/>
        </p:spPr>
        <p:txBody>
          <a:bodyPr wrap="square" lIns="36576" rIns="36576" tIns="18288" bIns="18288" anchor="t">
            <a:spAutoFit/>
          </a:bodyPr>
          <a:lstStyle/>
          <a:p>
            <a:pPr algn="l">
              <a:lnSpc>
                <a:spcPct val="100000"/>
              </a:lnSpc>
              <a:spcAft>
                <a:spcPts val="0"/>
              </a:spcAft>
            </a:pPr>
            <a:r>
              <a:rPr sz="2400" b="1" i="0">
                <a:solidFill>
                  <a:srgbClr val="3333CC"/>
                </a:solidFill>
                <a:latin typeface="Book Antiqua"/>
              </a:rPr>
              <a:t>39%</a:t>
            </a:r>
          </a:p>
        </p:txBody>
      </p:sp>
      <p:sp>
        <p:nvSpPr>
          <p:cNvPr id="19" name="TextBox 18"/>
          <p:cNvSpPr txBox="1"/>
          <p:nvPr/>
        </p:nvSpPr>
        <p:spPr>
          <a:xfrm>
            <a:off x="6995160" y="2130552"/>
            <a:ext cx="4507992" cy="438912"/>
          </a:xfrm>
          <a:prstGeom prst="rect">
            <a:avLst/>
          </a:prstGeom>
          <a:noFill/>
        </p:spPr>
        <p:txBody>
          <a:bodyPr wrap="square" lIns="36576" rIns="36576" tIns="18288" bIns="18288" anchor="t">
            <a:spAutoFit/>
          </a:bodyPr>
          <a:lstStyle/>
          <a:p>
            <a:pPr algn="l">
              <a:lnSpc>
                <a:spcPct val="100000"/>
              </a:lnSpc>
              <a:spcAft>
                <a:spcPts val="0"/>
              </a:spcAft>
            </a:pPr>
            <a:r>
              <a:rPr sz="1250" b="0" i="0">
                <a:solidFill>
                  <a:srgbClr val="555A6B"/>
                </a:solidFill>
                <a:latin typeface="Book Antiqua"/>
              </a:rPr>
              <a:t>of all breaches sit in four morning half-hours</a:t>
            </a:r>
          </a:p>
        </p:txBody>
      </p:sp>
      <p:sp>
        <p:nvSpPr>
          <p:cNvPr id="20" name="Rounded Rectangle 19"/>
          <p:cNvSpPr/>
          <p:nvPr/>
        </p:nvSpPr>
        <p:spPr>
          <a:xfrm>
            <a:off x="6858000" y="2788920"/>
            <a:ext cx="4782312" cy="987552"/>
          </a:xfrm>
          <a:prstGeom prst="roundRect">
            <a:avLst>
              <a:gd name="adj" fmla="val 6000"/>
            </a:avLst>
          </a:prstGeom>
          <a:solidFill>
            <a:srgbClr val="EE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995160" y="2862072"/>
            <a:ext cx="4507992" cy="502920"/>
          </a:xfrm>
          <a:prstGeom prst="rect">
            <a:avLst/>
          </a:prstGeom>
          <a:noFill/>
        </p:spPr>
        <p:txBody>
          <a:bodyPr wrap="square" lIns="36576" rIns="36576" tIns="18288" bIns="18288" anchor="t">
            <a:spAutoFit/>
          </a:bodyPr>
          <a:lstStyle/>
          <a:p>
            <a:pPr algn="l">
              <a:lnSpc>
                <a:spcPct val="100000"/>
              </a:lnSpc>
              <a:spcAft>
                <a:spcPts val="0"/>
              </a:spcAft>
            </a:pPr>
            <a:r>
              <a:rPr sz="2400" b="1" i="0">
                <a:solidFill>
                  <a:srgbClr val="3333CC"/>
                </a:solidFill>
                <a:latin typeface="Book Antiqua"/>
              </a:rPr>
              <a:t>9% → 55%</a:t>
            </a:r>
          </a:p>
        </p:txBody>
      </p:sp>
      <p:sp>
        <p:nvSpPr>
          <p:cNvPr id="22" name="TextBox 21"/>
          <p:cNvSpPr txBox="1"/>
          <p:nvPr/>
        </p:nvSpPr>
        <p:spPr>
          <a:xfrm>
            <a:off x="6995160" y="3227832"/>
            <a:ext cx="4507992" cy="438912"/>
          </a:xfrm>
          <a:prstGeom prst="rect">
            <a:avLst/>
          </a:prstGeom>
          <a:noFill/>
        </p:spPr>
        <p:txBody>
          <a:bodyPr wrap="square" lIns="36576" rIns="36576" tIns="18288" bIns="18288" anchor="t">
            <a:spAutoFit/>
          </a:bodyPr>
          <a:lstStyle/>
          <a:p>
            <a:pPr algn="l">
              <a:lnSpc>
                <a:spcPct val="100000"/>
              </a:lnSpc>
              <a:spcAft>
                <a:spcPts val="0"/>
              </a:spcAft>
            </a:pPr>
            <a:r>
              <a:rPr sz="1250" b="0" i="0">
                <a:solidFill>
                  <a:srgbClr val="555A6B"/>
                </a:solidFill>
                <a:latin typeface="Book Antiqua"/>
              </a:rPr>
              <a:t>hotspot breach rate after the roster change on 6 April</a:t>
            </a:r>
          </a:p>
        </p:txBody>
      </p:sp>
      <p:sp>
        <p:nvSpPr>
          <p:cNvPr id="23" name="Rounded Rectangle 22"/>
          <p:cNvSpPr/>
          <p:nvPr/>
        </p:nvSpPr>
        <p:spPr>
          <a:xfrm>
            <a:off x="6858000" y="3886200"/>
            <a:ext cx="4782312" cy="987552"/>
          </a:xfrm>
          <a:prstGeom prst="roundRect">
            <a:avLst>
              <a:gd name="adj" fmla="val 6000"/>
            </a:avLst>
          </a:prstGeom>
          <a:solidFill>
            <a:srgbClr val="EE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995160" y="3959352"/>
            <a:ext cx="4507992" cy="502920"/>
          </a:xfrm>
          <a:prstGeom prst="rect">
            <a:avLst/>
          </a:prstGeom>
          <a:noFill/>
        </p:spPr>
        <p:txBody>
          <a:bodyPr wrap="square" lIns="36576" rIns="36576" tIns="18288" bIns="18288" anchor="t">
            <a:spAutoFit/>
          </a:bodyPr>
          <a:lstStyle/>
          <a:p>
            <a:pPr algn="l">
              <a:lnSpc>
                <a:spcPct val="100000"/>
              </a:lnSpc>
              <a:spcAft>
                <a:spcPts val="0"/>
              </a:spcAft>
            </a:pPr>
            <a:r>
              <a:rPr sz="2400" b="1" i="0">
                <a:solidFill>
                  <a:srgbClr val="3333CC"/>
                </a:solidFill>
                <a:latin typeface="Book Antiqua"/>
              </a:rPr>
              <a:t>75%</a:t>
            </a:r>
          </a:p>
        </p:txBody>
      </p:sp>
      <p:sp>
        <p:nvSpPr>
          <p:cNvPr id="25" name="TextBox 24"/>
          <p:cNvSpPr txBox="1"/>
          <p:nvPr/>
        </p:nvSpPr>
        <p:spPr>
          <a:xfrm>
            <a:off x="6995160" y="4325112"/>
            <a:ext cx="4507992" cy="438912"/>
          </a:xfrm>
          <a:prstGeom prst="rect">
            <a:avLst/>
          </a:prstGeom>
          <a:noFill/>
        </p:spPr>
        <p:txBody>
          <a:bodyPr wrap="square" lIns="36576" rIns="36576" tIns="18288" bIns="18288" anchor="t">
            <a:spAutoFit/>
          </a:bodyPr>
          <a:lstStyle/>
          <a:p>
            <a:pPr algn="l">
              <a:lnSpc>
                <a:spcPct val="100000"/>
              </a:lnSpc>
              <a:spcAft>
                <a:spcPts val="0"/>
              </a:spcAft>
            </a:pPr>
            <a:r>
              <a:rPr sz="1250" b="0" i="0">
                <a:solidFill>
                  <a:srgbClr val="555A6B"/>
                </a:solidFill>
                <a:latin typeface="Book Antiqua"/>
              </a:rPr>
              <a:t>of hotspot breaches are staffing-driven (Shapley, Erlang C)</a:t>
            </a:r>
          </a:p>
        </p:txBody>
      </p:sp>
      <p:sp>
        <p:nvSpPr>
          <p:cNvPr id="26" name="Rounded Rectangle 25"/>
          <p:cNvSpPr/>
          <p:nvPr/>
        </p:nvSpPr>
        <p:spPr>
          <a:xfrm>
            <a:off x="6858000" y="4983479"/>
            <a:ext cx="4782312" cy="987552"/>
          </a:xfrm>
          <a:prstGeom prst="roundRect">
            <a:avLst>
              <a:gd name="adj" fmla="val 6000"/>
            </a:avLst>
          </a:prstGeom>
          <a:solidFill>
            <a:srgbClr val="EE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995160" y="5056631"/>
            <a:ext cx="4507992" cy="502920"/>
          </a:xfrm>
          <a:prstGeom prst="rect">
            <a:avLst/>
          </a:prstGeom>
          <a:noFill/>
        </p:spPr>
        <p:txBody>
          <a:bodyPr wrap="square" lIns="36576" rIns="36576" tIns="18288" bIns="18288" anchor="t">
            <a:spAutoFit/>
          </a:bodyPr>
          <a:lstStyle/>
          <a:p>
            <a:pPr algn="l">
              <a:lnSpc>
                <a:spcPct val="100000"/>
              </a:lnSpc>
              <a:spcAft>
                <a:spcPts val="0"/>
              </a:spcAft>
            </a:pPr>
            <a:r>
              <a:rPr sz="2400" b="1" i="0">
                <a:solidFill>
                  <a:srgbClr val="3333CC"/>
                </a:solidFill>
                <a:latin typeface="Book Antiqua"/>
              </a:rPr>
              <a:t>82.4% → 85.0%</a:t>
            </a:r>
          </a:p>
        </p:txBody>
      </p:sp>
      <p:sp>
        <p:nvSpPr>
          <p:cNvPr id="28" name="TextBox 27"/>
          <p:cNvSpPr txBox="1"/>
          <p:nvPr/>
        </p:nvSpPr>
        <p:spPr>
          <a:xfrm>
            <a:off x="6995160" y="5422392"/>
            <a:ext cx="4507992" cy="438912"/>
          </a:xfrm>
          <a:prstGeom prst="rect">
            <a:avLst/>
          </a:prstGeom>
          <a:noFill/>
        </p:spPr>
        <p:txBody>
          <a:bodyPr wrap="square" lIns="36576" rIns="36576" tIns="18288" bIns="18288" anchor="t">
            <a:spAutoFit/>
          </a:bodyPr>
          <a:lstStyle/>
          <a:p>
            <a:pPr algn="l">
              <a:lnSpc>
                <a:spcPct val="100000"/>
              </a:lnSpc>
              <a:spcAft>
                <a:spcPts val="0"/>
              </a:spcAft>
            </a:pPr>
            <a:r>
              <a:rPr sz="1250" b="0" i="0">
                <a:solidFill>
                  <a:srgbClr val="555A6B"/>
                </a:solidFill>
                <a:latin typeface="Book Antiqua"/>
              </a:rPr>
              <a:t>queue SL with about four more heads in the hotspots</a:t>
            </a:r>
          </a:p>
        </p:txBody>
      </p:sp>
      <p:sp>
        <p:nvSpPr>
          <p:cNvPr id="29" name="TextBox 28"/>
          <p:cNvSpPr txBox="1"/>
          <p:nvPr/>
        </p:nvSpPr>
        <p:spPr>
          <a:xfrm>
            <a:off x="548640" y="5440680"/>
            <a:ext cx="6035040" cy="731520"/>
          </a:xfrm>
          <a:prstGeom prst="rect">
            <a:avLst/>
          </a:prstGeom>
          <a:noFill/>
        </p:spPr>
        <p:txBody>
          <a:bodyPr wrap="square" lIns="36576" rIns="36576" tIns="18288" bIns="18288" anchor="t">
            <a:spAutoFit/>
          </a:bodyPr>
          <a:lstStyle/>
          <a:p>
            <a:pPr algn="l">
              <a:lnSpc>
                <a:spcPct val="100000"/>
              </a:lnSpc>
              <a:spcAft>
                <a:spcPts val="600"/>
              </a:spcAft>
            </a:pPr>
            <a:r>
              <a:rPr sz="1250" b="0" i="1">
                <a:solidFill>
                  <a:srgbClr val="555A6B"/>
                </a:solidFill>
                <a:latin typeface="Book Antiqua"/>
              </a:rPr>
              <a:t>My part (23 to 24 Jun): breach extract, Pareto, candidate-cause tests and the staffing-gap figures for the senior analyst. The statistics on the right are from the reconstruction.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Rectangle 4"/>
          <p:cNvSpPr txBox="1">
            <a:spLocks noChangeArrowheads="1"/>
          </p:cNvSpPr>
          <p:nvPr/>
        </p:nvSpPr>
        <p:spPr>
          <a:xfrm>
            <a:off x="0" y="0"/>
            <a:ext cx="12192000" cy="1447800"/>
          </a:xfrm>
          <a:prstGeom prst="rect">
            <a:avLst/>
          </a:prstGeom>
          <a:solidFill>
            <a:srgbClr val="3333CC"/>
          </a:solid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IN" sz="3600" b="1" dirty="0">
                <a:solidFill>
                  <a:schemeClr val="bg1"/>
                </a:solidFill>
                <a:effectLst/>
                <a:latin typeface="Book Antiqua" panose="02040602050305030304" pitchFamily="18" charset="0"/>
                <a:ea typeface="Calibri" panose="020F0502020204030204" pitchFamily="34" charset="0"/>
                <a:cs typeface="Times New Roman" panose="02020603050405020304" pitchFamily="18" charset="0"/>
              </a:rPr>
              <a:t>Volume Forecasting</a:t>
            </a:r>
            <a:endParaRPr lang="en-IN" sz="5300" dirty="0">
              <a:solidFill>
                <a:schemeClr val="bg1"/>
              </a:solidFill>
              <a:latin typeface="Book Antiqua" panose="0204060205030503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96107A40-7FD5-436B-B3DD-01066071B37C}" type="slidenum">
              <a:rPr lang="en-IN">
                <a:solidFill>
                  <a:prstClr val="black">
                    <a:tint val="75000"/>
                  </a:prstClr>
                </a:solidFill>
                <a:latin typeface="Calibri"/>
              </a:rPr>
              <a:pPr/>
              <a:t>2</a:t>
            </a:fld>
            <a:endParaRPr lang="en-IN">
              <a:solidFill>
                <a:prstClr val="black">
                  <a:tint val="75000"/>
                </a:prstClr>
              </a:solidFill>
              <a:latin typeface="Calibri"/>
            </a:endParaRPr>
          </a:p>
        </p:txBody>
      </p:sp>
      <p:sp>
        <p:nvSpPr>
          <p:cNvPr id="14" name="Footer Placeholder 13">
            <a:extLst>
              <a:ext uri="{FF2B5EF4-FFF2-40B4-BE49-F238E27FC236}">
                <a16:creationId xmlns:a16="http://schemas.microsoft.com/office/drawing/2014/main" id="{3F853E6F-A98E-C7D3-91D3-2AF29EC3AD65}"/>
              </a:ext>
            </a:extLst>
          </p:cNvPr>
          <p:cNvSpPr>
            <a:spLocks noGrp="1"/>
          </p:cNvSpPr>
          <p:nvPr>
            <p:ph type="ftr" sz="quarter" idx="11"/>
          </p:nvPr>
        </p:nvSpPr>
        <p:spPr>
          <a:xfrm>
            <a:off x="4038600" y="6356350"/>
            <a:ext cx="5668108" cy="365125"/>
          </a:xfrm>
        </p:spPr>
        <p:txBody>
          <a:bodyPr/>
          <a:lstStyle/>
          <a:p>
            <a:r>
              <a:rPr lang="en-IN" sz="1200" b="1" dirty="0">
                <a:latin typeface="Book Antiqua" panose="02040602050305030304" pitchFamily="18" charset="0"/>
                <a:cs typeface="Times New Roman" panose="02020603050405020304" pitchFamily="18" charset="0"/>
              </a:rPr>
              <a:t>SHARAN K        23BDS1153</a:t>
            </a:r>
            <a:endParaRPr lang="en-IN" sz="1200" b="1" dirty="0">
              <a:solidFill>
                <a:schemeClr val="tx1"/>
              </a:solidFill>
              <a:latin typeface="Book Antiqua" panose="02040602050305030304" pitchFamily="18" charset="0"/>
              <a:cs typeface="Times New Roman" panose="02020603050405020304" pitchFamily="18" charset="0"/>
            </a:endParaRPr>
          </a:p>
          <a:p>
            <a:endParaRPr lang="en-US" dirty="0"/>
          </a:p>
        </p:txBody>
      </p:sp>
      <p:graphicFrame>
        <p:nvGraphicFramePr>
          <p:cNvPr id="15" name="Forecast error by model"/>
          <p:cNvGraphicFramePr>
            <a:graphicFrameLocks noGrp="1"/>
          </p:cNvGraphicFramePr>
          <p:nvPr/>
        </p:nvGraphicFramePr>
        <p:xfrm>
          <a:off x="548640" y="1691640"/>
          <a:ext cx="6309360" cy="3291840"/>
        </p:xfrm>
        <a:graphic>
          <a:graphicData uri="http://schemas.openxmlformats.org/drawingml/2006/chart">
            <c:chart xmlns:c="http://schemas.openxmlformats.org/drawingml/2006/chart" r:id="rId2"/>
          </a:graphicData>
        </a:graphic>
      </p:graphicFrame>
      <p:sp>
        <p:nvSpPr>
          <p:cNvPr id="16" name="TextBox 15"/>
          <p:cNvSpPr txBox="1"/>
          <p:nvPr/>
        </p:nvSpPr>
        <p:spPr>
          <a:xfrm>
            <a:off x="548640" y="5074920"/>
            <a:ext cx="6309360" cy="1097280"/>
          </a:xfrm>
          <a:prstGeom prst="rect">
            <a:avLst/>
          </a:prstGeom>
          <a:noFill/>
        </p:spPr>
        <p:txBody>
          <a:bodyPr wrap="square" lIns="36576" rIns="36576" tIns="18288" bIns="18288" anchor="t">
            <a:spAutoFit/>
          </a:bodyPr>
          <a:lstStyle/>
          <a:p>
            <a:pPr algn="l">
              <a:lnSpc>
                <a:spcPct val="100000"/>
              </a:lnSpc>
              <a:spcAft>
                <a:spcPts val="600"/>
              </a:spcAft>
            </a:pPr>
            <a:r>
              <a:rPr sz="1300" b="0" i="0">
                <a:solidFill>
                  <a:srgbClr val="1C1E2B"/>
                </a:solidFill>
                <a:latin typeface="Book Antiqua"/>
              </a:rPr>
              <a:t>Every model must beat a simple baseline on days it has never seen. Random forest is best on 8 of 9 queues; every model misses the sale week because promotions are not yet a feature.</a:t>
            </a:r>
          </a:p>
        </p:txBody>
      </p:sp>
      <p:sp>
        <p:nvSpPr>
          <p:cNvPr id="17" name="TextBox 16"/>
          <p:cNvSpPr txBox="1"/>
          <p:nvPr/>
        </p:nvSpPr>
        <p:spPr>
          <a:xfrm>
            <a:off x="7132320" y="1737360"/>
            <a:ext cx="4507992" cy="4434840"/>
          </a:xfrm>
          <a:prstGeom prst="rect">
            <a:avLst/>
          </a:prstGeom>
          <a:noFill/>
        </p:spPr>
        <p:txBody>
          <a:bodyPr wrap="square" lIns="36576" rIns="36576" tIns="18288" bIns="18288" anchor="t">
            <a:spAutoFit/>
          </a:bodyPr>
          <a:lstStyle/>
          <a:p>
            <a:pPr algn="l">
              <a:lnSpc>
                <a:spcPct val="100000"/>
              </a:lnSpc>
              <a:spcAft>
                <a:spcPts val="700"/>
              </a:spcAft>
            </a:pPr>
            <a:r>
              <a:rPr sz="1600" b="1" i="0">
                <a:solidFill>
                  <a:srgbClr val="3333CC"/>
                </a:solidFill>
                <a:latin typeface="Book Antiqua"/>
              </a:rPr>
              <a:t>What I did (25 to 26 Jun)</a:t>
            </a:r>
          </a:p>
          <a:p>
            <a:pPr algn="l" marL="201168" indent="-201168">
              <a:lnSpc>
                <a:spcPct val="100000"/>
              </a:lnSpc>
              <a:spcAft>
                <a:spcPts val="700"/>
              </a:spcAft>
              <a:buFont typeface="Arial"/>
              <a:buChar char="•"/>
            </a:pPr>
            <a:r>
              <a:rPr sz="1350" b="0" i="0">
                <a:solidFill>
                  <a:srgbClr val="1C1E2B"/>
                </a:solidFill>
                <a:latin typeface="Book Antiqua"/>
              </a:rPr>
              <a:t>Features: lags 1, 7 and 14 days, rolling means, day of week, month, holidays, prior-day staffing ratio and AHT</a:t>
            </a:r>
          </a:p>
          <a:p>
            <a:pPr algn="l" marL="201168" indent="-201168">
              <a:lnSpc>
                <a:spcPct val="100000"/>
              </a:lnSpc>
              <a:spcAft>
                <a:spcPts val="700"/>
              </a:spcAft>
              <a:buFont typeface="Arial"/>
              <a:buChar char="•"/>
            </a:pPr>
            <a:r>
              <a:rPr sz="1350" b="0" i="0">
                <a:solidFill>
                  <a:srgbClr val="1C1E2B"/>
                </a:solidFill>
                <a:latin typeface="Book Antiqua"/>
              </a:rPr>
              <a:t>Chronological split: a random split leaks the future through the lag features</a:t>
            </a:r>
          </a:p>
          <a:p>
            <a:pPr algn="l" marL="201168" indent="-201168">
              <a:lnSpc>
                <a:spcPct val="100000"/>
              </a:lnSpc>
              <a:spcAft>
                <a:spcPts val="700"/>
              </a:spcAft>
              <a:buFont typeface="Arial"/>
              <a:buChar char="•"/>
            </a:pPr>
            <a:r>
              <a:rPr sz="1350" b="0" i="0">
                <a:solidFill>
                  <a:srgbClr val="1C1E2B"/>
                </a:solidFill>
                <a:latin typeface="Book Antiqua"/>
              </a:rPr>
              <a:t>Moving-average baseline, linear regression and random forest; MAE, RMSE and MAPE; residual plots</a:t>
            </a:r>
          </a:p>
          <a:p>
            <a:pPr algn="l">
              <a:lnSpc>
                <a:spcPct val="100000"/>
              </a:lnSpc>
              <a:spcAft>
                <a:spcPts val="700"/>
              </a:spcAft>
            </a:pPr>
            <a:r>
              <a:rPr sz="1600" b="1" i="0">
                <a:solidFill>
                  <a:srgbClr val="3333CC"/>
                </a:solidFill>
                <a:latin typeface="Book Antiqua"/>
              </a:rPr>
              <a:t>Reconstruction adds</a:t>
            </a:r>
          </a:p>
          <a:p>
            <a:pPr algn="l" marL="201168" indent="-201168">
              <a:lnSpc>
                <a:spcPct val="100000"/>
              </a:lnSpc>
              <a:spcAft>
                <a:spcPts val="700"/>
              </a:spcAft>
              <a:buFont typeface="Arial"/>
              <a:buChar char="•"/>
            </a:pPr>
            <a:r>
              <a:rPr sz="1350" b="0" i="0">
                <a:solidFill>
                  <a:srgbClr val="1C1E2B"/>
                </a:solidFill>
                <a:latin typeface="Book Antiqua"/>
              </a:rPr>
              <a:t>A recursive 14-day forecast turned into heads per half-hour with Erlang C and 30% shrinkage, compared with the current roster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Rectangle 4"/>
          <p:cNvSpPr txBox="1">
            <a:spLocks noChangeArrowheads="1"/>
          </p:cNvSpPr>
          <p:nvPr/>
        </p:nvSpPr>
        <p:spPr>
          <a:xfrm>
            <a:off x="0" y="0"/>
            <a:ext cx="12192000" cy="1447800"/>
          </a:xfrm>
          <a:prstGeom prst="rect">
            <a:avLst/>
          </a:prstGeom>
          <a:solidFill>
            <a:srgbClr val="3333CC"/>
          </a:solid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IN" sz="3600" b="1" dirty="0">
                <a:solidFill>
                  <a:schemeClr val="bg1"/>
                </a:solidFill>
                <a:effectLst/>
                <a:latin typeface="Book Antiqua" panose="02040602050305030304" pitchFamily="18" charset="0"/>
                <a:ea typeface="Calibri" panose="020F0502020204030204" pitchFamily="34" charset="0"/>
                <a:cs typeface="Times New Roman" panose="02020603050405020304" pitchFamily="18" charset="0"/>
              </a:rPr>
              <a:t>LLM Recommendation Module (RAG)</a:t>
            </a:r>
            <a:endParaRPr lang="en-IN" sz="5300" dirty="0">
              <a:solidFill>
                <a:schemeClr val="bg1"/>
              </a:solidFill>
              <a:latin typeface="Book Antiqua" panose="0204060205030503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96107A40-7FD5-436B-B3DD-01066071B37C}" type="slidenum">
              <a:rPr lang="en-IN">
                <a:solidFill>
                  <a:prstClr val="black">
                    <a:tint val="75000"/>
                  </a:prstClr>
                </a:solidFill>
                <a:latin typeface="Calibri"/>
              </a:rPr>
              <a:pPr/>
              <a:t>2</a:t>
            </a:fld>
            <a:endParaRPr lang="en-IN">
              <a:solidFill>
                <a:prstClr val="black">
                  <a:tint val="75000"/>
                </a:prstClr>
              </a:solidFill>
              <a:latin typeface="Calibri"/>
            </a:endParaRPr>
          </a:p>
        </p:txBody>
      </p:sp>
      <p:sp>
        <p:nvSpPr>
          <p:cNvPr id="14" name="Footer Placeholder 13">
            <a:extLst>
              <a:ext uri="{FF2B5EF4-FFF2-40B4-BE49-F238E27FC236}">
                <a16:creationId xmlns:a16="http://schemas.microsoft.com/office/drawing/2014/main" id="{3F853E6F-A98E-C7D3-91D3-2AF29EC3AD65}"/>
              </a:ext>
            </a:extLst>
          </p:cNvPr>
          <p:cNvSpPr>
            <a:spLocks noGrp="1"/>
          </p:cNvSpPr>
          <p:nvPr>
            <p:ph type="ftr" sz="quarter" idx="11"/>
          </p:nvPr>
        </p:nvSpPr>
        <p:spPr>
          <a:xfrm>
            <a:off x="4038600" y="6356350"/>
            <a:ext cx="5668108" cy="365125"/>
          </a:xfrm>
        </p:spPr>
        <p:txBody>
          <a:bodyPr/>
          <a:lstStyle/>
          <a:p>
            <a:r>
              <a:rPr lang="en-IN" sz="1200" b="1" dirty="0">
                <a:latin typeface="Book Antiqua" panose="02040602050305030304" pitchFamily="18" charset="0"/>
                <a:cs typeface="Times New Roman" panose="02020603050405020304" pitchFamily="18" charset="0"/>
              </a:rPr>
              <a:t>SHARAN K        23BDS1153</a:t>
            </a:r>
            <a:endParaRPr lang="en-IN" sz="1200" b="1" dirty="0">
              <a:solidFill>
                <a:schemeClr val="tx1"/>
              </a:solidFill>
              <a:latin typeface="Book Antiqua" panose="02040602050305030304" pitchFamily="18" charset="0"/>
              <a:cs typeface="Times New Roman" panose="02020603050405020304" pitchFamily="18" charset="0"/>
            </a:endParaRPr>
          </a:p>
          <a:p>
            <a:endParaRPr lang="en-US" dirty="0"/>
          </a:p>
        </p:txBody>
      </p:sp>
      <p:pic>
        <p:nvPicPr>
          <p:cNvPr id="15" name="Picture 14" descr="diagram3.png"/>
          <p:cNvPicPr>
            <a:picLocks noChangeAspect="1"/>
          </p:cNvPicPr>
          <p:nvPr/>
        </p:nvPicPr>
        <p:blipFill>
          <a:blip r:embed="rId2"/>
          <a:stretch>
            <a:fillRect/>
          </a:stretch>
        </p:blipFill>
        <p:spPr>
          <a:xfrm>
            <a:off x="548640" y="1645920"/>
            <a:ext cx="11091672" cy="2234179"/>
          </a:xfrm>
          <a:prstGeom prst="rect">
            <a:avLst/>
          </a:prstGeom>
        </p:spPr>
      </p:pic>
      <p:graphicFrame>
        <p:nvGraphicFramePr>
          <p:cNvPr id="16" name="Table 15"/>
          <p:cNvGraphicFramePr>
            <a:graphicFrameLocks noGrp="1"/>
          </p:cNvGraphicFramePr>
          <p:nvPr/>
        </p:nvGraphicFramePr>
        <p:xfrm>
          <a:off x="548640" y="3977639"/>
          <a:ext cx="6400798" cy="1536192"/>
        </p:xfrm>
        <a:graphic>
          <a:graphicData uri="http://schemas.openxmlformats.org/drawingml/2006/table">
            <a:tbl>
              <a:tblPr firstRow="1" bandRow="1">
                <a:tableStyleId>{5C22544A-7EE6-4342-B048-85BDC9FD1C3A}</a:tableStyleId>
              </a:tblPr>
              <a:tblGrid>
                <a:gridCol w="2447364"/>
                <a:gridCol w="941294"/>
                <a:gridCol w="941294"/>
                <a:gridCol w="941294"/>
                <a:gridCol w="1129552"/>
              </a:tblGrid>
              <a:tr h="384048">
                <a:tc>
                  <a:txBody>
                    <a:bodyPr wrap="square"/>
                    <a:lstStyle/>
                    <a:p>
                      <a:r>
                        <a:rPr sz="1250" b="1" i="0">
                          <a:solidFill>
                            <a:srgbClr val="FFFFFF"/>
                          </a:solidFill>
                          <a:latin typeface="Book Antiqua"/>
                        </a:rPr>
                        <a:t>Retrieval (80-word chunks)</a:t>
                      </a:r>
                    </a:p>
                  </a:txBody>
                  <a:tcPr marL="73152" marR="73152" marT="27432" marB="27432" anchor="ctr">
                    <a:solidFill>
                      <a:srgbClr val="3333CC"/>
                    </a:solidFill>
                  </a:tcPr>
                </a:tc>
                <a:tc>
                  <a:txBody>
                    <a:bodyPr wrap="square"/>
                    <a:lstStyle/>
                    <a:p>
                      <a:r>
                        <a:rPr sz="1250" b="1" i="0">
                          <a:solidFill>
                            <a:srgbClr val="FFFFFF"/>
                          </a:solidFill>
                          <a:latin typeface="Book Antiqua"/>
                        </a:rPr>
                        <a:t>Hit@1</a:t>
                      </a:r>
                    </a:p>
                  </a:txBody>
                  <a:tcPr marL="73152" marR="73152" marT="27432" marB="27432" anchor="ctr">
                    <a:solidFill>
                      <a:srgbClr val="3333CC"/>
                    </a:solidFill>
                  </a:tcPr>
                </a:tc>
                <a:tc>
                  <a:txBody>
                    <a:bodyPr wrap="square"/>
                    <a:lstStyle/>
                    <a:p>
                      <a:r>
                        <a:rPr sz="1250" b="1" i="0">
                          <a:solidFill>
                            <a:srgbClr val="FFFFFF"/>
                          </a:solidFill>
                          <a:latin typeface="Book Antiqua"/>
                        </a:rPr>
                        <a:t>Hit@3</a:t>
                      </a:r>
                    </a:p>
                  </a:txBody>
                  <a:tcPr marL="73152" marR="73152" marT="27432" marB="27432" anchor="ctr">
                    <a:solidFill>
                      <a:srgbClr val="3333CC"/>
                    </a:solidFill>
                  </a:tcPr>
                </a:tc>
                <a:tc>
                  <a:txBody>
                    <a:bodyPr wrap="square"/>
                    <a:lstStyle/>
                    <a:p>
                      <a:r>
                        <a:rPr sz="1250" b="1" i="0">
                          <a:solidFill>
                            <a:srgbClr val="FFFFFF"/>
                          </a:solidFill>
                          <a:latin typeface="Book Antiqua"/>
                        </a:rPr>
                        <a:t>MRR</a:t>
                      </a:r>
                    </a:p>
                  </a:txBody>
                  <a:tcPr marL="73152" marR="73152" marT="27432" marB="27432" anchor="ctr">
                    <a:solidFill>
                      <a:srgbClr val="3333CC"/>
                    </a:solidFill>
                  </a:tcPr>
                </a:tc>
                <a:tc>
                  <a:txBody>
                    <a:bodyPr wrap="square"/>
                    <a:lstStyle/>
                    <a:p>
                      <a:r>
                        <a:rPr sz="1250" b="1" i="0">
                          <a:solidFill>
                            <a:srgbClr val="FFFFFF"/>
                          </a:solidFill>
                          <a:latin typeface="Book Antiqua"/>
                        </a:rPr>
                        <a:t>Citation</a:t>
                      </a:r>
                    </a:p>
                  </a:txBody>
                  <a:tcPr marL="73152" marR="73152" marT="27432" marB="27432" anchor="ctr">
                    <a:solidFill>
                      <a:srgbClr val="3333CC"/>
                    </a:solidFill>
                  </a:tcPr>
                </a:tc>
              </a:tr>
              <a:tr h="384048">
                <a:tc>
                  <a:txBody>
                    <a:bodyPr wrap="square"/>
                    <a:lstStyle/>
                    <a:p>
                      <a:r>
                        <a:rPr sz="1250" b="0" i="0">
                          <a:solidFill>
                            <a:srgbClr val="1C1E2B"/>
                          </a:solidFill>
                          <a:latin typeface="Book Antiqua"/>
                        </a:rPr>
                        <a:t>Keyword (BM25)</a:t>
                      </a:r>
                    </a:p>
                  </a:txBody>
                  <a:tcPr marL="73152" marR="73152" marT="27432" marB="27432" anchor="ctr">
                    <a:solidFill>
                      <a:srgbClr val="FFFFFF"/>
                    </a:solidFill>
                  </a:tcPr>
                </a:tc>
                <a:tc>
                  <a:txBody>
                    <a:bodyPr wrap="square"/>
                    <a:lstStyle/>
                    <a:p>
                      <a:r>
                        <a:rPr sz="1250" b="0" i="0">
                          <a:solidFill>
                            <a:srgbClr val="1C1E2B"/>
                          </a:solidFill>
                          <a:latin typeface="Book Antiqua"/>
                        </a:rPr>
                        <a:t>0.91</a:t>
                      </a:r>
                    </a:p>
                  </a:txBody>
                  <a:tcPr marL="73152" marR="73152" marT="27432" marB="27432" anchor="ctr">
                    <a:solidFill>
                      <a:srgbClr val="FFFFFF"/>
                    </a:solidFill>
                  </a:tcPr>
                </a:tc>
                <a:tc>
                  <a:txBody>
                    <a:bodyPr wrap="square"/>
                    <a:lstStyle/>
                    <a:p>
                      <a:r>
                        <a:rPr sz="1250" b="0" i="0">
                          <a:solidFill>
                            <a:srgbClr val="1C1E2B"/>
                          </a:solidFill>
                          <a:latin typeface="Book Antiqua"/>
                        </a:rPr>
                        <a:t>0.97</a:t>
                      </a:r>
                    </a:p>
                  </a:txBody>
                  <a:tcPr marL="73152" marR="73152" marT="27432" marB="27432" anchor="ctr">
                    <a:solidFill>
                      <a:srgbClr val="FFFFFF"/>
                    </a:solidFill>
                  </a:tcPr>
                </a:tc>
                <a:tc>
                  <a:txBody>
                    <a:bodyPr wrap="square"/>
                    <a:lstStyle/>
                    <a:p>
                      <a:r>
                        <a:rPr sz="1250" b="0" i="0">
                          <a:solidFill>
                            <a:srgbClr val="1C1E2B"/>
                          </a:solidFill>
                          <a:latin typeface="Book Antiqua"/>
                        </a:rPr>
                        <a:t>0.93</a:t>
                      </a:r>
                    </a:p>
                  </a:txBody>
                  <a:tcPr marL="73152" marR="73152" marT="27432" marB="27432" anchor="ctr">
                    <a:solidFill>
                      <a:srgbClr val="FFFFFF"/>
                    </a:solidFill>
                  </a:tcPr>
                </a:tc>
                <a:tc>
                  <a:txBody>
                    <a:bodyPr wrap="square"/>
                    <a:lstStyle/>
                    <a:p>
                      <a:r>
                        <a:rPr sz="1250" b="0" i="0">
                          <a:solidFill>
                            <a:srgbClr val="1C1E2B"/>
                          </a:solidFill>
                          <a:latin typeface="Book Antiqua"/>
                        </a:rPr>
                        <a:t>1.00</a:t>
                      </a:r>
                    </a:p>
                  </a:txBody>
                  <a:tcPr marL="73152" marR="73152" marT="27432" marB="27432" anchor="ctr">
                    <a:solidFill>
                      <a:srgbClr val="FFFFFF"/>
                    </a:solidFill>
                  </a:tcPr>
                </a:tc>
              </a:tr>
              <a:tr h="384048">
                <a:tc>
                  <a:txBody>
                    <a:bodyPr wrap="square"/>
                    <a:lstStyle/>
                    <a:p>
                      <a:r>
                        <a:rPr sz="1250" b="0" i="0">
                          <a:solidFill>
                            <a:srgbClr val="1C1E2B"/>
                          </a:solidFill>
                          <a:latin typeface="Book Antiqua"/>
                        </a:rPr>
                        <a:t>Semantic (dense)</a:t>
                      </a:r>
                    </a:p>
                  </a:txBody>
                  <a:tcPr marL="73152" marR="73152" marT="27432" marB="27432" anchor="ctr">
                    <a:solidFill>
                      <a:srgbClr val="EEEFFB"/>
                    </a:solidFill>
                  </a:tcPr>
                </a:tc>
                <a:tc>
                  <a:txBody>
                    <a:bodyPr wrap="square"/>
                    <a:lstStyle/>
                    <a:p>
                      <a:r>
                        <a:rPr sz="1250" b="0" i="0">
                          <a:solidFill>
                            <a:srgbClr val="1C1E2B"/>
                          </a:solidFill>
                          <a:latin typeface="Book Antiqua"/>
                        </a:rPr>
                        <a:t>0.81</a:t>
                      </a:r>
                    </a:p>
                  </a:txBody>
                  <a:tcPr marL="73152" marR="73152" marT="27432" marB="27432" anchor="ctr">
                    <a:solidFill>
                      <a:srgbClr val="EEEFFB"/>
                    </a:solidFill>
                  </a:tcPr>
                </a:tc>
                <a:tc>
                  <a:txBody>
                    <a:bodyPr wrap="square"/>
                    <a:lstStyle/>
                    <a:p>
                      <a:r>
                        <a:rPr sz="1250" b="0" i="0">
                          <a:solidFill>
                            <a:srgbClr val="1C1E2B"/>
                          </a:solidFill>
                          <a:latin typeface="Book Antiqua"/>
                        </a:rPr>
                        <a:t>0.94</a:t>
                      </a:r>
                    </a:p>
                  </a:txBody>
                  <a:tcPr marL="73152" marR="73152" marT="27432" marB="27432" anchor="ctr">
                    <a:solidFill>
                      <a:srgbClr val="EEEFFB"/>
                    </a:solidFill>
                  </a:tcPr>
                </a:tc>
                <a:tc>
                  <a:txBody>
                    <a:bodyPr wrap="square"/>
                    <a:lstStyle/>
                    <a:p>
                      <a:r>
                        <a:rPr sz="1250" b="0" i="0">
                          <a:solidFill>
                            <a:srgbClr val="1C1E2B"/>
                          </a:solidFill>
                          <a:latin typeface="Book Antiqua"/>
                        </a:rPr>
                        <a:t>0.88</a:t>
                      </a:r>
                    </a:p>
                  </a:txBody>
                  <a:tcPr marL="73152" marR="73152" marT="27432" marB="27432" anchor="ctr">
                    <a:solidFill>
                      <a:srgbClr val="EEEFFB"/>
                    </a:solidFill>
                  </a:tcPr>
                </a:tc>
                <a:tc>
                  <a:txBody>
                    <a:bodyPr wrap="square"/>
                    <a:lstStyle/>
                    <a:p>
                      <a:r>
                        <a:rPr sz="1250" b="0" i="0">
                          <a:solidFill>
                            <a:srgbClr val="1C1E2B"/>
                          </a:solidFill>
                          <a:latin typeface="Book Antiqua"/>
                        </a:rPr>
                        <a:t>0.94</a:t>
                      </a:r>
                    </a:p>
                  </a:txBody>
                  <a:tcPr marL="73152" marR="73152" marT="27432" marB="27432" anchor="ctr">
                    <a:solidFill>
                      <a:srgbClr val="EEEFFB"/>
                    </a:solidFill>
                  </a:tcPr>
                </a:tc>
              </a:tr>
              <a:tr h="384048">
                <a:tc>
                  <a:txBody>
                    <a:bodyPr wrap="square"/>
                    <a:lstStyle/>
                    <a:p>
                      <a:r>
                        <a:rPr sz="1250" b="1" i="0">
                          <a:solidFill>
                            <a:srgbClr val="1C1E2B"/>
                          </a:solidFill>
                          <a:latin typeface="Book Antiqua"/>
                        </a:rPr>
                        <a:t>Hybrid (fused)</a:t>
                      </a:r>
                    </a:p>
                  </a:txBody>
                  <a:tcPr marL="73152" marR="73152" marT="27432" marB="27432" anchor="ctr">
                    <a:solidFill>
                      <a:srgbClr val="FFFFFF"/>
                    </a:solidFill>
                  </a:tcPr>
                </a:tc>
                <a:tc>
                  <a:txBody>
                    <a:bodyPr wrap="square"/>
                    <a:lstStyle/>
                    <a:p>
                      <a:r>
                        <a:rPr sz="1250" b="0" i="0">
                          <a:solidFill>
                            <a:srgbClr val="1C1E2B"/>
                          </a:solidFill>
                          <a:latin typeface="Book Antiqua"/>
                        </a:rPr>
                        <a:t>0.88</a:t>
                      </a:r>
                    </a:p>
                  </a:txBody>
                  <a:tcPr marL="73152" marR="73152" marT="27432" marB="27432" anchor="ctr">
                    <a:solidFill>
                      <a:srgbClr val="FFFFFF"/>
                    </a:solidFill>
                  </a:tcPr>
                </a:tc>
                <a:tc>
                  <a:txBody>
                    <a:bodyPr wrap="square"/>
                    <a:lstStyle/>
                    <a:p>
                      <a:r>
                        <a:rPr sz="1250" b="0" i="0">
                          <a:solidFill>
                            <a:srgbClr val="1C1E2B"/>
                          </a:solidFill>
                          <a:latin typeface="Book Antiqua"/>
                        </a:rPr>
                        <a:t>1.00</a:t>
                      </a:r>
                    </a:p>
                  </a:txBody>
                  <a:tcPr marL="73152" marR="73152" marT="27432" marB="27432" anchor="ctr">
                    <a:solidFill>
                      <a:srgbClr val="FFFFFF"/>
                    </a:solidFill>
                  </a:tcPr>
                </a:tc>
                <a:tc>
                  <a:txBody>
                    <a:bodyPr wrap="square"/>
                    <a:lstStyle/>
                    <a:p>
                      <a:r>
                        <a:rPr sz="1250" b="0" i="0">
                          <a:solidFill>
                            <a:srgbClr val="1C1E2B"/>
                          </a:solidFill>
                          <a:latin typeface="Book Antiqua"/>
                        </a:rPr>
                        <a:t>0.93</a:t>
                      </a:r>
                    </a:p>
                  </a:txBody>
                  <a:tcPr marL="73152" marR="73152" marT="27432" marB="27432" anchor="ctr">
                    <a:solidFill>
                      <a:srgbClr val="FFFFFF"/>
                    </a:solidFill>
                  </a:tcPr>
                </a:tc>
                <a:tc>
                  <a:txBody>
                    <a:bodyPr wrap="square"/>
                    <a:lstStyle/>
                    <a:p>
                      <a:r>
                        <a:rPr sz="1250" b="0" i="0">
                          <a:solidFill>
                            <a:srgbClr val="1C1E2B"/>
                          </a:solidFill>
                          <a:latin typeface="Book Antiqua"/>
                        </a:rPr>
                        <a:t>1.00</a:t>
                      </a:r>
                    </a:p>
                  </a:txBody>
                  <a:tcPr marL="73152" marR="73152" marT="27432" marB="27432" anchor="ctr">
                    <a:solidFill>
                      <a:srgbClr val="FFFFFF"/>
                    </a:solidFill>
                  </a:tcPr>
                </a:tc>
              </a:tr>
            </a:tbl>
          </a:graphicData>
        </a:graphic>
      </p:graphicFrame>
      <p:sp>
        <p:nvSpPr>
          <p:cNvPr id="17" name="TextBox 16"/>
          <p:cNvSpPr txBox="1"/>
          <p:nvPr/>
        </p:nvSpPr>
        <p:spPr>
          <a:xfrm>
            <a:off x="548640" y="5596128"/>
            <a:ext cx="6400800" cy="548640"/>
          </a:xfrm>
          <a:prstGeom prst="rect">
            <a:avLst/>
          </a:prstGeom>
          <a:noFill/>
        </p:spPr>
        <p:txBody>
          <a:bodyPr wrap="square" lIns="36576" rIns="36576" tIns="18288" bIns="18288" anchor="t">
            <a:spAutoFit/>
          </a:bodyPr>
          <a:lstStyle/>
          <a:p>
            <a:pPr algn="l">
              <a:lnSpc>
                <a:spcPct val="100000"/>
              </a:lnSpc>
              <a:spcAft>
                <a:spcPts val="600"/>
              </a:spcAft>
            </a:pPr>
            <a:r>
              <a:rPr sz="1200" b="0" i="1">
                <a:solidFill>
                  <a:srgbClr val="555A6B"/>
                </a:solidFill>
                <a:latin typeface="Book Antiqua"/>
              </a:rPr>
              <a:t>32 test questions with expected sources. Larger chunks (160 and 320 words) scored lower: they mix procedures in one passage.</a:t>
            </a:r>
          </a:p>
        </p:txBody>
      </p:sp>
      <p:sp>
        <p:nvSpPr>
          <p:cNvPr id="18" name="TextBox 17"/>
          <p:cNvSpPr txBox="1"/>
          <p:nvPr/>
        </p:nvSpPr>
        <p:spPr>
          <a:xfrm>
            <a:off x="7223760" y="3977639"/>
            <a:ext cx="4416552" cy="2194560"/>
          </a:xfrm>
          <a:prstGeom prst="rect">
            <a:avLst/>
          </a:prstGeom>
          <a:noFill/>
        </p:spPr>
        <p:txBody>
          <a:bodyPr wrap="square" lIns="36576" rIns="36576" tIns="18288" bIns="18288" anchor="t">
            <a:spAutoFit/>
          </a:bodyPr>
          <a:lstStyle/>
          <a:p>
            <a:pPr algn="l">
              <a:lnSpc>
                <a:spcPct val="100000"/>
              </a:lnSpc>
              <a:spcAft>
                <a:spcPts val="600"/>
              </a:spcAft>
            </a:pPr>
            <a:r>
              <a:rPr sz="1600" b="1" i="0">
                <a:solidFill>
                  <a:srgbClr val="3333CC"/>
                </a:solidFill>
                <a:latin typeface="Book Antiqua"/>
              </a:rPr>
              <a:t>My part (27 and 29 Jun)</a:t>
            </a:r>
          </a:p>
          <a:p>
            <a:pPr algn="l" marL="201168" indent="-201168">
              <a:lnSpc>
                <a:spcPct val="100000"/>
              </a:lnSpc>
              <a:spcAft>
                <a:spcPts val="600"/>
              </a:spcAft>
              <a:buFont typeface="Arial"/>
              <a:buChar char="•"/>
            </a:pPr>
            <a:r>
              <a:rPr sz="1300" b="0" i="0">
                <a:solidFill>
                  <a:srgbClr val="1C1E2B"/>
                </a:solidFill>
                <a:latin typeface="Book Antiqua"/>
              </a:rPr>
              <a:t>Cleaned the SOP, RCA and quality documents; generated embeddings into the vector store with source metadata</a:t>
            </a:r>
          </a:p>
          <a:p>
            <a:pPr algn="l" marL="201168" indent="-201168">
              <a:lnSpc>
                <a:spcPct val="100000"/>
              </a:lnSpc>
              <a:spcAft>
                <a:spcPts val="600"/>
              </a:spcAft>
              <a:buFont typeface="Arial"/>
              <a:buChar char="•"/>
            </a:pPr>
            <a:r>
              <a:rPr sz="1300" b="0" i="0">
                <a:solidFill>
                  <a:srgbClr val="1C1E2B"/>
                </a:solidFill>
                <a:latin typeface="Book Antiqua"/>
              </a:rPr>
              <a:t>Compared chunk sizes; ran citation test queries and logged weak cases for the module owner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Rectangle 4"/>
          <p:cNvSpPr txBox="1">
            <a:spLocks noChangeArrowheads="1"/>
          </p:cNvSpPr>
          <p:nvPr/>
        </p:nvSpPr>
        <p:spPr>
          <a:xfrm>
            <a:off x="0" y="0"/>
            <a:ext cx="12192000" cy="1447800"/>
          </a:xfrm>
          <a:prstGeom prst="rect">
            <a:avLst/>
          </a:prstGeom>
          <a:solidFill>
            <a:srgbClr val="3333CC"/>
          </a:solid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IN" sz="3600" b="1" dirty="0">
                <a:solidFill>
                  <a:schemeClr val="bg1"/>
                </a:solidFill>
                <a:effectLst/>
                <a:latin typeface="Book Antiqua" panose="02040602050305030304" pitchFamily="18" charset="0"/>
                <a:ea typeface="Calibri" panose="020F0502020204030204" pitchFamily="34" charset="0"/>
                <a:cs typeface="Times New Roman" panose="02020603050405020304" pitchFamily="18" charset="0"/>
              </a:rPr>
              <a:t>The Platform, Rebuilt End to End</a:t>
            </a:r>
            <a:endParaRPr lang="en-IN" sz="5300" dirty="0">
              <a:solidFill>
                <a:schemeClr val="bg1"/>
              </a:solidFill>
              <a:latin typeface="Book Antiqua" panose="0204060205030503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96107A40-7FD5-436B-B3DD-01066071B37C}" type="slidenum">
              <a:rPr lang="en-IN">
                <a:solidFill>
                  <a:prstClr val="black">
                    <a:tint val="75000"/>
                  </a:prstClr>
                </a:solidFill>
                <a:latin typeface="Calibri"/>
              </a:rPr>
              <a:pPr/>
              <a:t>2</a:t>
            </a:fld>
            <a:endParaRPr lang="en-IN">
              <a:solidFill>
                <a:prstClr val="black">
                  <a:tint val="75000"/>
                </a:prstClr>
              </a:solidFill>
              <a:latin typeface="Calibri"/>
            </a:endParaRPr>
          </a:p>
        </p:txBody>
      </p:sp>
      <p:sp>
        <p:nvSpPr>
          <p:cNvPr id="14" name="Footer Placeholder 13">
            <a:extLst>
              <a:ext uri="{FF2B5EF4-FFF2-40B4-BE49-F238E27FC236}">
                <a16:creationId xmlns:a16="http://schemas.microsoft.com/office/drawing/2014/main" id="{3F853E6F-A98E-C7D3-91D3-2AF29EC3AD65}"/>
              </a:ext>
            </a:extLst>
          </p:cNvPr>
          <p:cNvSpPr>
            <a:spLocks noGrp="1"/>
          </p:cNvSpPr>
          <p:nvPr>
            <p:ph type="ftr" sz="quarter" idx="11"/>
          </p:nvPr>
        </p:nvSpPr>
        <p:spPr>
          <a:xfrm>
            <a:off x="4038600" y="6356350"/>
            <a:ext cx="5668108" cy="365125"/>
          </a:xfrm>
        </p:spPr>
        <p:txBody>
          <a:bodyPr/>
          <a:lstStyle/>
          <a:p>
            <a:r>
              <a:rPr lang="en-IN" sz="1200" b="1" dirty="0">
                <a:latin typeface="Book Antiqua" panose="02040602050305030304" pitchFamily="18" charset="0"/>
                <a:cs typeface="Times New Roman" panose="02020603050405020304" pitchFamily="18" charset="0"/>
              </a:rPr>
              <a:t>SHARAN K        23BDS1153</a:t>
            </a:r>
            <a:endParaRPr lang="en-IN" sz="1200" b="1" dirty="0">
              <a:solidFill>
                <a:schemeClr val="tx1"/>
              </a:solidFill>
              <a:latin typeface="Book Antiqua" panose="02040602050305030304" pitchFamily="18" charset="0"/>
              <a:cs typeface="Times New Roman" panose="02020603050405020304" pitchFamily="18" charset="0"/>
            </a:endParaRPr>
          </a:p>
          <a:p>
            <a:endParaRPr lang="en-US" dirty="0"/>
          </a:p>
        </p:txBody>
      </p:sp>
      <p:pic>
        <p:nvPicPr>
          <p:cNvPr id="15" name="Picture 14" descr="p_overview_top.jpg"/>
          <p:cNvPicPr>
            <a:picLocks noChangeAspect="1"/>
          </p:cNvPicPr>
          <p:nvPr/>
        </p:nvPicPr>
        <p:blipFill>
          <a:blip r:embed="rId2"/>
          <a:stretch>
            <a:fillRect/>
          </a:stretch>
        </p:blipFill>
        <p:spPr>
          <a:xfrm>
            <a:off x="4754880" y="2076132"/>
            <a:ext cx="6885432" cy="3665855"/>
          </a:xfrm>
          <a:prstGeom prst="rect">
            <a:avLst/>
          </a:prstGeom>
          <a:ln w="9525">
            <a:solidFill>
              <a:srgbClr val="D5D7EE"/>
            </a:solidFill>
          </a:ln>
        </p:spPr>
      </p:pic>
      <p:sp>
        <p:nvSpPr>
          <p:cNvPr id="16" name="TextBox 15"/>
          <p:cNvSpPr txBox="1"/>
          <p:nvPr/>
        </p:nvSpPr>
        <p:spPr>
          <a:xfrm>
            <a:off x="548640" y="1737360"/>
            <a:ext cx="4023360" cy="4389120"/>
          </a:xfrm>
          <a:prstGeom prst="rect">
            <a:avLst/>
          </a:prstGeom>
          <a:noFill/>
        </p:spPr>
        <p:txBody>
          <a:bodyPr wrap="square" lIns="36576" rIns="36576" tIns="18288" bIns="18288" anchor="t">
            <a:spAutoFit/>
          </a:bodyPr>
          <a:lstStyle/>
          <a:p>
            <a:pPr algn="l">
              <a:lnSpc>
                <a:spcPct val="100000"/>
              </a:lnSpc>
              <a:spcAft>
                <a:spcPts val="800"/>
              </a:spcAft>
            </a:pPr>
            <a:r>
              <a:rPr sz="1400" b="0" i="0">
                <a:solidFill>
                  <a:srgbClr val="1C1E2B"/>
                </a:solidFill>
                <a:latin typeface="Book Antiqua"/>
              </a:rPr>
              <a:t>Built after the internship on synthetic data for four fictional clients, with defects and four business events planted so every finding can be checked.</a:t>
            </a:r>
          </a:p>
          <a:p>
            <a:pPr algn="l" marL="201168" indent="-201168">
              <a:lnSpc>
                <a:spcPct val="100000"/>
              </a:lnSpc>
              <a:spcAft>
                <a:spcPts val="800"/>
              </a:spcAft>
              <a:buFont typeface="Arial"/>
              <a:buChar char="•"/>
            </a:pPr>
            <a:r>
              <a:rPr sz="1300" b="0" i="0">
                <a:solidFill>
                  <a:srgbClr val="1C1E2B"/>
                </a:solidFill>
                <a:latin typeface="Book Antiqua"/>
              </a:rPr>
              <a:t>13 pages: command center, queues, intraday, agents, alerts, root cause, forecast, EDA, copilot, data quality, catalog, SQL lab, about</a:t>
            </a:r>
          </a:p>
          <a:p>
            <a:pPr algn="l" marL="201168" indent="-201168">
              <a:lnSpc>
                <a:spcPct val="100000"/>
              </a:lnSpc>
              <a:spcAft>
                <a:spcPts val="800"/>
              </a:spcAft>
              <a:buFont typeface="Arial"/>
              <a:buChar char="•"/>
            </a:pPr>
            <a:r>
              <a:rPr sz="1300" b="0" i="0">
                <a:solidFill>
                  <a:srgbClr val="1C1E2B"/>
                </a:solidFill>
                <a:latin typeface="Book Antiqua"/>
              </a:rPr>
              <a:t>Roles and row-level security; client viewers see masked agent names</a:t>
            </a:r>
          </a:p>
          <a:p>
            <a:pPr algn="l" marL="201168" indent="-201168">
              <a:lnSpc>
                <a:spcPct val="100000"/>
              </a:lnSpc>
              <a:spcAft>
                <a:spcPts val="800"/>
              </a:spcAft>
              <a:buFont typeface="Arial"/>
              <a:buChar char="•"/>
            </a:pPr>
            <a:r>
              <a:rPr sz="1300" b="0" i="0">
                <a:solidFill>
                  <a:srgbClr val="1C1E2B"/>
                </a:solidFill>
                <a:latin typeface="Book Antiqua"/>
              </a:rPr>
              <a:t>Power BI export with generated DAX</a:t>
            </a:r>
          </a:p>
          <a:p>
            <a:pPr algn="l" marL="201168" indent="-201168">
              <a:lnSpc>
                <a:spcPct val="100000"/>
              </a:lnSpc>
              <a:spcAft>
                <a:spcPts val="800"/>
              </a:spcAft>
              <a:buFont typeface="Arial"/>
              <a:buChar char="•"/>
            </a:pPr>
            <a:r>
              <a:rPr sz="1300" b="0" i="0">
                <a:solidFill>
                  <a:srgbClr val="1C1E2B"/>
                </a:solidFill>
                <a:latin typeface="Book Antiqua"/>
              </a:rPr>
              <a:t>40 automated tests: metric parity, cleaning, reconciliation, Erlang C, access, retrieval</a:t>
            </a:r>
          </a:p>
          <a:p>
            <a:pPr algn="l">
              <a:lnSpc>
                <a:spcPct val="100000"/>
              </a:lnSpc>
              <a:spcAft>
                <a:spcPts val="800"/>
              </a:spcAft>
            </a:pPr>
            <a:r>
              <a:rPr sz="1250" b="0" i="1">
                <a:solidFill>
                  <a:srgbClr val="555A6B"/>
                </a:solidFill>
                <a:latin typeface="Book Antiqua"/>
              </a:rPr>
              <a:t>Contains no company code and no client data.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Rectangle 4"/>
          <p:cNvSpPr txBox="1">
            <a:spLocks noChangeArrowheads="1"/>
          </p:cNvSpPr>
          <p:nvPr/>
        </p:nvSpPr>
        <p:spPr>
          <a:xfrm>
            <a:off x="0" y="0"/>
            <a:ext cx="12192000" cy="1447800"/>
          </a:xfrm>
          <a:prstGeom prst="rect">
            <a:avLst/>
          </a:prstGeom>
          <a:solidFill>
            <a:srgbClr val="3333CC"/>
          </a:solid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IN" sz="3600" b="1" dirty="0">
                <a:solidFill>
                  <a:schemeClr val="bg1"/>
                </a:solidFill>
                <a:effectLst/>
                <a:latin typeface="Book Antiqua" panose="02040602050305030304" pitchFamily="18" charset="0"/>
                <a:ea typeface="Calibri" panose="020F0502020204030204" pitchFamily="34" charset="0"/>
                <a:cs typeface="Times New Roman" panose="02020603050405020304" pitchFamily="18" charset="0"/>
              </a:rPr>
              <a:t>Challenges and Learnings</a:t>
            </a:r>
            <a:endParaRPr lang="en-IN" sz="5300" dirty="0">
              <a:solidFill>
                <a:schemeClr val="bg1"/>
              </a:solidFill>
              <a:latin typeface="Book Antiqua" panose="0204060205030503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96107A40-7FD5-436B-B3DD-01066071B37C}" type="slidenum">
              <a:rPr lang="en-IN">
                <a:solidFill>
                  <a:prstClr val="black">
                    <a:tint val="75000"/>
                  </a:prstClr>
                </a:solidFill>
                <a:latin typeface="Calibri"/>
              </a:rPr>
              <a:pPr/>
              <a:t>2</a:t>
            </a:fld>
            <a:endParaRPr lang="en-IN">
              <a:solidFill>
                <a:prstClr val="black">
                  <a:tint val="75000"/>
                </a:prstClr>
              </a:solidFill>
              <a:latin typeface="Calibri"/>
            </a:endParaRPr>
          </a:p>
        </p:txBody>
      </p:sp>
      <p:sp>
        <p:nvSpPr>
          <p:cNvPr id="14" name="Footer Placeholder 13">
            <a:extLst>
              <a:ext uri="{FF2B5EF4-FFF2-40B4-BE49-F238E27FC236}">
                <a16:creationId xmlns:a16="http://schemas.microsoft.com/office/drawing/2014/main" id="{3F853E6F-A98E-C7D3-91D3-2AF29EC3AD65}"/>
              </a:ext>
            </a:extLst>
          </p:cNvPr>
          <p:cNvSpPr>
            <a:spLocks noGrp="1"/>
          </p:cNvSpPr>
          <p:nvPr>
            <p:ph type="ftr" sz="quarter" idx="11"/>
          </p:nvPr>
        </p:nvSpPr>
        <p:spPr>
          <a:xfrm>
            <a:off x="4038600" y="6356350"/>
            <a:ext cx="5668108" cy="365125"/>
          </a:xfrm>
        </p:spPr>
        <p:txBody>
          <a:bodyPr/>
          <a:lstStyle/>
          <a:p>
            <a:r>
              <a:rPr lang="en-IN" sz="1200" b="1" dirty="0">
                <a:latin typeface="Book Antiqua" panose="02040602050305030304" pitchFamily="18" charset="0"/>
                <a:cs typeface="Times New Roman" panose="02020603050405020304" pitchFamily="18" charset="0"/>
              </a:rPr>
              <a:t>SHARAN K        23BDS1153</a:t>
            </a:r>
            <a:endParaRPr lang="en-IN" sz="1200" b="1" dirty="0">
              <a:solidFill>
                <a:schemeClr val="tx1"/>
              </a:solidFill>
              <a:latin typeface="Book Antiqua" panose="02040602050305030304" pitchFamily="18" charset="0"/>
              <a:cs typeface="Times New Roman" panose="02020603050405020304" pitchFamily="18" charset="0"/>
            </a:endParaRPr>
          </a:p>
          <a:p>
            <a:endParaRPr lang="en-US" dirty="0"/>
          </a:p>
        </p:txBody>
      </p:sp>
      <p:graphicFrame>
        <p:nvGraphicFramePr>
          <p:cNvPr id="15" name="Table 14"/>
          <p:cNvGraphicFramePr>
            <a:graphicFrameLocks noGrp="1"/>
          </p:cNvGraphicFramePr>
          <p:nvPr/>
        </p:nvGraphicFramePr>
        <p:xfrm>
          <a:off x="548640" y="1737360"/>
          <a:ext cx="6949439" cy="3401568"/>
        </p:xfrm>
        <a:graphic>
          <a:graphicData uri="http://schemas.openxmlformats.org/drawingml/2006/table">
            <a:tbl>
              <a:tblPr firstRow="1" bandRow="1">
                <a:tableStyleId>{5C22544A-7EE6-4342-B048-85BDC9FD1C3A}</a:tableStyleId>
              </a:tblPr>
              <a:tblGrid>
                <a:gridCol w="2377439"/>
                <a:gridCol w="4572000"/>
              </a:tblGrid>
              <a:tr h="566928">
                <a:tc>
                  <a:txBody>
                    <a:bodyPr wrap="square"/>
                    <a:lstStyle/>
                    <a:p>
                      <a:r>
                        <a:rPr sz="1250" b="1" i="0">
                          <a:solidFill>
                            <a:srgbClr val="FFFFFF"/>
                          </a:solidFill>
                          <a:latin typeface="Book Antiqua"/>
                        </a:rPr>
                        <a:t>Challenge</a:t>
                      </a:r>
                    </a:p>
                  </a:txBody>
                  <a:tcPr marL="73152" marR="73152" marT="27432" marB="27432" anchor="ctr">
                    <a:solidFill>
                      <a:srgbClr val="3333CC"/>
                    </a:solidFill>
                  </a:tcPr>
                </a:tc>
                <a:tc>
                  <a:txBody>
                    <a:bodyPr wrap="square"/>
                    <a:lstStyle/>
                    <a:p>
                      <a:r>
                        <a:rPr sz="1250" b="1" i="0">
                          <a:solidFill>
                            <a:srgbClr val="FFFFFF"/>
                          </a:solidFill>
                          <a:latin typeface="Book Antiqua"/>
                        </a:rPr>
                        <a:t>How it was resolved</a:t>
                      </a:r>
                    </a:p>
                  </a:txBody>
                  <a:tcPr marL="73152" marR="73152" marT="27432" marB="27432" anchor="ctr">
                    <a:solidFill>
                      <a:srgbClr val="3333CC"/>
                    </a:solidFill>
                  </a:tcPr>
                </a:tc>
              </a:tr>
              <a:tr h="566928">
                <a:tc>
                  <a:txBody>
                    <a:bodyPr wrap="square"/>
                    <a:lstStyle/>
                    <a:p>
                      <a:r>
                        <a:rPr sz="1250" b="0" i="0">
                          <a:solidFill>
                            <a:srgbClr val="1C1E2B"/>
                          </a:solidFill>
                          <a:latin typeface="Book Antiqua"/>
                        </a:rPr>
                        <a:t>Rotated and small dimension text</a:t>
                      </a:r>
                    </a:p>
                  </a:txBody>
                  <a:tcPr marL="73152" marR="73152" marT="27432" marB="27432" anchor="ctr">
                    <a:solidFill>
                      <a:srgbClr val="FFFFFF"/>
                    </a:solidFill>
                  </a:tcPr>
                </a:tc>
                <a:tc>
                  <a:txBody>
                    <a:bodyPr wrap="square"/>
                    <a:lstStyle/>
                    <a:p>
                      <a:r>
                        <a:rPr sz="1250" b="0" i="0">
                          <a:solidFill>
                            <a:srgbClr val="1C1E2B"/>
                          </a:solidFill>
                          <a:latin typeface="Book Antiqua"/>
                        </a:rPr>
                        <a:t>Measured a baseline, grouped failures, fixed the largest group first</a:t>
                      </a:r>
                    </a:p>
                  </a:txBody>
                  <a:tcPr marL="73152" marR="73152" marT="27432" marB="27432" anchor="ctr">
                    <a:solidFill>
                      <a:srgbClr val="FFFFFF"/>
                    </a:solidFill>
                  </a:tcPr>
                </a:tc>
              </a:tr>
              <a:tr h="566928">
                <a:tc>
                  <a:txBody>
                    <a:bodyPr wrap="square"/>
                    <a:lstStyle/>
                    <a:p>
                      <a:r>
                        <a:rPr sz="1250" b="0" i="0">
                          <a:solidFill>
                            <a:srgbClr val="1C1E2B"/>
                          </a:solidFill>
                          <a:latin typeface="Book Antiqua"/>
                        </a:rPr>
                        <a:t>Duplicated rows after a join</a:t>
                      </a:r>
                    </a:p>
                  </a:txBody>
                  <a:tcPr marL="73152" marR="73152" marT="27432" marB="27432" anchor="ctr">
                    <a:solidFill>
                      <a:srgbClr val="EEEFFB"/>
                    </a:solidFill>
                  </a:tcPr>
                </a:tc>
                <a:tc>
                  <a:txBody>
                    <a:bodyPr wrap="square"/>
                    <a:lstStyle/>
                    <a:p>
                      <a:r>
                        <a:rPr sz="1250" b="0" i="0">
                          <a:solidFill>
                            <a:srgbClr val="1C1E2B"/>
                          </a:solidFill>
                          <a:latin typeface="Book Antiqua"/>
                        </a:rPr>
                        <a:t>Traced the one-to-many table; ROW_NUMBER; row counts on every join</a:t>
                      </a:r>
                    </a:p>
                  </a:txBody>
                  <a:tcPr marL="73152" marR="73152" marT="27432" marB="27432" anchor="ctr">
                    <a:solidFill>
                      <a:srgbClr val="EEEFFB"/>
                    </a:solidFill>
                  </a:tcPr>
                </a:tc>
              </a:tr>
              <a:tr h="566928">
                <a:tc>
                  <a:txBody>
                    <a:bodyPr wrap="square"/>
                    <a:lstStyle/>
                    <a:p>
                      <a:r>
                        <a:rPr sz="1250" b="0" i="0">
                          <a:solidFill>
                            <a:srgbClr val="1C1E2B"/>
                          </a:solidFill>
                          <a:latin typeface="Book Antiqua"/>
                        </a:rPr>
                        <a:t>Totals did not reconcile</a:t>
                      </a:r>
                    </a:p>
                  </a:txBody>
                  <a:tcPr marL="73152" marR="73152" marT="27432" marB="27432" anchor="ctr">
                    <a:solidFill>
                      <a:srgbClr val="FFFFFF"/>
                    </a:solidFill>
                  </a:tcPr>
                </a:tc>
                <a:tc>
                  <a:txBody>
                    <a:bodyPr wrap="square"/>
                    <a:lstStyle/>
                    <a:p>
                      <a:r>
                        <a:rPr sz="1250" b="0" i="0">
                          <a:solidFill>
                            <a:srgbClr val="1C1E2B"/>
                          </a:solidFill>
                          <a:latin typeface="Book Antiqua"/>
                        </a:rPr>
                        <a:t>Found a rule dropping valid calls; keep and flag; re-ran to zero variance</a:t>
                      </a:r>
                    </a:p>
                  </a:txBody>
                  <a:tcPr marL="73152" marR="73152" marT="27432" marB="27432" anchor="ctr">
                    <a:solidFill>
                      <a:srgbClr val="FFFFFF"/>
                    </a:solidFill>
                  </a:tcPr>
                </a:tc>
              </a:tr>
              <a:tr h="566928">
                <a:tc>
                  <a:txBody>
                    <a:bodyPr wrap="square"/>
                    <a:lstStyle/>
                    <a:p>
                      <a:r>
                        <a:rPr sz="1250" b="0" i="0">
                          <a:solidFill>
                            <a:srgbClr val="1C1E2B"/>
                          </a:solidFill>
                          <a:latin typeface="Book Antiqua"/>
                        </a:rPr>
                        <a:t>SLA did not match month-end</a:t>
                      </a:r>
                    </a:p>
                  </a:txBody>
                  <a:tcPr marL="73152" marR="73152" marT="27432" marB="27432" anchor="ctr">
                    <a:solidFill>
                      <a:srgbClr val="EEEFFB"/>
                    </a:solidFill>
                  </a:tcPr>
                </a:tc>
                <a:tc>
                  <a:txBody>
                    <a:bodyPr wrap="square"/>
                    <a:lstStyle/>
                    <a:p>
                      <a:r>
                        <a:rPr sz="1250" b="0" i="0">
                          <a:solidFill>
                            <a:srgbClr val="1C1E2B"/>
                          </a:solidFill>
                          <a:latin typeface="Book Antiqua"/>
                        </a:rPr>
                        <a:t>Aligned the short-abandon exclusion with operations</a:t>
                      </a:r>
                    </a:p>
                  </a:txBody>
                  <a:tcPr marL="73152" marR="73152" marT="27432" marB="27432" anchor="ctr">
                    <a:solidFill>
                      <a:srgbClr val="EEEFFB"/>
                    </a:solidFill>
                  </a:tcPr>
                </a:tc>
              </a:tr>
              <a:tr h="566928">
                <a:tc>
                  <a:txBody>
                    <a:bodyPr wrap="square"/>
                    <a:lstStyle/>
                    <a:p>
                      <a:r>
                        <a:rPr sz="1250" b="0" i="0">
                          <a:solidFill>
                            <a:srgbClr val="1C1E2B"/>
                          </a:solidFill>
                          <a:latin typeface="Book Antiqua"/>
                        </a:rPr>
                        <a:t>DAX wrong under a slicer</a:t>
                      </a:r>
                    </a:p>
                  </a:txBody>
                  <a:tcPr marL="73152" marR="73152" marT="27432" marB="27432" anchor="ctr">
                    <a:solidFill>
                      <a:srgbClr val="FFFFFF"/>
                    </a:solidFill>
                  </a:tcPr>
                </a:tc>
                <a:tc>
                  <a:txBody>
                    <a:bodyPr wrap="square"/>
                    <a:lstStyle/>
                    <a:p>
                      <a:r>
                        <a:rPr sz="1250" b="0" i="0">
                          <a:solidFill>
                            <a:srgbClr val="1C1E2B"/>
                          </a:solidFill>
                          <a:latin typeface="Book Antiqua"/>
                        </a:rPr>
                        <a:t>Fixed the filter context; validated against SQL</a:t>
                      </a:r>
                    </a:p>
                  </a:txBody>
                  <a:tcPr marL="73152" marR="73152" marT="27432" marB="27432" anchor="ctr">
                    <a:solidFill>
                      <a:srgbClr val="FFFFFF"/>
                    </a:solidFill>
                  </a:tcPr>
                </a:tc>
              </a:tr>
            </a:tbl>
          </a:graphicData>
        </a:graphic>
      </p:graphicFrame>
      <p:sp>
        <p:nvSpPr>
          <p:cNvPr id="16" name="Rounded Rectangle 15"/>
          <p:cNvSpPr/>
          <p:nvPr/>
        </p:nvSpPr>
        <p:spPr>
          <a:xfrm>
            <a:off x="7772400" y="1737360"/>
            <a:ext cx="3867912" cy="1353312"/>
          </a:xfrm>
          <a:prstGeom prst="roundRect">
            <a:avLst>
              <a:gd name="adj" fmla="val 6000"/>
            </a:avLst>
          </a:prstGeom>
          <a:solidFill>
            <a:srgbClr val="EE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936992" y="1828800"/>
            <a:ext cx="3566160" cy="411480"/>
          </a:xfrm>
          <a:prstGeom prst="rect">
            <a:avLst/>
          </a:prstGeom>
          <a:noFill/>
        </p:spPr>
        <p:txBody>
          <a:bodyPr wrap="square" lIns="36576" rIns="36576" tIns="18288" bIns="18288" anchor="t">
            <a:spAutoFit/>
          </a:bodyPr>
          <a:lstStyle/>
          <a:p>
            <a:pPr algn="l">
              <a:lnSpc>
                <a:spcPct val="100000"/>
              </a:lnSpc>
              <a:spcAft>
                <a:spcPts val="0"/>
              </a:spcAft>
            </a:pPr>
            <a:r>
              <a:rPr sz="1500" b="1" i="0">
                <a:solidFill>
                  <a:srgbClr val="3333CC"/>
                </a:solidFill>
                <a:latin typeface="Book Antiqua"/>
              </a:rPr>
              <a:t>Data work is mostly verification</a:t>
            </a:r>
          </a:p>
        </p:txBody>
      </p:sp>
      <p:sp>
        <p:nvSpPr>
          <p:cNvPr id="18" name="TextBox 17"/>
          <p:cNvSpPr txBox="1"/>
          <p:nvPr/>
        </p:nvSpPr>
        <p:spPr>
          <a:xfrm>
            <a:off x="7936992" y="2240280"/>
            <a:ext cx="3566160" cy="822960"/>
          </a:xfrm>
          <a:prstGeom prst="rect">
            <a:avLst/>
          </a:prstGeom>
          <a:noFill/>
        </p:spPr>
        <p:txBody>
          <a:bodyPr wrap="square" lIns="36576" rIns="36576" tIns="18288" bIns="18288" anchor="t">
            <a:spAutoFit/>
          </a:bodyPr>
          <a:lstStyle/>
          <a:p>
            <a:pPr algn="l">
              <a:lnSpc>
                <a:spcPct val="100000"/>
              </a:lnSpc>
              <a:spcAft>
                <a:spcPts val="0"/>
              </a:spcAft>
            </a:pPr>
            <a:r>
              <a:rPr sz="1300" b="0" i="0">
                <a:solidFill>
                  <a:srgbClr val="1C1E2B"/>
                </a:solidFill>
                <a:latin typeface="Book Antiqua"/>
              </a:rPr>
              <a:t>Row counts, reconciliation and SQL checks catch what code review misses</a:t>
            </a:r>
          </a:p>
        </p:txBody>
      </p:sp>
      <p:sp>
        <p:nvSpPr>
          <p:cNvPr id="19" name="Rounded Rectangle 18"/>
          <p:cNvSpPr/>
          <p:nvPr/>
        </p:nvSpPr>
        <p:spPr>
          <a:xfrm>
            <a:off x="7772400" y="3218688"/>
            <a:ext cx="3867912" cy="1353312"/>
          </a:xfrm>
          <a:prstGeom prst="roundRect">
            <a:avLst>
              <a:gd name="adj" fmla="val 6000"/>
            </a:avLst>
          </a:prstGeom>
          <a:solidFill>
            <a:srgbClr val="EE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936992" y="3310128"/>
            <a:ext cx="3566160" cy="411480"/>
          </a:xfrm>
          <a:prstGeom prst="rect">
            <a:avLst/>
          </a:prstGeom>
          <a:noFill/>
        </p:spPr>
        <p:txBody>
          <a:bodyPr wrap="square" lIns="36576" rIns="36576" tIns="18288" bIns="18288" anchor="t">
            <a:spAutoFit/>
          </a:bodyPr>
          <a:lstStyle/>
          <a:p>
            <a:pPr algn="l">
              <a:lnSpc>
                <a:spcPct val="100000"/>
              </a:lnSpc>
              <a:spcAft>
                <a:spcPts val="0"/>
              </a:spcAft>
            </a:pPr>
            <a:r>
              <a:rPr sz="1500" b="1" i="0">
                <a:solidFill>
                  <a:srgbClr val="3333CC"/>
                </a:solidFill>
                <a:latin typeface="Book Antiqua"/>
              </a:rPr>
              <a:t>Definitions are business decisions</a:t>
            </a:r>
          </a:p>
        </p:txBody>
      </p:sp>
      <p:sp>
        <p:nvSpPr>
          <p:cNvPr id="21" name="TextBox 20"/>
          <p:cNvSpPr txBox="1"/>
          <p:nvPr/>
        </p:nvSpPr>
        <p:spPr>
          <a:xfrm>
            <a:off x="7936992" y="3721608"/>
            <a:ext cx="3566160" cy="822960"/>
          </a:xfrm>
          <a:prstGeom prst="rect">
            <a:avLst/>
          </a:prstGeom>
          <a:noFill/>
        </p:spPr>
        <p:txBody>
          <a:bodyPr wrap="square" lIns="36576" rIns="36576" tIns="18288" bIns="18288" anchor="t">
            <a:spAutoFit/>
          </a:bodyPr>
          <a:lstStyle/>
          <a:p>
            <a:pPr algn="l">
              <a:lnSpc>
                <a:spcPct val="100000"/>
              </a:lnSpc>
              <a:spcAft>
                <a:spcPts val="0"/>
              </a:spcAft>
            </a:pPr>
            <a:r>
              <a:rPr sz="1300" b="0" i="0">
                <a:solidFill>
                  <a:srgbClr val="1C1E2B"/>
                </a:solidFill>
                <a:latin typeface="Book Antiqua"/>
              </a:rPr>
              <a:t>A metric is right once its exclusions are agreed</a:t>
            </a:r>
          </a:p>
        </p:txBody>
      </p:sp>
      <p:sp>
        <p:nvSpPr>
          <p:cNvPr id="22" name="Rounded Rectangle 21"/>
          <p:cNvSpPr/>
          <p:nvPr/>
        </p:nvSpPr>
        <p:spPr>
          <a:xfrm>
            <a:off x="7772400" y="4700016"/>
            <a:ext cx="3867912" cy="1353312"/>
          </a:xfrm>
          <a:prstGeom prst="roundRect">
            <a:avLst>
              <a:gd name="adj" fmla="val 6000"/>
            </a:avLst>
          </a:prstGeom>
          <a:solidFill>
            <a:srgbClr val="EE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936992" y="4791456"/>
            <a:ext cx="3566160" cy="411480"/>
          </a:xfrm>
          <a:prstGeom prst="rect">
            <a:avLst/>
          </a:prstGeom>
          <a:noFill/>
        </p:spPr>
        <p:txBody>
          <a:bodyPr wrap="square" lIns="36576" rIns="36576" tIns="18288" bIns="18288" anchor="t">
            <a:spAutoFit/>
          </a:bodyPr>
          <a:lstStyle/>
          <a:p>
            <a:pPr algn="l">
              <a:lnSpc>
                <a:spcPct val="100000"/>
              </a:lnSpc>
              <a:spcAft>
                <a:spcPts val="0"/>
              </a:spcAft>
            </a:pPr>
            <a:r>
              <a:rPr sz="1500" b="1" i="0">
                <a:solidFill>
                  <a:srgbClr val="3333CC"/>
                </a:solidFill>
                <a:latin typeface="Book Antiqua"/>
              </a:rPr>
              <a:t>Grain matters</a:t>
            </a:r>
          </a:p>
        </p:txBody>
      </p:sp>
      <p:sp>
        <p:nvSpPr>
          <p:cNvPr id="24" name="TextBox 23"/>
          <p:cNvSpPr txBox="1"/>
          <p:nvPr/>
        </p:nvSpPr>
        <p:spPr>
          <a:xfrm>
            <a:off x="7936992" y="5202936"/>
            <a:ext cx="3566160" cy="822960"/>
          </a:xfrm>
          <a:prstGeom prst="rect">
            <a:avLst/>
          </a:prstGeom>
          <a:noFill/>
        </p:spPr>
        <p:txBody>
          <a:bodyPr wrap="square" lIns="36576" rIns="36576" tIns="18288" bIns="18288" anchor="t">
            <a:spAutoFit/>
          </a:bodyPr>
          <a:lstStyle/>
          <a:p>
            <a:pPr algn="l">
              <a:lnSpc>
                <a:spcPct val="100000"/>
              </a:lnSpc>
              <a:spcAft>
                <a:spcPts val="0"/>
              </a:spcAft>
            </a:pPr>
            <a:r>
              <a:rPr sz="1300" b="0" i="0">
                <a:solidFill>
                  <a:srgbClr val="1C1E2B"/>
                </a:solidFill>
                <a:latin typeface="Book Antiqua"/>
              </a:rPr>
              <a:t>Half-hour data found what daily averages hid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Rectangle 4"/>
          <p:cNvSpPr txBox="1">
            <a:spLocks noChangeArrowheads="1"/>
          </p:cNvSpPr>
          <p:nvPr/>
        </p:nvSpPr>
        <p:spPr>
          <a:xfrm>
            <a:off x="0" y="0"/>
            <a:ext cx="12192000" cy="1447800"/>
          </a:xfrm>
          <a:prstGeom prst="rect">
            <a:avLst/>
          </a:prstGeom>
          <a:solidFill>
            <a:srgbClr val="3333CC"/>
          </a:solid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IN" sz="3600" b="1" dirty="0">
                <a:solidFill>
                  <a:schemeClr val="bg1"/>
                </a:solidFill>
                <a:effectLst/>
                <a:latin typeface="Book Antiqua" panose="02040602050305030304" pitchFamily="18" charset="0"/>
                <a:ea typeface="Calibri" panose="020F0502020204030204" pitchFamily="34" charset="0"/>
                <a:cs typeface="Times New Roman" panose="02020603050405020304" pitchFamily="18" charset="0"/>
              </a:rPr>
              <a:t>Conclusion</a:t>
            </a:r>
            <a:endParaRPr lang="en-IN" sz="5300" dirty="0">
              <a:solidFill>
                <a:schemeClr val="bg1"/>
              </a:solidFill>
              <a:latin typeface="Book Antiqua" panose="0204060205030503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96107A40-7FD5-436B-B3DD-01066071B37C}" type="slidenum">
              <a:rPr lang="en-IN">
                <a:solidFill>
                  <a:prstClr val="black">
                    <a:tint val="75000"/>
                  </a:prstClr>
                </a:solidFill>
                <a:latin typeface="Calibri"/>
              </a:rPr>
              <a:pPr/>
              <a:t>2</a:t>
            </a:fld>
            <a:endParaRPr lang="en-IN">
              <a:solidFill>
                <a:prstClr val="black">
                  <a:tint val="75000"/>
                </a:prstClr>
              </a:solidFill>
              <a:latin typeface="Calibri"/>
            </a:endParaRPr>
          </a:p>
        </p:txBody>
      </p:sp>
      <p:sp>
        <p:nvSpPr>
          <p:cNvPr id="14" name="Footer Placeholder 13">
            <a:extLst>
              <a:ext uri="{FF2B5EF4-FFF2-40B4-BE49-F238E27FC236}">
                <a16:creationId xmlns:a16="http://schemas.microsoft.com/office/drawing/2014/main" id="{3F853E6F-A98E-C7D3-91D3-2AF29EC3AD65}"/>
              </a:ext>
            </a:extLst>
          </p:cNvPr>
          <p:cNvSpPr>
            <a:spLocks noGrp="1"/>
          </p:cNvSpPr>
          <p:nvPr>
            <p:ph type="ftr" sz="quarter" idx="11"/>
          </p:nvPr>
        </p:nvSpPr>
        <p:spPr>
          <a:xfrm>
            <a:off x="4038600" y="6356350"/>
            <a:ext cx="5668108" cy="365125"/>
          </a:xfrm>
        </p:spPr>
        <p:txBody>
          <a:bodyPr/>
          <a:lstStyle/>
          <a:p>
            <a:r>
              <a:rPr lang="en-IN" sz="1200" b="1" dirty="0">
                <a:latin typeface="Book Antiqua" panose="02040602050305030304" pitchFamily="18" charset="0"/>
                <a:cs typeface="Times New Roman" panose="02020603050405020304" pitchFamily="18" charset="0"/>
              </a:rPr>
              <a:t>SHARAN K        23BDS1153</a:t>
            </a:r>
            <a:endParaRPr lang="en-IN" sz="1200" b="1" dirty="0">
              <a:solidFill>
                <a:schemeClr val="tx1"/>
              </a:solidFill>
              <a:latin typeface="Book Antiqua" panose="02040602050305030304" pitchFamily="18" charset="0"/>
              <a:cs typeface="Times New Roman" panose="02020603050405020304" pitchFamily="18" charset="0"/>
            </a:endParaRPr>
          </a:p>
          <a:p>
            <a:endParaRPr lang="en-US" dirty="0"/>
          </a:p>
        </p:txBody>
      </p:sp>
      <p:sp>
        <p:nvSpPr>
          <p:cNvPr id="15" name="Rounded Rectangle 14"/>
          <p:cNvSpPr/>
          <p:nvPr/>
        </p:nvSpPr>
        <p:spPr>
          <a:xfrm>
            <a:off x="548640" y="1737360"/>
            <a:ext cx="3593592" cy="2697480"/>
          </a:xfrm>
          <a:prstGeom prst="roundRect">
            <a:avLst>
              <a:gd name="adj" fmla="val 6000"/>
            </a:avLst>
          </a:prstGeom>
          <a:solidFill>
            <a:srgbClr val="EE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31520" y="1847088"/>
            <a:ext cx="3246120" cy="411480"/>
          </a:xfrm>
          <a:prstGeom prst="rect">
            <a:avLst/>
          </a:prstGeom>
          <a:noFill/>
        </p:spPr>
        <p:txBody>
          <a:bodyPr wrap="square" lIns="36576" rIns="36576" tIns="18288" bIns="18288" anchor="t">
            <a:spAutoFit/>
          </a:bodyPr>
          <a:lstStyle/>
          <a:p>
            <a:pPr algn="l">
              <a:lnSpc>
                <a:spcPct val="100000"/>
              </a:lnSpc>
              <a:spcAft>
                <a:spcPts val="0"/>
              </a:spcAft>
            </a:pPr>
            <a:r>
              <a:rPr sz="2000" b="1" i="0">
                <a:solidFill>
                  <a:srgbClr val="3333CC"/>
                </a:solidFill>
                <a:latin typeface="Book Antiqua"/>
              </a:rPr>
              <a:t>Project I</a:t>
            </a:r>
          </a:p>
        </p:txBody>
      </p:sp>
      <p:sp>
        <p:nvSpPr>
          <p:cNvPr id="17" name="TextBox 16"/>
          <p:cNvSpPr txBox="1"/>
          <p:nvPr/>
        </p:nvSpPr>
        <p:spPr>
          <a:xfrm>
            <a:off x="731520" y="2377440"/>
            <a:ext cx="3273552" cy="2011680"/>
          </a:xfrm>
          <a:prstGeom prst="rect">
            <a:avLst/>
          </a:prstGeom>
          <a:noFill/>
        </p:spPr>
        <p:txBody>
          <a:bodyPr wrap="square" lIns="36576" rIns="36576" tIns="18288" bIns="18288" anchor="t">
            <a:spAutoFit/>
          </a:bodyPr>
          <a:lstStyle/>
          <a:p>
            <a:pPr algn="l">
              <a:lnSpc>
                <a:spcPct val="100000"/>
              </a:lnSpc>
              <a:spcAft>
                <a:spcPts val="0"/>
              </a:spcAft>
            </a:pPr>
            <a:r>
              <a:rPr sz="1550" b="0" i="0">
                <a:solidFill>
                  <a:srgbClr val="1C1E2B"/>
                </a:solidFill>
                <a:latin typeface="Book Antiqua"/>
              </a:rPr>
              <a:t>Input stage for the floor-plan platform: pre-processing, OCR with orientation handling, a millimetre parser and validation that protects the geometry lock. Handed over with README and accuracy sheet.</a:t>
            </a:r>
          </a:p>
        </p:txBody>
      </p:sp>
      <p:sp>
        <p:nvSpPr>
          <p:cNvPr id="18" name="Rounded Rectangle 17"/>
          <p:cNvSpPr/>
          <p:nvPr/>
        </p:nvSpPr>
        <p:spPr>
          <a:xfrm>
            <a:off x="4297679" y="1737360"/>
            <a:ext cx="3593592" cy="2697480"/>
          </a:xfrm>
          <a:prstGeom prst="roundRect">
            <a:avLst>
              <a:gd name="adj" fmla="val 6000"/>
            </a:avLst>
          </a:prstGeom>
          <a:solidFill>
            <a:srgbClr val="EE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480559" y="1847088"/>
            <a:ext cx="3246120" cy="411480"/>
          </a:xfrm>
          <a:prstGeom prst="rect">
            <a:avLst/>
          </a:prstGeom>
          <a:noFill/>
        </p:spPr>
        <p:txBody>
          <a:bodyPr wrap="square" lIns="36576" rIns="36576" tIns="18288" bIns="18288" anchor="t">
            <a:spAutoFit/>
          </a:bodyPr>
          <a:lstStyle/>
          <a:p>
            <a:pPr algn="l">
              <a:lnSpc>
                <a:spcPct val="100000"/>
              </a:lnSpc>
              <a:spcAft>
                <a:spcPts val="0"/>
              </a:spcAft>
            </a:pPr>
            <a:r>
              <a:rPr sz="2000" b="1" i="0">
                <a:solidFill>
                  <a:srgbClr val="3333CC"/>
                </a:solidFill>
                <a:latin typeface="Book Antiqua"/>
              </a:rPr>
              <a:t>Project II</a:t>
            </a:r>
          </a:p>
        </p:txBody>
      </p:sp>
      <p:sp>
        <p:nvSpPr>
          <p:cNvPr id="20" name="TextBox 19"/>
          <p:cNvSpPr txBox="1"/>
          <p:nvPr/>
        </p:nvSpPr>
        <p:spPr>
          <a:xfrm>
            <a:off x="4480559" y="2377440"/>
            <a:ext cx="3273552" cy="2011680"/>
          </a:xfrm>
          <a:prstGeom prst="rect">
            <a:avLst/>
          </a:prstGeom>
          <a:noFill/>
        </p:spPr>
        <p:txBody>
          <a:bodyPr wrap="square" lIns="36576" rIns="36576" tIns="18288" bIns="18288" anchor="t">
            <a:spAutoFit/>
          </a:bodyPr>
          <a:lstStyle/>
          <a:p>
            <a:pPr algn="l">
              <a:lnSpc>
                <a:spcPct val="100000"/>
              </a:lnSpc>
              <a:spcAft>
                <a:spcPts val="0"/>
              </a:spcAft>
            </a:pPr>
            <a:r>
              <a:rPr sz="1550" b="0" i="0">
                <a:solidFill>
                  <a:srgbClr val="1C1E2B"/>
                </a:solidFill>
                <a:latin typeface="Book Antiqua"/>
              </a:rPr>
              <a:t>SQL, cleaning and reconciliation, agreed metric definitions, reporting views and a Power BI page, plus data and analysis for the RCA, forecast and RAG module.</a:t>
            </a:r>
          </a:p>
        </p:txBody>
      </p:sp>
      <p:sp>
        <p:nvSpPr>
          <p:cNvPr id="21" name="Rounded Rectangle 20"/>
          <p:cNvSpPr/>
          <p:nvPr/>
        </p:nvSpPr>
        <p:spPr>
          <a:xfrm>
            <a:off x="8046719" y="1737360"/>
            <a:ext cx="3593592" cy="2697480"/>
          </a:xfrm>
          <a:prstGeom prst="roundRect">
            <a:avLst>
              <a:gd name="adj" fmla="val 6000"/>
            </a:avLst>
          </a:prstGeom>
          <a:solidFill>
            <a:srgbClr val="EE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229599" y="1847088"/>
            <a:ext cx="3246120" cy="411480"/>
          </a:xfrm>
          <a:prstGeom prst="rect">
            <a:avLst/>
          </a:prstGeom>
          <a:noFill/>
        </p:spPr>
        <p:txBody>
          <a:bodyPr wrap="square" lIns="36576" rIns="36576" tIns="18288" bIns="18288" anchor="t">
            <a:spAutoFit/>
          </a:bodyPr>
          <a:lstStyle/>
          <a:p>
            <a:pPr algn="l">
              <a:lnSpc>
                <a:spcPct val="100000"/>
              </a:lnSpc>
              <a:spcAft>
                <a:spcPts val="0"/>
              </a:spcAft>
            </a:pPr>
            <a:r>
              <a:rPr sz="2000" b="1" i="0">
                <a:solidFill>
                  <a:srgbClr val="3333CC"/>
                </a:solidFill>
                <a:latin typeface="Book Antiqua"/>
              </a:rPr>
              <a:t>Reconstruction</a:t>
            </a:r>
          </a:p>
        </p:txBody>
      </p:sp>
      <p:sp>
        <p:nvSpPr>
          <p:cNvPr id="23" name="TextBox 22"/>
          <p:cNvSpPr txBox="1"/>
          <p:nvPr/>
        </p:nvSpPr>
        <p:spPr>
          <a:xfrm>
            <a:off x="8229599" y="2377440"/>
            <a:ext cx="3273552" cy="2011680"/>
          </a:xfrm>
          <a:prstGeom prst="rect">
            <a:avLst/>
          </a:prstGeom>
          <a:noFill/>
        </p:spPr>
        <p:txBody>
          <a:bodyPr wrap="square" lIns="36576" rIns="36576" tIns="18288" bIns="18288" anchor="t">
            <a:spAutoFit/>
          </a:bodyPr>
          <a:lstStyle/>
          <a:p>
            <a:pPr algn="l">
              <a:lnSpc>
                <a:spcPct val="100000"/>
              </a:lnSpc>
              <a:spcAft>
                <a:spcPts val="0"/>
              </a:spcAft>
            </a:pPr>
            <a:r>
              <a:rPr sz="1550" b="0" i="0">
                <a:solidFill>
                  <a:srgbClr val="1C1E2B"/>
                </a:solidFill>
                <a:latin typeface="Book Antiqua"/>
              </a:rPr>
              <a:t>The platform rebuilt end to end on synthetic data: reconciles exactly, finds the planted roster gap, halves forecast error and cites its sources.</a:t>
            </a:r>
          </a:p>
        </p:txBody>
      </p:sp>
      <p:sp>
        <p:nvSpPr>
          <p:cNvPr id="24" name="TextBox 23"/>
          <p:cNvSpPr txBox="1"/>
          <p:nvPr/>
        </p:nvSpPr>
        <p:spPr>
          <a:xfrm>
            <a:off x="548640" y="4663440"/>
            <a:ext cx="11091672" cy="777240"/>
          </a:xfrm>
          <a:prstGeom prst="rect">
            <a:avLst/>
          </a:prstGeom>
          <a:noFill/>
        </p:spPr>
        <p:txBody>
          <a:bodyPr wrap="square" lIns="36576" rIns="36576" tIns="18288" bIns="18288" anchor="t">
            <a:spAutoFit/>
          </a:bodyPr>
          <a:lstStyle/>
          <a:p>
            <a:pPr algn="l">
              <a:lnSpc>
                <a:spcPct val="100000"/>
              </a:lnSpc>
              <a:spcAft>
                <a:spcPts val="600"/>
              </a:spcAft>
            </a:pPr>
            <a:r>
              <a:rPr sz="1400" b="1" i="0">
                <a:solidFill>
                  <a:srgbClr val="3333CC"/>
                </a:solidFill>
                <a:latin typeface="Book Antiqua"/>
              </a:rPr>
              <a:t>Next: </a:t>
            </a:r>
            <a:r>
              <a:rPr sz="1400" b="0" i="0">
                <a:solidFill>
                  <a:srgbClr val="1C1E2B"/>
                </a:solidFill>
                <a:latin typeface="Book Antiqua"/>
              </a:rPr>
              <a:t>promotions as a forecast feature, interval-level forecasting, a server warehouse with scheduled orchestration and SSO, and a larger human-rated test set for the copilot.</a:t>
            </a:r>
          </a:p>
        </p:txBody>
      </p:sp>
      <p:sp>
        <p:nvSpPr>
          <p:cNvPr id="25" name="TextBox 24"/>
          <p:cNvSpPr txBox="1"/>
          <p:nvPr/>
        </p:nvSpPr>
        <p:spPr>
          <a:xfrm>
            <a:off x="548640" y="5440680"/>
            <a:ext cx="11091672" cy="640080"/>
          </a:xfrm>
          <a:prstGeom prst="rect">
            <a:avLst/>
          </a:prstGeom>
          <a:noFill/>
        </p:spPr>
        <p:txBody>
          <a:bodyPr wrap="square" lIns="36576" rIns="36576" tIns="18288" bIns="18288" anchor="t">
            <a:spAutoFit/>
          </a:bodyPr>
          <a:lstStyle/>
          <a:p>
            <a:pPr algn="ctr">
              <a:lnSpc>
                <a:spcPct val="100000"/>
              </a:lnSpc>
              <a:spcAft>
                <a:spcPts val="600"/>
              </a:spcAft>
            </a:pPr>
            <a:r>
              <a:rPr sz="2400" b="1" i="0">
                <a:solidFill>
                  <a:srgbClr val="3333CC"/>
                </a:solidFill>
                <a:latin typeface="Book Antiqua"/>
              </a:rPr>
              <a:t>Thank you.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24</TotalTime>
  <Words>180</Words>
  <Application>Microsoft Office PowerPoint</Application>
  <PresentationFormat>Widescreen</PresentationFormat>
  <Paragraphs>33</Paragraphs>
  <Slides>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vt:i4>
      </vt:variant>
    </vt:vector>
  </HeadingPairs>
  <TitlesOfParts>
    <vt:vector size="8" baseType="lpstr">
      <vt:lpstr>Aptos</vt:lpstr>
      <vt:lpstr>Aptos Display</vt:lpstr>
      <vt:lpstr>Arial</vt:lpstr>
      <vt:lpstr>Book Antiqua</vt:lpstr>
      <vt:lpstr>Calibri</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  K  Saravanaguru</dc:creator>
  <cp:lastModifiedBy>omana j</cp:lastModifiedBy>
  <cp:revision>11</cp:revision>
  <dcterms:created xsi:type="dcterms:W3CDTF">2024-04-30T11:07:50Z</dcterms:created>
  <dcterms:modified xsi:type="dcterms:W3CDTF">2026-10-10T06:24:14Z</dcterms:modified>
</cp:coreProperties>
</file>